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8288000" cy="10287000"/>
  <p:notesSz cx="6858000" cy="9144000"/>
  <p:embeddedFontLst>
    <p:embeddedFont>
      <p:font typeface="Fira Sans Extra Condensed Bold" charset="1" panose="020B0803050000020004"/>
      <p:regular r:id="rId33"/>
    </p:embeddedFont>
    <p:embeddedFont>
      <p:font typeface="Fira Sans Extra Condensed" charset="1" panose="020B06030500000200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  <Relationship Id="rId35" Type="http://schemas.openxmlformats.org/officeDocument/2006/relationships/slide" Target="slides/slide28.xml"/>
  <Relationship Id="rId36" Type="http://schemas.openxmlformats.org/officeDocument/2006/relationships/slide" Target="slides/slide29.xml"/>
  <Relationship Id="rId37" Type="http://schemas.openxmlformats.org/officeDocument/2006/relationships/slide" Target="slides/slide30.xml"/>
  <Relationship Id="rId38" Type="http://schemas.openxmlformats.org/officeDocument/2006/relationships/slide" Target="slides/slide31.xml"/>
  <Relationship Id="rId39" Type="http://schemas.openxmlformats.org/officeDocument/2006/relationships/slide" Target="slides/slide32.xml"/>
  <Relationship Id="rId40" Type="http://schemas.openxmlformats.org/officeDocument/2006/relationships/slide" Target="slides/slide33.xml"/>
  <Relationship Id="rId41" Type="http://schemas.openxmlformats.org/officeDocument/2006/relationships/slide" Target="slides/slide34.xml"/>
  <Relationship Id="rId42" Type="http://schemas.openxmlformats.org/officeDocument/2006/relationships/slide" Target="slides/slide35.xml"/>
  <Relationship Id="rId43" Type="http://schemas.openxmlformats.org/officeDocument/2006/relationships/slide" Target="slides/slide36.xml"/>
  <Relationship Id="rId44" Type="http://schemas.openxmlformats.org/officeDocument/2006/relationships/slide" Target="slides/slide37.xml"/>
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4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83545" y="2070307"/>
            <a:ext cx="6120910" cy="3780552"/>
          </a:xfrm>
          <a:custGeom>
            <a:avLst/>
            <a:gdLst/>
            <a:ahLst/>
            <a:cxnLst/>
            <a:rect r="r" b="b" t="t" l="l"/>
            <a:pathLst>
              <a:path h="3780552" w="6120910">
                <a:moveTo>
                  <a:pt x="0" y="0"/>
                </a:moveTo>
                <a:lnTo>
                  <a:pt x="6120910" y="0"/>
                </a:lnTo>
                <a:lnTo>
                  <a:pt x="6120910" y="3780552"/>
                </a:lnTo>
                <a:lnTo>
                  <a:pt x="0" y="3780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44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4806" y="5878571"/>
            <a:ext cx="3203299" cy="91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766287" y="5736559"/>
            <a:ext cx="12755425" cy="305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5827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Розділ 1</a:t>
            </a:r>
          </a:p>
          <a:p>
            <a:pPr algn="ctr">
              <a:lnSpc>
                <a:spcPts val="8159"/>
              </a:lnSpc>
            </a:pPr>
            <a:r>
              <a:rPr lang="en-US" sz="5827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Дослідження франшиз і підбір найреальнішого для </a:t>
            </a:r>
            <a:r>
              <a:rPr lang="en-US" sz="5827" b="true">
                <a:solidFill>
                  <a:srgbClr val="F5B2C4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Lviv Croissants </a:t>
            </a:r>
            <a:r>
              <a:rPr lang="en-US" sz="5827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аналогу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80931" y="462877"/>
            <a:ext cx="10691572" cy="1234440"/>
            <a:chOff x="0" y="0"/>
            <a:chExt cx="1425543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543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255431">
                  <a:moveTo>
                    <a:pt x="0" y="0"/>
                  </a:moveTo>
                  <a:lnTo>
                    <a:pt x="14255431" y="0"/>
                  </a:lnTo>
                  <a:lnTo>
                    <a:pt x="1425543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-53945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425543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Операційна франшиза </a:t>
              </a:r>
              <a:r>
                <a:rPr lang="en-US" sz="45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CHICK-FIL-A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33772" y="1988820"/>
            <a:ext cx="8229600" cy="1645920"/>
            <a:chOff x="0" y="0"/>
            <a:chExt cx="1097280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263398"/>
                  </a:moveTo>
                  <a:cubicBezTo>
                    <a:pt x="0" y="117856"/>
                    <a:pt x="117856" y="0"/>
                    <a:pt x="263398" y="0"/>
                  </a:cubicBezTo>
                  <a:lnTo>
                    <a:pt x="10709402" y="0"/>
                  </a:lnTo>
                  <a:cubicBezTo>
                    <a:pt x="10854944" y="0"/>
                    <a:pt x="10972800" y="117856"/>
                    <a:pt x="10972800" y="263398"/>
                  </a:cubicBezTo>
                  <a:lnTo>
                    <a:pt x="10972800" y="1931162"/>
                  </a:lnTo>
                  <a:cubicBezTo>
                    <a:pt x="10972800" y="2076577"/>
                    <a:pt x="10854944" y="2194560"/>
                    <a:pt x="10709402" y="2194560"/>
                  </a:cubicBezTo>
                  <a:lnTo>
                    <a:pt x="263398" y="2194560"/>
                  </a:lnTo>
                  <a:cubicBezTo>
                    <a:pt x="117856" y="2194560"/>
                    <a:pt x="0" y="2076704"/>
                    <a:pt x="0" y="193116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033772" y="1988820"/>
            <a:ext cx="8229600" cy="1645920"/>
            <a:chOff x="0" y="0"/>
            <a:chExt cx="109728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09728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Chick-fil-A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Франчайзер і власник приміщення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Надає: стандарти, навчання, меню, постачання,  приміщення тощо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 Інвестує: CAPEX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75820" y="4982528"/>
            <a:ext cx="5945505" cy="1556385"/>
            <a:chOff x="0" y="0"/>
            <a:chExt cx="7927340" cy="20751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27340" cy="2075180"/>
            </a:xfrm>
            <a:custGeom>
              <a:avLst/>
              <a:gdLst/>
              <a:ahLst/>
              <a:cxnLst/>
              <a:rect r="r" b="b" t="t" l="l"/>
              <a:pathLst>
                <a:path h="2075180" w="7927340">
                  <a:moveTo>
                    <a:pt x="0" y="249047"/>
                  </a:moveTo>
                  <a:cubicBezTo>
                    <a:pt x="0" y="111506"/>
                    <a:pt x="111506" y="0"/>
                    <a:pt x="249047" y="0"/>
                  </a:cubicBezTo>
                  <a:lnTo>
                    <a:pt x="7678293" y="0"/>
                  </a:lnTo>
                  <a:cubicBezTo>
                    <a:pt x="7815835" y="0"/>
                    <a:pt x="7927340" y="111506"/>
                    <a:pt x="7927340" y="249047"/>
                  </a:cubicBezTo>
                  <a:lnTo>
                    <a:pt x="7927340" y="1826133"/>
                  </a:lnTo>
                  <a:cubicBezTo>
                    <a:pt x="7927340" y="1963674"/>
                    <a:pt x="7815835" y="2075180"/>
                    <a:pt x="7678293" y="2075180"/>
                  </a:cubicBezTo>
                  <a:lnTo>
                    <a:pt x="249047" y="2075180"/>
                  </a:lnTo>
                  <a:cubicBezTo>
                    <a:pt x="111506" y="2075180"/>
                    <a:pt x="0" y="1963674"/>
                    <a:pt x="0" y="1826133"/>
                  </a:cubicBezTo>
                  <a:close/>
                </a:path>
              </a:pathLst>
            </a:custGeom>
            <a:solidFill>
              <a:srgbClr val="0F604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199632" y="5006340"/>
            <a:ext cx="5897880" cy="1508760"/>
            <a:chOff x="0" y="0"/>
            <a:chExt cx="7863840" cy="2011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638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786384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Оператор-франчайзі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Керує рестораном і командою, працює на ньому особисто по 60-70 годин на тиждень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9148572" y="3634740"/>
            <a:ext cx="0" cy="137160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5033772" y="4056697"/>
            <a:ext cx="374446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Одноразова сплата:</a:t>
            </a:r>
          </a:p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Вступний внесок - $10 000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32620" y="3899535"/>
            <a:ext cx="373075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Щомісячна сплата:</a:t>
            </a: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15% від виторгу + 6% від виторгу за оренду + 50% від прибутку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748272" y="6995160"/>
            <a:ext cx="4800600" cy="1028700"/>
            <a:chOff x="0" y="0"/>
            <a:chExt cx="6400800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236208" y="0"/>
                  </a:lnTo>
                  <a:cubicBezTo>
                    <a:pt x="6327140" y="0"/>
                    <a:pt x="6400800" y="73660"/>
                    <a:pt x="6400800" y="164592"/>
                  </a:cubicBezTo>
                  <a:lnTo>
                    <a:pt x="6400800" y="1207008"/>
                  </a:lnTo>
                  <a:cubicBezTo>
                    <a:pt x="6400800" y="1297940"/>
                    <a:pt x="6327140" y="1371600"/>
                    <a:pt x="6236208" y="1371600"/>
                  </a:cubicBezTo>
                  <a:lnTo>
                    <a:pt x="164592" y="1371600"/>
                  </a:lnTo>
                  <a:cubicBezTo>
                    <a:pt x="73660" y="1371600"/>
                    <a:pt x="0" y="1297940"/>
                    <a:pt x="0" y="1207008"/>
                  </a:cubicBezTo>
                  <a:close/>
                </a:path>
              </a:pathLst>
            </a:custGeom>
            <a:solidFill>
              <a:srgbClr val="0F604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748272" y="6995160"/>
            <a:ext cx="4800600" cy="1028700"/>
            <a:chOff x="0" y="0"/>
            <a:chExt cx="640080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4008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Гості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грошовий потік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H="true" flipV="true">
            <a:off x="9100250" y="6582539"/>
            <a:ext cx="48322" cy="412621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918972" y="8229600"/>
            <a:ext cx="16459200" cy="1714500"/>
            <a:chOff x="0" y="0"/>
            <a:chExt cx="21945600" cy="228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1671280" y="0"/>
                  </a:lnTo>
                  <a:cubicBezTo>
                    <a:pt x="21822792" y="0"/>
                    <a:pt x="21945600" y="122809"/>
                    <a:pt x="21945600" y="274320"/>
                  </a:cubicBezTo>
                  <a:lnTo>
                    <a:pt x="21945600" y="2011680"/>
                  </a:lnTo>
                  <a:cubicBezTo>
                    <a:pt x="21945600" y="2163191"/>
                    <a:pt x="21822792" y="2286000"/>
                    <a:pt x="21671280" y="2286000"/>
                  </a:cubicBezTo>
                  <a:lnTo>
                    <a:pt x="274320" y="2286000"/>
                  </a:lnTo>
                  <a:cubicBezTo>
                    <a:pt x="122809" y="2286000"/>
                    <a:pt x="0" y="2163191"/>
                    <a:pt x="0" y="2011680"/>
                  </a:cubicBezTo>
                  <a:close/>
                </a:path>
              </a:pathLst>
            </a:custGeom>
            <a:solidFill>
              <a:srgbClr val="F5B5C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8972" y="8229600"/>
            <a:ext cx="16459200" cy="1714500"/>
            <a:chOff x="0" y="0"/>
            <a:chExt cx="21945600" cy="2286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ОПЕРАТОР отримує: 50% чистого прибутку  (еквівалентно 5–7% виторгу - $250 000 НА РІК)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Оператор не володіє закладом та не отримає грошовї компенсації у разі звільнення з посади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7-Eleven має подібну модель франшизи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62036" y="322898"/>
            <a:ext cx="8363929" cy="1097280"/>
            <a:chOff x="0" y="0"/>
            <a:chExt cx="11151905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51905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151905">
                  <a:moveTo>
                    <a:pt x="0" y="0"/>
                  </a:moveTo>
                  <a:lnTo>
                    <a:pt x="11151905" y="0"/>
                  </a:lnTo>
                  <a:lnTo>
                    <a:pt x="11151905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-96787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151905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Франшиза за бізнес-форматом </a:t>
              </a:r>
              <a:r>
                <a:rPr lang="en-US" sz="45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CVG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5160" y="1896427"/>
            <a:ext cx="6356985" cy="1556385"/>
            <a:chOff x="0" y="0"/>
            <a:chExt cx="8475980" cy="20751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75980" cy="2075180"/>
            </a:xfrm>
            <a:custGeom>
              <a:avLst/>
              <a:gdLst/>
              <a:ahLst/>
              <a:cxnLst/>
              <a:rect r="r" b="b" t="t" l="l"/>
              <a:pathLst>
                <a:path h="2075180" w="8475980">
                  <a:moveTo>
                    <a:pt x="0" y="282956"/>
                  </a:moveTo>
                  <a:cubicBezTo>
                    <a:pt x="0" y="126746"/>
                    <a:pt x="126746" y="0"/>
                    <a:pt x="282956" y="0"/>
                  </a:cubicBezTo>
                  <a:lnTo>
                    <a:pt x="8193024" y="0"/>
                  </a:lnTo>
                  <a:cubicBezTo>
                    <a:pt x="8349361" y="0"/>
                    <a:pt x="8475980" y="126746"/>
                    <a:pt x="8475980" y="282956"/>
                  </a:cubicBezTo>
                  <a:lnTo>
                    <a:pt x="8475980" y="1792224"/>
                  </a:lnTo>
                  <a:cubicBezTo>
                    <a:pt x="8475980" y="1948561"/>
                    <a:pt x="8349234" y="2075180"/>
                    <a:pt x="8193024" y="2075180"/>
                  </a:cubicBezTo>
                  <a:lnTo>
                    <a:pt x="282956" y="2075180"/>
                  </a:lnTo>
                  <a:cubicBezTo>
                    <a:pt x="126746" y="2075180"/>
                    <a:pt x="0" y="1948434"/>
                    <a:pt x="0" y="1792224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18972" y="1920240"/>
            <a:ext cx="6309360" cy="1640243"/>
            <a:chOff x="0" y="0"/>
            <a:chExt cx="8412480" cy="2186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12480" cy="2186991"/>
            </a:xfrm>
            <a:custGeom>
              <a:avLst/>
              <a:gdLst/>
              <a:ahLst/>
              <a:cxnLst/>
              <a:rect r="r" b="b" t="t" l="l"/>
              <a:pathLst>
                <a:path h="2186991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186991"/>
                  </a:lnTo>
                  <a:lnTo>
                    <a:pt x="0" y="21869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959" r="0" b="-2094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412480" cy="2196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Клієнт-інвестор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Власник об’єкта 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Не веде проєкт а тільки дає гроші на будівництво</a:t>
              </a:r>
            </a:p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031284" y="1896427"/>
            <a:ext cx="6356985" cy="1556385"/>
            <a:chOff x="0" y="0"/>
            <a:chExt cx="8475980" cy="20751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75980" cy="2075180"/>
            </a:xfrm>
            <a:custGeom>
              <a:avLst/>
              <a:gdLst/>
              <a:ahLst/>
              <a:cxnLst/>
              <a:rect r="r" b="b" t="t" l="l"/>
              <a:pathLst>
                <a:path h="2075180" w="8475980">
                  <a:moveTo>
                    <a:pt x="0" y="282956"/>
                  </a:moveTo>
                  <a:cubicBezTo>
                    <a:pt x="0" y="126746"/>
                    <a:pt x="126746" y="0"/>
                    <a:pt x="282956" y="0"/>
                  </a:cubicBezTo>
                  <a:lnTo>
                    <a:pt x="8193024" y="0"/>
                  </a:lnTo>
                  <a:cubicBezTo>
                    <a:pt x="8349361" y="0"/>
                    <a:pt x="8475980" y="126746"/>
                    <a:pt x="8475980" y="282956"/>
                  </a:cubicBezTo>
                  <a:lnTo>
                    <a:pt x="8475980" y="1792224"/>
                  </a:lnTo>
                  <a:cubicBezTo>
                    <a:pt x="8475980" y="1948561"/>
                    <a:pt x="8349234" y="2075180"/>
                    <a:pt x="8193024" y="2075180"/>
                  </a:cubicBezTo>
                  <a:lnTo>
                    <a:pt x="282956" y="2075180"/>
                  </a:lnTo>
                  <a:cubicBezTo>
                    <a:pt x="126746" y="2075180"/>
                    <a:pt x="0" y="1948434"/>
                    <a:pt x="0" y="1792224"/>
                  </a:cubicBezTo>
                  <a:close/>
                </a:path>
              </a:pathLst>
            </a:custGeom>
            <a:solidFill>
              <a:srgbClr val="F5B5C8"/>
            </a:solidFill>
            <a:ln w="47625" cap="sq">
              <a:solidFill>
                <a:srgbClr val="F5B5C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055096" y="1920240"/>
            <a:ext cx="6309360" cy="1508760"/>
            <a:chOff x="0" y="0"/>
            <a:chExt cx="8412480" cy="2011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12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8412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CVG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Надає</a:t>
              </a:r>
              <a:r>
                <a:rPr lang="en-US" sz="21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: бренд, стандарти, підтримка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Закріплює за франчайзі окрему територію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970080" y="4228147"/>
            <a:ext cx="6356985" cy="1556385"/>
            <a:chOff x="0" y="0"/>
            <a:chExt cx="8475980" cy="20751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75980" cy="2075180"/>
            </a:xfrm>
            <a:custGeom>
              <a:avLst/>
              <a:gdLst/>
              <a:ahLst/>
              <a:cxnLst/>
              <a:rect r="r" b="b" t="t" l="l"/>
              <a:pathLst>
                <a:path h="2075180" w="8475980">
                  <a:moveTo>
                    <a:pt x="0" y="282956"/>
                  </a:moveTo>
                  <a:cubicBezTo>
                    <a:pt x="0" y="126746"/>
                    <a:pt x="126746" y="0"/>
                    <a:pt x="282956" y="0"/>
                  </a:cubicBezTo>
                  <a:lnTo>
                    <a:pt x="8193024" y="0"/>
                  </a:lnTo>
                  <a:cubicBezTo>
                    <a:pt x="8349361" y="0"/>
                    <a:pt x="8475980" y="126746"/>
                    <a:pt x="8475980" y="282956"/>
                  </a:cubicBezTo>
                  <a:lnTo>
                    <a:pt x="8475980" y="1792224"/>
                  </a:lnTo>
                  <a:cubicBezTo>
                    <a:pt x="8475980" y="1948561"/>
                    <a:pt x="8349234" y="2075180"/>
                    <a:pt x="8193024" y="2075180"/>
                  </a:cubicBezTo>
                  <a:lnTo>
                    <a:pt x="282956" y="2075180"/>
                  </a:lnTo>
                  <a:cubicBezTo>
                    <a:pt x="126746" y="2075180"/>
                    <a:pt x="0" y="1948434"/>
                    <a:pt x="0" y="1792224"/>
                  </a:cubicBezTo>
                  <a:close/>
                </a:path>
              </a:pathLst>
            </a:custGeom>
            <a:solidFill>
              <a:srgbClr val="0F604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993892" y="4251960"/>
            <a:ext cx="6309360" cy="1508760"/>
            <a:chOff x="0" y="0"/>
            <a:chExt cx="8412480" cy="2011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12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4124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Франчайзі CVG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Самостійно шукає клієнтів та веде їх під ключ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Сплачує встуний внесок франчайзеру : $35 тис.-$65 тис.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970080" y="6628447"/>
            <a:ext cx="6356985" cy="1419225"/>
            <a:chOff x="0" y="0"/>
            <a:chExt cx="8475980" cy="1892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75980" cy="1892300"/>
            </a:xfrm>
            <a:custGeom>
              <a:avLst/>
              <a:gdLst/>
              <a:ahLst/>
              <a:cxnLst/>
              <a:rect r="r" b="b" t="t" l="l"/>
              <a:pathLst>
                <a:path h="1892300" w="8475980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8192135" y="0"/>
                  </a:lnTo>
                  <a:cubicBezTo>
                    <a:pt x="8348853" y="0"/>
                    <a:pt x="8475980" y="127127"/>
                    <a:pt x="8475980" y="283845"/>
                  </a:cubicBezTo>
                  <a:lnTo>
                    <a:pt x="8475980" y="1608455"/>
                  </a:lnTo>
                  <a:cubicBezTo>
                    <a:pt x="8475980" y="1765173"/>
                    <a:pt x="8348853" y="1892300"/>
                    <a:pt x="8192135" y="1892300"/>
                  </a:cubicBezTo>
                  <a:lnTo>
                    <a:pt x="283845" y="1892300"/>
                  </a:lnTo>
                  <a:cubicBezTo>
                    <a:pt x="127127" y="1892300"/>
                    <a:pt x="0" y="1765173"/>
                    <a:pt x="0" y="1608455"/>
                  </a:cubicBezTo>
                  <a:close/>
                </a:path>
              </a:pathLst>
            </a:custGeom>
            <a:solidFill>
              <a:srgbClr val="0B4D36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993892" y="6652260"/>
            <a:ext cx="6309360" cy="1371600"/>
            <a:chOff x="0" y="0"/>
            <a:chExt cx="841248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12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631" r="0" b="-3963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41248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Підрядники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Будують об’єкт; підпорядковуються Франчайзі CVG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980519">
            <a:off x="3987336" y="3826192"/>
            <a:ext cx="3094139" cy="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-984840">
            <a:off x="11215392" y="3826192"/>
            <a:ext cx="3080976" cy="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148572" y="5760720"/>
            <a:ext cx="0" cy="89154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909447" y="8494395"/>
            <a:ext cx="16478250" cy="1322070"/>
            <a:chOff x="0" y="0"/>
            <a:chExt cx="21971000" cy="1762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71000" cy="1762887"/>
            </a:xfrm>
            <a:custGeom>
              <a:avLst/>
              <a:gdLst/>
              <a:ahLst/>
              <a:cxnLst/>
              <a:rect r="r" b="b" t="t" l="l"/>
              <a:pathLst>
                <a:path h="1762887" w="21971000">
                  <a:moveTo>
                    <a:pt x="0" y="278384"/>
                  </a:moveTo>
                  <a:cubicBezTo>
                    <a:pt x="0" y="124587"/>
                    <a:pt x="124587" y="0"/>
                    <a:pt x="278384" y="0"/>
                  </a:cubicBezTo>
                  <a:lnTo>
                    <a:pt x="21692615" y="0"/>
                  </a:lnTo>
                  <a:cubicBezTo>
                    <a:pt x="21846285" y="0"/>
                    <a:pt x="21971000" y="124587"/>
                    <a:pt x="21971000" y="278384"/>
                  </a:cubicBezTo>
                  <a:lnTo>
                    <a:pt x="21971000" y="1484503"/>
                  </a:lnTo>
                  <a:cubicBezTo>
                    <a:pt x="21971000" y="1638173"/>
                    <a:pt x="21846412" y="1762887"/>
                    <a:pt x="21692615" y="1762887"/>
                  </a:cubicBezTo>
                  <a:lnTo>
                    <a:pt x="278384" y="1762887"/>
                  </a:lnTo>
                  <a:cubicBezTo>
                    <a:pt x="124587" y="1762760"/>
                    <a:pt x="0" y="1638173"/>
                    <a:pt x="0" y="1484376"/>
                  </a:cubicBezTo>
                  <a:close/>
                </a:path>
              </a:pathLst>
            </a:custGeom>
            <a:solidFill>
              <a:srgbClr val="F5B5C8"/>
            </a:solidFill>
            <a:ln w="19050" cap="sq">
              <a:solidFill>
                <a:srgbClr val="F5B5C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18972" y="8503920"/>
            <a:ext cx="16459200" cy="1303020"/>
            <a:chOff x="0" y="0"/>
            <a:chExt cx="21945600" cy="17373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126" r="0" b="-19612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194560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Франчайзі заробляє за надання послуг клієнтам-інвесторам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03919" y="354745"/>
            <a:ext cx="7999620" cy="1234440"/>
            <a:chOff x="0" y="0"/>
            <a:chExt cx="1066616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6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666161">
                  <a:moveTo>
                    <a:pt x="0" y="0"/>
                  </a:moveTo>
                  <a:lnTo>
                    <a:pt x="10666161" y="0"/>
                  </a:lnTo>
                  <a:lnTo>
                    <a:pt x="1066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130" r="-109178" b="-21413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66616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УПРАВЛІННЯ ВІД </a:t>
              </a:r>
              <a:r>
                <a:rPr lang="en-US" sz="45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IWG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8972" y="1988820"/>
            <a:ext cx="5897880" cy="1508760"/>
            <a:chOff x="0" y="0"/>
            <a:chExt cx="7863840" cy="2011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638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863840">
                  <a:moveTo>
                    <a:pt x="0" y="241427"/>
                  </a:moveTo>
                  <a:cubicBezTo>
                    <a:pt x="0" y="108077"/>
                    <a:pt x="108077" y="0"/>
                    <a:pt x="241427" y="0"/>
                  </a:cubicBezTo>
                  <a:lnTo>
                    <a:pt x="7622413" y="0"/>
                  </a:lnTo>
                  <a:cubicBezTo>
                    <a:pt x="7755763" y="0"/>
                    <a:pt x="7863840" y="108077"/>
                    <a:pt x="7863840" y="241427"/>
                  </a:cubicBezTo>
                  <a:lnTo>
                    <a:pt x="7863840" y="1770253"/>
                  </a:lnTo>
                  <a:cubicBezTo>
                    <a:pt x="7863840" y="1903603"/>
                    <a:pt x="7755763" y="2011680"/>
                    <a:pt x="7622413" y="2011680"/>
                  </a:cubicBezTo>
                  <a:lnTo>
                    <a:pt x="241427" y="2011680"/>
                  </a:lnTo>
                  <a:cubicBezTo>
                    <a:pt x="108077" y="2011680"/>
                    <a:pt x="0" y="1903603"/>
                    <a:pt x="0" y="177025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8972" y="1988820"/>
            <a:ext cx="5897880" cy="1508760"/>
            <a:chOff x="0" y="0"/>
            <a:chExt cx="7863840" cy="20116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638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786384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IWG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Керує центром: бренд, продажі, персонал, системи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56480" y="1965008"/>
            <a:ext cx="5945505" cy="1556385"/>
            <a:chOff x="0" y="0"/>
            <a:chExt cx="7927340" cy="20751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27340" cy="2075180"/>
            </a:xfrm>
            <a:custGeom>
              <a:avLst/>
              <a:gdLst/>
              <a:ahLst/>
              <a:cxnLst/>
              <a:rect r="r" b="b" t="t" l="l"/>
              <a:pathLst>
                <a:path h="2075180" w="7927340">
                  <a:moveTo>
                    <a:pt x="0" y="249047"/>
                  </a:moveTo>
                  <a:cubicBezTo>
                    <a:pt x="0" y="111506"/>
                    <a:pt x="111506" y="0"/>
                    <a:pt x="249047" y="0"/>
                  </a:cubicBezTo>
                  <a:lnTo>
                    <a:pt x="7678293" y="0"/>
                  </a:lnTo>
                  <a:cubicBezTo>
                    <a:pt x="7815835" y="0"/>
                    <a:pt x="7927340" y="111506"/>
                    <a:pt x="7927340" y="249047"/>
                  </a:cubicBezTo>
                  <a:lnTo>
                    <a:pt x="7927340" y="1826133"/>
                  </a:lnTo>
                  <a:cubicBezTo>
                    <a:pt x="7927340" y="1963674"/>
                    <a:pt x="7815835" y="2075180"/>
                    <a:pt x="7678293" y="2075180"/>
                  </a:cubicBezTo>
                  <a:lnTo>
                    <a:pt x="249047" y="2075180"/>
                  </a:lnTo>
                  <a:cubicBezTo>
                    <a:pt x="111506" y="2075180"/>
                    <a:pt x="0" y="1963674"/>
                    <a:pt x="0" y="182613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434" r="0" b="-24434"/>
              </a:stretch>
            </a:blipFill>
            <a:ln w="47625" cap="sq">
              <a:solidFill>
                <a:srgbClr val="F5B5C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480292" y="1988820"/>
            <a:ext cx="5897880" cy="1508760"/>
            <a:chOff x="0" y="0"/>
            <a:chExt cx="7863840" cy="2011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638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786384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Партнер-інвестор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Ф</a:t>
              </a:r>
              <a:r>
                <a:rPr lang="en-US" sz="195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інансує Capex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75820" y="4982528"/>
            <a:ext cx="5945505" cy="1556385"/>
            <a:chOff x="0" y="0"/>
            <a:chExt cx="7927340" cy="20751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27340" cy="2075180"/>
            </a:xfrm>
            <a:custGeom>
              <a:avLst/>
              <a:gdLst/>
              <a:ahLst/>
              <a:cxnLst/>
              <a:rect r="r" b="b" t="t" l="l"/>
              <a:pathLst>
                <a:path h="2075180" w="7927340">
                  <a:moveTo>
                    <a:pt x="0" y="249047"/>
                  </a:moveTo>
                  <a:cubicBezTo>
                    <a:pt x="0" y="111506"/>
                    <a:pt x="111506" y="0"/>
                    <a:pt x="249047" y="0"/>
                  </a:cubicBezTo>
                  <a:lnTo>
                    <a:pt x="7678293" y="0"/>
                  </a:lnTo>
                  <a:cubicBezTo>
                    <a:pt x="7815835" y="0"/>
                    <a:pt x="7927340" y="111506"/>
                    <a:pt x="7927340" y="249047"/>
                  </a:cubicBezTo>
                  <a:lnTo>
                    <a:pt x="7927340" y="1826133"/>
                  </a:lnTo>
                  <a:cubicBezTo>
                    <a:pt x="7927340" y="1963674"/>
                    <a:pt x="7815835" y="2075180"/>
                    <a:pt x="7678293" y="2075180"/>
                  </a:cubicBezTo>
                  <a:lnTo>
                    <a:pt x="249047" y="2075180"/>
                  </a:lnTo>
                  <a:cubicBezTo>
                    <a:pt x="111506" y="2075180"/>
                    <a:pt x="0" y="1963674"/>
                    <a:pt x="0" y="1826133"/>
                  </a:cubicBezTo>
                  <a:close/>
                </a:path>
              </a:pathLst>
            </a:custGeom>
            <a:solidFill>
              <a:srgbClr val="0F604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199632" y="5006340"/>
            <a:ext cx="5897880" cy="1508760"/>
            <a:chOff x="0" y="0"/>
            <a:chExt cx="7863840" cy="2011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638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786384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Коворкінг-центр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Належить інвестору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-9336660">
            <a:off x="4340362" y="4251388"/>
            <a:ext cx="3526517" cy="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" id="21"/>
          <p:cNvSpPr/>
          <p:nvPr/>
        </p:nvSpPr>
        <p:spPr>
          <a:xfrm rot="-1463340">
            <a:off x="10443982" y="4251388"/>
            <a:ext cx="3526517" cy="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6748272" y="6995160"/>
            <a:ext cx="4800600" cy="1028700"/>
            <a:chOff x="0" y="0"/>
            <a:chExt cx="6400800" cy="1371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236208" y="0"/>
                  </a:lnTo>
                  <a:cubicBezTo>
                    <a:pt x="6327140" y="0"/>
                    <a:pt x="6400800" y="73660"/>
                    <a:pt x="6400800" y="164592"/>
                  </a:cubicBezTo>
                  <a:lnTo>
                    <a:pt x="6400800" y="1207008"/>
                  </a:lnTo>
                  <a:cubicBezTo>
                    <a:pt x="6400800" y="1297940"/>
                    <a:pt x="6327140" y="1371600"/>
                    <a:pt x="6236208" y="1371600"/>
                  </a:cubicBezTo>
                  <a:lnTo>
                    <a:pt x="164592" y="1371600"/>
                  </a:lnTo>
                  <a:cubicBezTo>
                    <a:pt x="73660" y="1371600"/>
                    <a:pt x="0" y="1297940"/>
                    <a:pt x="0" y="1207008"/>
                  </a:cubicBezTo>
                  <a:close/>
                </a:path>
              </a:pathLst>
            </a:custGeom>
            <a:solidFill>
              <a:srgbClr val="0F604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743700" y="6893066"/>
            <a:ext cx="4800600" cy="1232887"/>
            <a:chOff x="0" y="0"/>
            <a:chExt cx="6400800" cy="16438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00800" cy="1643850"/>
            </a:xfrm>
            <a:custGeom>
              <a:avLst/>
              <a:gdLst/>
              <a:ahLst/>
              <a:cxnLst/>
              <a:rect r="r" b="b" t="t" l="l"/>
              <a:pathLst>
                <a:path h="164385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643850"/>
                  </a:lnTo>
                  <a:lnTo>
                    <a:pt x="0" y="16438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151" r="0" b="-1758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6400800" cy="1653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Клієнти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Компанії й фрілансери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грошовий потік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9148572" y="6538913"/>
            <a:ext cx="121321" cy="391257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918972" y="8229600"/>
            <a:ext cx="16459200" cy="1714500"/>
            <a:chOff x="0" y="0"/>
            <a:chExt cx="21945600" cy="2286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1671280" y="0"/>
                  </a:lnTo>
                  <a:cubicBezTo>
                    <a:pt x="21822792" y="0"/>
                    <a:pt x="21945600" y="122809"/>
                    <a:pt x="21945600" y="274320"/>
                  </a:cubicBezTo>
                  <a:lnTo>
                    <a:pt x="21945600" y="2011680"/>
                  </a:lnTo>
                  <a:cubicBezTo>
                    <a:pt x="21945600" y="2163191"/>
                    <a:pt x="21822792" y="2286000"/>
                    <a:pt x="21671280" y="2286000"/>
                  </a:cubicBezTo>
                  <a:lnTo>
                    <a:pt x="274320" y="2286000"/>
                  </a:lnTo>
                  <a:cubicBezTo>
                    <a:pt x="122809" y="2286000"/>
                    <a:pt x="0" y="2163191"/>
                    <a:pt x="0" y="2011680"/>
                  </a:cubicBezTo>
                  <a:close/>
                </a:path>
              </a:pathLst>
            </a:custGeom>
            <a:solidFill>
              <a:srgbClr val="F5B5C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8972" y="8229600"/>
            <a:ext cx="16459200" cy="1714500"/>
            <a:chOff x="0" y="0"/>
            <a:chExt cx="21945600" cy="2286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IWG отримує плату за управління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Партнер отримує чистий прибуток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8972" y="480060"/>
            <a:ext cx="16459200" cy="1234440"/>
            <a:chOff x="0" y="0"/>
            <a:chExt cx="2194560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КЕРОВАНА МОДЕЛЬ </a:t>
              </a:r>
              <a:r>
                <a:rPr lang="en-US" sz="45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VENTAS</a:t>
              </a:r>
              <a:r>
                <a:rPr lang="en-US" sz="45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  (Atria, Sunrise)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99632" y="1851660"/>
            <a:ext cx="5897880" cy="1714500"/>
            <a:chOff x="0" y="0"/>
            <a:chExt cx="786384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6384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8638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7589520" y="0"/>
                  </a:lnTo>
                  <a:cubicBezTo>
                    <a:pt x="7741031" y="0"/>
                    <a:pt x="7863840" y="122809"/>
                    <a:pt x="7863840" y="274320"/>
                  </a:cubicBezTo>
                  <a:lnTo>
                    <a:pt x="7863840" y="2011680"/>
                  </a:lnTo>
                  <a:cubicBezTo>
                    <a:pt x="7863840" y="2163191"/>
                    <a:pt x="7741031" y="2286000"/>
                    <a:pt x="7589520" y="2286000"/>
                  </a:cubicBezTo>
                  <a:lnTo>
                    <a:pt x="274320" y="2286000"/>
                  </a:lnTo>
                  <a:cubicBezTo>
                    <a:pt x="122809" y="2286000"/>
                    <a:pt x="0" y="2163191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336792" y="1851660"/>
            <a:ext cx="5623560" cy="1714500"/>
            <a:chOff x="0" y="0"/>
            <a:chExt cx="7498080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98078" cy="2286000"/>
            </a:xfrm>
            <a:custGeom>
              <a:avLst/>
              <a:gdLst/>
              <a:ahLst/>
              <a:cxnLst/>
              <a:rect r="r" b="b" t="t" l="l"/>
              <a:pathLst>
                <a:path h="2286000" w="7498078">
                  <a:moveTo>
                    <a:pt x="0" y="0"/>
                  </a:moveTo>
                  <a:lnTo>
                    <a:pt x="7498078" y="0"/>
                  </a:lnTo>
                  <a:lnTo>
                    <a:pt x="7498078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10" r="0" b="-1391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749808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Ventas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Інвестор-власник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Володіє 553 будинками, може розірвати договір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-5262540">
            <a:off x="8433626" y="4265104"/>
            <a:ext cx="1429893" cy="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" id="11"/>
          <p:cNvGrpSpPr/>
          <p:nvPr/>
        </p:nvGrpSpPr>
        <p:grpSpPr>
          <a:xfrm rot="0">
            <a:off x="6175820" y="4982528"/>
            <a:ext cx="5945505" cy="1556385"/>
            <a:chOff x="0" y="0"/>
            <a:chExt cx="7927340" cy="20751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27340" cy="2075180"/>
            </a:xfrm>
            <a:custGeom>
              <a:avLst/>
              <a:gdLst/>
              <a:ahLst/>
              <a:cxnLst/>
              <a:rect r="r" b="b" t="t" l="l"/>
              <a:pathLst>
                <a:path h="2075180" w="7927340">
                  <a:moveTo>
                    <a:pt x="0" y="249047"/>
                  </a:moveTo>
                  <a:cubicBezTo>
                    <a:pt x="0" y="111506"/>
                    <a:pt x="111506" y="0"/>
                    <a:pt x="249047" y="0"/>
                  </a:cubicBezTo>
                  <a:lnTo>
                    <a:pt x="7678293" y="0"/>
                  </a:lnTo>
                  <a:cubicBezTo>
                    <a:pt x="7815835" y="0"/>
                    <a:pt x="7927340" y="111506"/>
                    <a:pt x="7927340" y="249047"/>
                  </a:cubicBezTo>
                  <a:lnTo>
                    <a:pt x="7927340" y="1826133"/>
                  </a:lnTo>
                  <a:cubicBezTo>
                    <a:pt x="7927340" y="1963674"/>
                    <a:pt x="7815835" y="2075180"/>
                    <a:pt x="7678293" y="2075180"/>
                  </a:cubicBezTo>
                  <a:lnTo>
                    <a:pt x="249047" y="2075180"/>
                  </a:lnTo>
                  <a:cubicBezTo>
                    <a:pt x="111506" y="2075180"/>
                    <a:pt x="0" y="1963674"/>
                    <a:pt x="0" y="1826133"/>
                  </a:cubicBezTo>
                  <a:close/>
                </a:path>
              </a:pathLst>
            </a:custGeom>
            <a:solidFill>
              <a:srgbClr val="0F604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336792" y="5006340"/>
            <a:ext cx="5623560" cy="1508760"/>
            <a:chOff x="0" y="0"/>
            <a:chExt cx="7498080" cy="2011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98078" cy="2011680"/>
            </a:xfrm>
            <a:custGeom>
              <a:avLst/>
              <a:gdLst/>
              <a:ahLst/>
              <a:cxnLst/>
              <a:rect r="r" b="b" t="t" l="l"/>
              <a:pathLst>
                <a:path h="2011680" w="7498078">
                  <a:moveTo>
                    <a:pt x="0" y="0"/>
                  </a:moveTo>
                  <a:lnTo>
                    <a:pt x="7498078" y="0"/>
                  </a:lnTo>
                  <a:lnTo>
                    <a:pt x="749807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74980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Оператор: Atria, Sunrise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Керує будинком: персонал, закупівлі, продажі місць, облік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456576" y="5465445"/>
            <a:ext cx="3101814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Плата оператору:</a:t>
            </a:r>
          </a:p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4,5–7% виторгу + бонус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748272" y="6995160"/>
            <a:ext cx="4800600" cy="1028700"/>
            <a:chOff x="0" y="0"/>
            <a:chExt cx="640080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236208" y="0"/>
                  </a:lnTo>
                  <a:cubicBezTo>
                    <a:pt x="6327140" y="0"/>
                    <a:pt x="6400800" y="73660"/>
                    <a:pt x="6400800" y="164592"/>
                  </a:cubicBezTo>
                  <a:lnTo>
                    <a:pt x="6400800" y="1207008"/>
                  </a:lnTo>
                  <a:cubicBezTo>
                    <a:pt x="6400800" y="1297940"/>
                    <a:pt x="6327140" y="1371600"/>
                    <a:pt x="6236208" y="1371600"/>
                  </a:cubicBezTo>
                  <a:lnTo>
                    <a:pt x="164592" y="1371600"/>
                  </a:lnTo>
                  <a:cubicBezTo>
                    <a:pt x="73660" y="1371600"/>
                    <a:pt x="0" y="1297940"/>
                    <a:pt x="0" y="1207008"/>
                  </a:cubicBezTo>
                  <a:close/>
                </a:path>
              </a:pathLst>
            </a:custGeom>
            <a:solidFill>
              <a:srgbClr val="0F604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748272" y="6995160"/>
            <a:ext cx="4800600" cy="1028700"/>
            <a:chOff x="0" y="0"/>
            <a:chExt cx="640080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4008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Мешканці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платять за проживання й догляд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-4876800">
            <a:off x="8960082" y="6754558"/>
            <a:ext cx="376971" cy="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3" id="23"/>
          <p:cNvGrpSpPr/>
          <p:nvPr/>
        </p:nvGrpSpPr>
        <p:grpSpPr>
          <a:xfrm rot="0">
            <a:off x="918972" y="8229600"/>
            <a:ext cx="16459200" cy="1714500"/>
            <a:chOff x="0" y="0"/>
            <a:chExt cx="21945600" cy="228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1671280" y="0"/>
                  </a:lnTo>
                  <a:cubicBezTo>
                    <a:pt x="21822792" y="0"/>
                    <a:pt x="21945600" y="122809"/>
                    <a:pt x="21945600" y="274320"/>
                  </a:cubicBezTo>
                  <a:lnTo>
                    <a:pt x="21945600" y="2011680"/>
                  </a:lnTo>
                  <a:cubicBezTo>
                    <a:pt x="21945600" y="2163191"/>
                    <a:pt x="21822792" y="2286000"/>
                    <a:pt x="21671280" y="2286000"/>
                  </a:cubicBezTo>
                  <a:lnTo>
                    <a:pt x="274320" y="2286000"/>
                  </a:lnTo>
                  <a:cubicBezTo>
                    <a:pt x="122809" y="2286000"/>
                    <a:pt x="0" y="2163191"/>
                    <a:pt x="0" y="2011680"/>
                  </a:cubicBezTo>
                  <a:close/>
                </a:path>
              </a:pathLst>
            </a:custGeom>
            <a:solidFill>
              <a:srgbClr val="F5B5C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97280" y="8229600"/>
            <a:ext cx="16102584" cy="1714500"/>
            <a:chOff x="0" y="0"/>
            <a:chExt cx="21470112" cy="2286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470113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470113">
                  <a:moveTo>
                    <a:pt x="0" y="0"/>
                  </a:moveTo>
                  <a:lnTo>
                    <a:pt x="21470113" y="0"/>
                  </a:lnTo>
                  <a:lnTo>
                    <a:pt x="21470113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003" r="0" b="-13300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1470112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VENTAS отримує чистий прибуток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8972" y="480060"/>
            <a:ext cx="16459200" cy="1234440"/>
            <a:chOff x="0" y="0"/>
            <a:chExt cx="2194560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ФРАНШИЗА + НЕЗАЛЕЖНИЙ ОПЕРАТОР </a:t>
              </a:r>
              <a:r>
                <a:rPr lang="en-US" sz="45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MARRIOTT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8972" y="1851660"/>
            <a:ext cx="5897880" cy="1714500"/>
            <a:chOff x="0" y="0"/>
            <a:chExt cx="786384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6384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8638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7589520" y="0"/>
                  </a:lnTo>
                  <a:cubicBezTo>
                    <a:pt x="7741031" y="0"/>
                    <a:pt x="7863840" y="122809"/>
                    <a:pt x="7863840" y="274320"/>
                  </a:cubicBezTo>
                  <a:lnTo>
                    <a:pt x="7863840" y="2011680"/>
                  </a:lnTo>
                  <a:cubicBezTo>
                    <a:pt x="7863840" y="2163191"/>
                    <a:pt x="7741031" y="2286000"/>
                    <a:pt x="7589520" y="2286000"/>
                  </a:cubicBezTo>
                  <a:lnTo>
                    <a:pt x="274320" y="2286000"/>
                  </a:lnTo>
                  <a:cubicBezTo>
                    <a:pt x="122809" y="2286000"/>
                    <a:pt x="0" y="2163191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56132" y="1851660"/>
            <a:ext cx="5623560" cy="1714500"/>
            <a:chOff x="0" y="0"/>
            <a:chExt cx="7498080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98078" cy="2286000"/>
            </a:xfrm>
            <a:custGeom>
              <a:avLst/>
              <a:gdLst/>
              <a:ahLst/>
              <a:cxnLst/>
              <a:rect r="r" b="b" t="t" l="l"/>
              <a:pathLst>
                <a:path h="2286000" w="7498078">
                  <a:moveTo>
                    <a:pt x="0" y="0"/>
                  </a:moveTo>
                  <a:lnTo>
                    <a:pt x="7498078" y="0"/>
                  </a:lnTo>
                  <a:lnTo>
                    <a:pt x="7498078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10" r="0" b="-1391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749808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Керуюча компанія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Незалежний оператор, якого найняв інвестор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Надає: директора (GM), персонал,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щоденне управління готелем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80292" y="1851660"/>
            <a:ext cx="5897880" cy="1714500"/>
            <a:chOff x="0" y="0"/>
            <a:chExt cx="786384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384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8638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7589520" y="0"/>
                  </a:lnTo>
                  <a:cubicBezTo>
                    <a:pt x="7741031" y="0"/>
                    <a:pt x="7863840" y="122809"/>
                    <a:pt x="7863840" y="274320"/>
                  </a:cubicBezTo>
                  <a:lnTo>
                    <a:pt x="7863840" y="2011680"/>
                  </a:lnTo>
                  <a:cubicBezTo>
                    <a:pt x="7863840" y="2163191"/>
                    <a:pt x="7741031" y="2286000"/>
                    <a:pt x="7589520" y="2286000"/>
                  </a:cubicBezTo>
                  <a:lnTo>
                    <a:pt x="274320" y="2286000"/>
                  </a:lnTo>
                  <a:cubicBezTo>
                    <a:pt x="122809" y="2286000"/>
                    <a:pt x="0" y="2163191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17452" y="1851660"/>
            <a:ext cx="5623560" cy="1714500"/>
            <a:chOff x="0" y="0"/>
            <a:chExt cx="749808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98078" cy="2286000"/>
            </a:xfrm>
            <a:custGeom>
              <a:avLst/>
              <a:gdLst/>
              <a:ahLst/>
              <a:cxnLst/>
              <a:rect r="r" b="b" t="t" l="l"/>
              <a:pathLst>
                <a:path h="2286000" w="7498078">
                  <a:moveTo>
                    <a:pt x="0" y="0"/>
                  </a:moveTo>
                  <a:lnTo>
                    <a:pt x="7498078" y="0"/>
                  </a:lnTo>
                  <a:lnTo>
                    <a:pt x="7498078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10" r="0" b="-1391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749808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Marriott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Франчайзер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Надає: бренд, стандарти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Погоджує оператора, може вимагати заміни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-8400360">
            <a:off x="5472179" y="4265104"/>
            <a:ext cx="2223011" cy="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 rot="-2399640">
            <a:off x="10547099" y="4265104"/>
            <a:ext cx="2223011" cy="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7" id="17"/>
          <p:cNvSpPr txBox="true"/>
          <p:nvPr/>
        </p:nvSpPr>
        <p:spPr>
          <a:xfrm rot="0">
            <a:off x="685800" y="3771900"/>
            <a:ext cx="480060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Регулярно:</a:t>
            </a:r>
          </a:p>
          <a:p>
            <a:pPr algn="r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2,5–3,5% виручки</a:t>
            </a:r>
          </a:p>
          <a:p>
            <a:pPr algn="r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+ бонус з прибутку понад пріоритет власника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55880" y="3771900"/>
            <a:ext cx="507492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Одноразово: пауш $400 за номер, мінімум $50 000</a:t>
            </a:r>
          </a:p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Регулярно: 5,5% виручки за номери + 2% маркетинговий фонд 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75820" y="4982528"/>
            <a:ext cx="5945505" cy="1556385"/>
            <a:chOff x="0" y="0"/>
            <a:chExt cx="7927340" cy="20751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27340" cy="2075180"/>
            </a:xfrm>
            <a:custGeom>
              <a:avLst/>
              <a:gdLst/>
              <a:ahLst/>
              <a:cxnLst/>
              <a:rect r="r" b="b" t="t" l="l"/>
              <a:pathLst>
                <a:path h="2075180" w="7927340">
                  <a:moveTo>
                    <a:pt x="0" y="249047"/>
                  </a:moveTo>
                  <a:cubicBezTo>
                    <a:pt x="0" y="111506"/>
                    <a:pt x="111506" y="0"/>
                    <a:pt x="249047" y="0"/>
                  </a:cubicBezTo>
                  <a:lnTo>
                    <a:pt x="7678293" y="0"/>
                  </a:lnTo>
                  <a:cubicBezTo>
                    <a:pt x="7815835" y="0"/>
                    <a:pt x="7927340" y="111506"/>
                    <a:pt x="7927340" y="249047"/>
                  </a:cubicBezTo>
                  <a:lnTo>
                    <a:pt x="7927340" y="1826133"/>
                  </a:lnTo>
                  <a:cubicBezTo>
                    <a:pt x="7927340" y="1963674"/>
                    <a:pt x="7815835" y="2075180"/>
                    <a:pt x="7678293" y="2075180"/>
                  </a:cubicBezTo>
                  <a:lnTo>
                    <a:pt x="249047" y="2075180"/>
                  </a:lnTo>
                  <a:cubicBezTo>
                    <a:pt x="111506" y="2075180"/>
                    <a:pt x="0" y="1963674"/>
                    <a:pt x="0" y="1826133"/>
                  </a:cubicBezTo>
                  <a:close/>
                </a:path>
              </a:pathLst>
            </a:custGeom>
            <a:solidFill>
              <a:srgbClr val="0F604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336792" y="5006340"/>
            <a:ext cx="5623560" cy="1508760"/>
            <a:chOff x="0" y="0"/>
            <a:chExt cx="7498080" cy="2011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98078" cy="2011680"/>
            </a:xfrm>
            <a:custGeom>
              <a:avLst/>
              <a:gdLst/>
              <a:ahLst/>
              <a:cxnLst/>
              <a:rect r="r" b="b" t="t" l="l"/>
              <a:pathLst>
                <a:path h="2011680" w="7498078">
                  <a:moveTo>
                    <a:pt x="0" y="0"/>
                  </a:moveTo>
                  <a:lnTo>
                    <a:pt x="7498078" y="0"/>
                  </a:lnTo>
                  <a:lnTo>
                    <a:pt x="749807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4980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Інвестор (REIT) = франчайзі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Сам обирає і наймає оператора, платить бренду й оператору, отримує прибуток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48272" y="6995160"/>
            <a:ext cx="4800600" cy="1028700"/>
            <a:chOff x="0" y="0"/>
            <a:chExt cx="6400800" cy="137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236208" y="0"/>
                  </a:lnTo>
                  <a:cubicBezTo>
                    <a:pt x="6327140" y="0"/>
                    <a:pt x="6400800" y="73660"/>
                    <a:pt x="6400800" y="164592"/>
                  </a:cubicBezTo>
                  <a:lnTo>
                    <a:pt x="6400800" y="1207008"/>
                  </a:lnTo>
                  <a:cubicBezTo>
                    <a:pt x="6400800" y="1297940"/>
                    <a:pt x="6327140" y="1371600"/>
                    <a:pt x="6236208" y="1371600"/>
                  </a:cubicBezTo>
                  <a:lnTo>
                    <a:pt x="164592" y="1371600"/>
                  </a:lnTo>
                  <a:cubicBezTo>
                    <a:pt x="73660" y="1371600"/>
                    <a:pt x="0" y="1297940"/>
                    <a:pt x="0" y="1207008"/>
                  </a:cubicBezTo>
                  <a:close/>
                </a:path>
              </a:pathLst>
            </a:custGeom>
            <a:solidFill>
              <a:srgbClr val="0F604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48272" y="6995160"/>
            <a:ext cx="4800600" cy="1028700"/>
            <a:chOff x="0" y="0"/>
            <a:chExt cx="6400800" cy="137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4008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Гості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грошовий потік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-4876800">
            <a:off x="8960082" y="6754558"/>
            <a:ext cx="376971" cy="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918972" y="8229600"/>
            <a:ext cx="16459200" cy="1714500"/>
            <a:chOff x="0" y="0"/>
            <a:chExt cx="21945600" cy="2286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1671280" y="0"/>
                  </a:lnTo>
                  <a:cubicBezTo>
                    <a:pt x="21822792" y="0"/>
                    <a:pt x="21945600" y="122809"/>
                    <a:pt x="21945600" y="274320"/>
                  </a:cubicBezTo>
                  <a:lnTo>
                    <a:pt x="21945600" y="2011680"/>
                  </a:lnTo>
                  <a:cubicBezTo>
                    <a:pt x="21945600" y="2163191"/>
                    <a:pt x="21822792" y="2286000"/>
                    <a:pt x="21671280" y="2286000"/>
                  </a:cubicBezTo>
                  <a:lnTo>
                    <a:pt x="274320" y="2286000"/>
                  </a:lnTo>
                  <a:cubicBezTo>
                    <a:pt x="122809" y="2286000"/>
                    <a:pt x="0" y="2163191"/>
                    <a:pt x="0" y="2011680"/>
                  </a:cubicBezTo>
                  <a:close/>
                </a:path>
              </a:pathLst>
            </a:custGeom>
            <a:solidFill>
              <a:srgbClr val="F5B5C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97280" y="8229600"/>
            <a:ext cx="16102584" cy="1714500"/>
            <a:chOff x="0" y="0"/>
            <a:chExt cx="21470112" cy="2286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470113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470113">
                  <a:moveTo>
                    <a:pt x="0" y="0"/>
                  </a:moveTo>
                  <a:lnTo>
                    <a:pt x="21470113" y="0"/>
                  </a:lnTo>
                  <a:lnTo>
                    <a:pt x="21470113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003" r="0" b="-13300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1470112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ІНВЕСТОР наймає оператора; Marriott лише погоджує його й може вимагати заміни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Apple Hospitality REIT, 2026: 13 готелів переведено з управління Marriott на цю модель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8972" y="480060"/>
            <a:ext cx="16459200" cy="1234440"/>
            <a:chOff x="0" y="0"/>
            <a:chExt cx="2194560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УПРАВЛІННЯ ВІД </a:t>
              </a:r>
              <a:r>
                <a:rPr lang="en-US" sz="45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MARRIOTT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99632" y="1851660"/>
            <a:ext cx="5897880" cy="1714500"/>
            <a:chOff x="0" y="0"/>
            <a:chExt cx="786384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6384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8638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7589520" y="0"/>
                  </a:lnTo>
                  <a:cubicBezTo>
                    <a:pt x="7741031" y="0"/>
                    <a:pt x="7863840" y="122809"/>
                    <a:pt x="7863840" y="274320"/>
                  </a:cubicBezTo>
                  <a:lnTo>
                    <a:pt x="7863840" y="2011680"/>
                  </a:lnTo>
                  <a:cubicBezTo>
                    <a:pt x="7863840" y="2163191"/>
                    <a:pt x="7741031" y="2286000"/>
                    <a:pt x="7589520" y="2286000"/>
                  </a:cubicBezTo>
                  <a:lnTo>
                    <a:pt x="274320" y="2286000"/>
                  </a:lnTo>
                  <a:cubicBezTo>
                    <a:pt x="122809" y="2286000"/>
                    <a:pt x="0" y="2163191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336792" y="1851660"/>
            <a:ext cx="5623560" cy="1714500"/>
            <a:chOff x="0" y="0"/>
            <a:chExt cx="7498080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98078" cy="2286000"/>
            </a:xfrm>
            <a:custGeom>
              <a:avLst/>
              <a:gdLst/>
              <a:ahLst/>
              <a:cxnLst/>
              <a:rect r="r" b="b" t="t" l="l"/>
              <a:pathLst>
                <a:path h="2286000" w="7498078">
                  <a:moveTo>
                    <a:pt x="0" y="0"/>
                  </a:moveTo>
                  <a:lnTo>
                    <a:pt x="7498078" y="0"/>
                  </a:lnTo>
                  <a:lnTo>
                    <a:pt x="7498078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10" r="0" b="-1391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749808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Marriott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Бренд і оператор одночасно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Надає: бренд, бронювання, лояльність,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директора (GM), персонал, щоденне управління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-5262540">
            <a:off x="8433626" y="4265104"/>
            <a:ext cx="1429893" cy="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1" id="11"/>
          <p:cNvSpPr txBox="true"/>
          <p:nvPr/>
        </p:nvSpPr>
        <p:spPr>
          <a:xfrm rot="0">
            <a:off x="3154680" y="3771900"/>
            <a:ext cx="576072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Базова плата</a:t>
            </a:r>
          </a:p>
          <a:p>
            <a:pPr algn="r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за управління:</a:t>
            </a:r>
          </a:p>
          <a:p>
            <a:pPr algn="r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5,5% виручки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32620" y="3771900"/>
            <a:ext cx="685800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Бонус: 6–10% скоригованого</a:t>
            </a:r>
          </a:p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валового операційного прибутку</a:t>
            </a:r>
          </a:p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+ системні збори бренду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175820" y="4982528"/>
            <a:ext cx="5945505" cy="1556385"/>
            <a:chOff x="0" y="0"/>
            <a:chExt cx="7927340" cy="20751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27340" cy="2075180"/>
            </a:xfrm>
            <a:custGeom>
              <a:avLst/>
              <a:gdLst/>
              <a:ahLst/>
              <a:cxnLst/>
              <a:rect r="r" b="b" t="t" l="l"/>
              <a:pathLst>
                <a:path h="2075180" w="7927340">
                  <a:moveTo>
                    <a:pt x="0" y="249047"/>
                  </a:moveTo>
                  <a:cubicBezTo>
                    <a:pt x="0" y="111506"/>
                    <a:pt x="111506" y="0"/>
                    <a:pt x="249047" y="0"/>
                  </a:cubicBezTo>
                  <a:lnTo>
                    <a:pt x="7678293" y="0"/>
                  </a:lnTo>
                  <a:cubicBezTo>
                    <a:pt x="7815835" y="0"/>
                    <a:pt x="7927340" y="111506"/>
                    <a:pt x="7927340" y="249047"/>
                  </a:cubicBezTo>
                  <a:lnTo>
                    <a:pt x="7927340" y="1826133"/>
                  </a:lnTo>
                  <a:cubicBezTo>
                    <a:pt x="7927340" y="1963674"/>
                    <a:pt x="7815835" y="2075180"/>
                    <a:pt x="7678293" y="2075180"/>
                  </a:cubicBezTo>
                  <a:lnTo>
                    <a:pt x="249047" y="2075180"/>
                  </a:lnTo>
                  <a:cubicBezTo>
                    <a:pt x="111506" y="2075180"/>
                    <a:pt x="0" y="1963674"/>
                    <a:pt x="0" y="1826133"/>
                  </a:cubicBezTo>
                  <a:close/>
                </a:path>
              </a:pathLst>
            </a:custGeom>
            <a:solidFill>
              <a:srgbClr val="0F604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336792" y="5006340"/>
            <a:ext cx="5623560" cy="1508760"/>
            <a:chOff x="0" y="0"/>
            <a:chExt cx="7498080" cy="2011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98078" cy="2011680"/>
            </a:xfrm>
            <a:custGeom>
              <a:avLst/>
              <a:gdLst/>
              <a:ahLst/>
              <a:cxnLst/>
              <a:rect r="r" b="b" t="t" l="l"/>
              <a:pathLst>
                <a:path h="2011680" w="7498078">
                  <a:moveTo>
                    <a:pt x="0" y="0"/>
                  </a:moveTo>
                  <a:lnTo>
                    <a:pt x="7498078" y="0"/>
                  </a:lnTo>
                  <a:lnTo>
                    <a:pt x="749807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74980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Інвестор = власник готелю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Наймає саму Marriott за договором управління на 20–30 років, нічим не керує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90976" y="6993006"/>
            <a:ext cx="4800600" cy="1028700"/>
            <a:chOff x="0" y="0"/>
            <a:chExt cx="6400800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236208" y="0"/>
                  </a:lnTo>
                  <a:cubicBezTo>
                    <a:pt x="6327140" y="0"/>
                    <a:pt x="6400800" y="73660"/>
                    <a:pt x="6400800" y="164592"/>
                  </a:cubicBezTo>
                  <a:lnTo>
                    <a:pt x="6400800" y="1207008"/>
                  </a:lnTo>
                  <a:cubicBezTo>
                    <a:pt x="6400800" y="1297940"/>
                    <a:pt x="6327140" y="1371600"/>
                    <a:pt x="6236208" y="1371600"/>
                  </a:cubicBezTo>
                  <a:lnTo>
                    <a:pt x="164592" y="1371600"/>
                  </a:lnTo>
                  <a:cubicBezTo>
                    <a:pt x="73660" y="1371600"/>
                    <a:pt x="0" y="1297940"/>
                    <a:pt x="0" y="1207008"/>
                  </a:cubicBezTo>
                  <a:close/>
                </a:path>
              </a:pathLst>
            </a:custGeom>
            <a:solidFill>
              <a:srgbClr val="0F604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748272" y="6995160"/>
            <a:ext cx="4800600" cy="1028700"/>
            <a:chOff x="0" y="0"/>
            <a:chExt cx="640080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4008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Гості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грошовий потік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9240034" y="6618226"/>
            <a:ext cx="8398" cy="456042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918972" y="8229600"/>
            <a:ext cx="16459200" cy="1714500"/>
            <a:chOff x="0" y="0"/>
            <a:chExt cx="21945600" cy="2286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1671280" y="0"/>
                  </a:lnTo>
                  <a:cubicBezTo>
                    <a:pt x="21822792" y="0"/>
                    <a:pt x="21945600" y="122809"/>
                    <a:pt x="21945600" y="274320"/>
                  </a:cubicBezTo>
                  <a:lnTo>
                    <a:pt x="21945600" y="2011680"/>
                  </a:lnTo>
                  <a:cubicBezTo>
                    <a:pt x="21945600" y="2163191"/>
                    <a:pt x="21822792" y="2286000"/>
                    <a:pt x="21671280" y="2286000"/>
                  </a:cubicBezTo>
                  <a:lnTo>
                    <a:pt x="274320" y="2286000"/>
                  </a:lnTo>
                  <a:cubicBezTo>
                    <a:pt x="122809" y="2286000"/>
                    <a:pt x="0" y="2163191"/>
                    <a:pt x="0" y="2011680"/>
                  </a:cubicBezTo>
                  <a:close/>
                </a:path>
              </a:pathLst>
            </a:custGeom>
            <a:solidFill>
              <a:srgbClr val="F5B5C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7280" y="8229600"/>
            <a:ext cx="16102584" cy="1714500"/>
            <a:chOff x="0" y="0"/>
            <a:chExt cx="21470112" cy="2286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470113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470113">
                  <a:moveTo>
                    <a:pt x="0" y="0"/>
                  </a:moveTo>
                  <a:lnTo>
                    <a:pt x="21470113" y="0"/>
                  </a:lnTo>
                  <a:lnTo>
                    <a:pt x="21470113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003" r="0" b="-13300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1470112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ІНВЕСТОР отримує: прибуток готелю після всіх платежів Marriott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Окремого оператора немає · договори довгі (20–30 років), замінити оператора складніше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8972" y="480060"/>
            <a:ext cx="16459200" cy="1234440"/>
            <a:chOff x="0" y="0"/>
            <a:chExt cx="2194560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ІНВЕСТОР-ОРЕНДОДАВЕЦЬ АВТОМИЙОК </a:t>
              </a:r>
              <a:r>
                <a:rPr lang="en-US" sz="45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TOMMY'S EXPRESS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8972" y="1851660"/>
            <a:ext cx="5897880" cy="1714500"/>
            <a:chOff x="0" y="0"/>
            <a:chExt cx="786384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6384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8638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7589520" y="0"/>
                  </a:lnTo>
                  <a:cubicBezTo>
                    <a:pt x="7741031" y="0"/>
                    <a:pt x="7863840" y="122809"/>
                    <a:pt x="7863840" y="274320"/>
                  </a:cubicBezTo>
                  <a:lnTo>
                    <a:pt x="7863840" y="2011680"/>
                  </a:lnTo>
                  <a:cubicBezTo>
                    <a:pt x="7863840" y="2163191"/>
                    <a:pt x="7741031" y="2286000"/>
                    <a:pt x="7589520" y="2286000"/>
                  </a:cubicBezTo>
                  <a:lnTo>
                    <a:pt x="274320" y="2286000"/>
                  </a:lnTo>
                  <a:cubicBezTo>
                    <a:pt x="122809" y="2286000"/>
                    <a:pt x="0" y="2163191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56132" y="1851660"/>
            <a:ext cx="5623560" cy="1714500"/>
            <a:chOff x="0" y="0"/>
            <a:chExt cx="7498080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98078" cy="2286000"/>
            </a:xfrm>
            <a:custGeom>
              <a:avLst/>
              <a:gdLst/>
              <a:ahLst/>
              <a:cxnLst/>
              <a:rect r="r" b="b" t="t" l="l"/>
              <a:pathLst>
                <a:path h="2286000" w="7498078">
                  <a:moveTo>
                    <a:pt x="0" y="0"/>
                  </a:moveTo>
                  <a:lnTo>
                    <a:pt x="7498078" y="0"/>
                  </a:lnTo>
                  <a:lnTo>
                    <a:pt x="7498078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10" r="0" b="-1391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749808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Інвестор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Власник землі й будівлі мийки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Інвестує: купівлю об'єкта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(напр., $5,24 млн, Керролтон)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80292" y="1851660"/>
            <a:ext cx="5897880" cy="1714500"/>
            <a:chOff x="0" y="0"/>
            <a:chExt cx="786384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863840" cy="2286000"/>
            </a:xfrm>
            <a:custGeom>
              <a:avLst/>
              <a:gdLst/>
              <a:ahLst/>
              <a:cxnLst/>
              <a:rect r="r" b="b" t="t" l="l"/>
              <a:pathLst>
                <a:path h="2286000" w="78638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7589520" y="0"/>
                  </a:lnTo>
                  <a:cubicBezTo>
                    <a:pt x="7741031" y="0"/>
                    <a:pt x="7863840" y="122809"/>
                    <a:pt x="7863840" y="274320"/>
                  </a:cubicBezTo>
                  <a:lnTo>
                    <a:pt x="7863840" y="2011680"/>
                  </a:lnTo>
                  <a:cubicBezTo>
                    <a:pt x="7863840" y="2163191"/>
                    <a:pt x="7741031" y="2286000"/>
                    <a:pt x="7589520" y="2286000"/>
                  </a:cubicBezTo>
                  <a:lnTo>
                    <a:pt x="274320" y="2286000"/>
                  </a:lnTo>
                  <a:cubicBezTo>
                    <a:pt x="122809" y="2286000"/>
                    <a:pt x="0" y="2163191"/>
                    <a:pt x="0" y="20116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17452" y="1851660"/>
            <a:ext cx="5623560" cy="1714500"/>
            <a:chOff x="0" y="0"/>
            <a:chExt cx="749808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98078" cy="2286000"/>
            </a:xfrm>
            <a:custGeom>
              <a:avLst/>
              <a:gdLst/>
              <a:ahLst/>
              <a:cxnLst/>
              <a:rect r="r" b="b" t="t" l="l"/>
              <a:pathLst>
                <a:path h="2286000" w="7498078">
                  <a:moveTo>
                    <a:pt x="0" y="0"/>
                  </a:moveTo>
                  <a:lnTo>
                    <a:pt x="7498078" y="0"/>
                  </a:lnTo>
                  <a:lnTo>
                    <a:pt x="7498078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910" r="0" b="-1391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749808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Tommy's Express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Франчайзер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Надає: бренд, систему мийки,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обладнання, навчання, IT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-8400360">
            <a:off x="5472179" y="4265104"/>
            <a:ext cx="2223011" cy="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 rot="-2399640">
            <a:off x="10547099" y="4265104"/>
            <a:ext cx="2223011" cy="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7" id="17"/>
          <p:cNvSpPr txBox="true"/>
          <p:nvPr/>
        </p:nvSpPr>
        <p:spPr>
          <a:xfrm rot="0">
            <a:off x="685800" y="3771900"/>
            <a:ext cx="480060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NNN-оренда:</a:t>
            </a:r>
          </a:p>
          <a:p>
            <a:pPr algn="r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$380 000 на рік</a:t>
            </a:r>
          </a:p>
          <a:p>
            <a:pPr algn="r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+10% кожні 5 років</a:t>
            </a:r>
          </a:p>
          <a:p>
            <a:pPr algn="r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(15 років)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55880" y="3771900"/>
            <a:ext cx="507492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Одноразово: пауш $50 000</a:t>
            </a:r>
          </a:p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Щотижня: 4% виторгу</a:t>
            </a:r>
          </a:p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+ 1% фонд бренду</a:t>
            </a:r>
          </a:p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+ IT-збір $80–150 на тиждень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175820" y="4982528"/>
            <a:ext cx="5945505" cy="1556385"/>
            <a:chOff x="0" y="0"/>
            <a:chExt cx="7927340" cy="20751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27340" cy="2075180"/>
            </a:xfrm>
            <a:custGeom>
              <a:avLst/>
              <a:gdLst/>
              <a:ahLst/>
              <a:cxnLst/>
              <a:rect r="r" b="b" t="t" l="l"/>
              <a:pathLst>
                <a:path h="2075180" w="7927340">
                  <a:moveTo>
                    <a:pt x="0" y="249047"/>
                  </a:moveTo>
                  <a:cubicBezTo>
                    <a:pt x="0" y="111506"/>
                    <a:pt x="111506" y="0"/>
                    <a:pt x="249047" y="0"/>
                  </a:cubicBezTo>
                  <a:lnTo>
                    <a:pt x="7678293" y="0"/>
                  </a:lnTo>
                  <a:cubicBezTo>
                    <a:pt x="7815835" y="0"/>
                    <a:pt x="7927340" y="111506"/>
                    <a:pt x="7927340" y="249047"/>
                  </a:cubicBezTo>
                  <a:lnTo>
                    <a:pt x="7927340" y="1826133"/>
                  </a:lnTo>
                  <a:cubicBezTo>
                    <a:pt x="7927340" y="1963674"/>
                    <a:pt x="7815835" y="2075180"/>
                    <a:pt x="7678293" y="2075180"/>
                  </a:cubicBezTo>
                  <a:lnTo>
                    <a:pt x="249047" y="2075180"/>
                  </a:lnTo>
                  <a:cubicBezTo>
                    <a:pt x="111506" y="2075180"/>
                    <a:pt x="0" y="1963674"/>
                    <a:pt x="0" y="1826133"/>
                  </a:cubicBezTo>
                  <a:close/>
                </a:path>
              </a:pathLst>
            </a:custGeom>
            <a:solidFill>
              <a:srgbClr val="0F6044"/>
            </a:solidFill>
            <a:ln w="4762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336792" y="5006340"/>
            <a:ext cx="5623560" cy="1508760"/>
            <a:chOff x="0" y="0"/>
            <a:chExt cx="7498080" cy="2011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98078" cy="2011680"/>
            </a:xfrm>
            <a:custGeom>
              <a:avLst/>
              <a:gdLst/>
              <a:ahLst/>
              <a:cxnLst/>
              <a:rect r="r" b="b" t="t" l="l"/>
              <a:pathLst>
                <a:path h="2011680" w="7498078">
                  <a:moveTo>
                    <a:pt x="0" y="0"/>
                  </a:moveTo>
                  <a:lnTo>
                    <a:pt x="7498078" y="0"/>
                  </a:lnTo>
                  <a:lnTo>
                    <a:pt x="7498078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626" r="0" b="-2262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4980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Оператор-франчайзі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Купує обладнання ($2,2–2,5 млн), керує мийкою і командою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48272" y="6995160"/>
            <a:ext cx="4800600" cy="1028700"/>
            <a:chOff x="0" y="0"/>
            <a:chExt cx="6400800" cy="137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236208" y="0"/>
                  </a:lnTo>
                  <a:cubicBezTo>
                    <a:pt x="6327140" y="0"/>
                    <a:pt x="6400800" y="73660"/>
                    <a:pt x="6400800" y="164592"/>
                  </a:cubicBezTo>
                  <a:lnTo>
                    <a:pt x="6400800" y="1207008"/>
                  </a:lnTo>
                  <a:cubicBezTo>
                    <a:pt x="6400800" y="1297940"/>
                    <a:pt x="6327140" y="1371600"/>
                    <a:pt x="6236208" y="1371600"/>
                  </a:cubicBezTo>
                  <a:lnTo>
                    <a:pt x="164592" y="1371600"/>
                  </a:lnTo>
                  <a:cubicBezTo>
                    <a:pt x="73660" y="1371600"/>
                    <a:pt x="0" y="1297940"/>
                    <a:pt x="0" y="1207008"/>
                  </a:cubicBezTo>
                  <a:close/>
                </a:path>
              </a:pathLst>
            </a:custGeom>
            <a:solidFill>
              <a:srgbClr val="0F604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748272" y="6995160"/>
            <a:ext cx="4800600" cy="1028700"/>
            <a:chOff x="0" y="0"/>
            <a:chExt cx="6400800" cy="137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08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640080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Клієнти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5B5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грошовий потік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-4876800">
            <a:off x="8960082" y="6754558"/>
            <a:ext cx="376971" cy="0"/>
          </a:xfrm>
          <a:prstGeom prst="line">
            <a:avLst/>
          </a:prstGeom>
          <a:ln cap="rnd" w="28575">
            <a:solidFill>
              <a:srgbClr val="F5B5C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918972" y="8229600"/>
            <a:ext cx="16459200" cy="1714500"/>
            <a:chOff x="0" y="0"/>
            <a:chExt cx="21945600" cy="2286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1671280" y="0"/>
                  </a:lnTo>
                  <a:cubicBezTo>
                    <a:pt x="21822792" y="0"/>
                    <a:pt x="21945600" y="122809"/>
                    <a:pt x="21945600" y="274320"/>
                  </a:cubicBezTo>
                  <a:lnTo>
                    <a:pt x="21945600" y="2011680"/>
                  </a:lnTo>
                  <a:cubicBezTo>
                    <a:pt x="21945600" y="2163191"/>
                    <a:pt x="21822792" y="2286000"/>
                    <a:pt x="21671280" y="2286000"/>
                  </a:cubicBezTo>
                  <a:lnTo>
                    <a:pt x="274320" y="2286000"/>
                  </a:lnTo>
                  <a:cubicBezTo>
                    <a:pt x="122809" y="2286000"/>
                    <a:pt x="0" y="2163191"/>
                    <a:pt x="0" y="2011680"/>
                  </a:cubicBezTo>
                  <a:close/>
                </a:path>
              </a:pathLst>
            </a:custGeom>
            <a:solidFill>
              <a:srgbClr val="F5B5C8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97280" y="8229600"/>
            <a:ext cx="16102584" cy="1714500"/>
            <a:chOff x="0" y="0"/>
            <a:chExt cx="21470112" cy="2286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470113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470113">
                  <a:moveTo>
                    <a:pt x="0" y="0"/>
                  </a:moveTo>
                  <a:lnTo>
                    <a:pt x="21470113" y="0"/>
                  </a:lnTo>
                  <a:lnTo>
                    <a:pt x="21470113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003" r="0" b="-13300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1470112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ІНВЕСТОР отримує: фіксовану NNN-оренду, cap rate ~6,3–7,3%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B4D36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Ризик: дефолт оператора; будівлю мийки складно здати іншому орендарю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8972" y="480060"/>
            <a:ext cx="16459200" cy="1234440"/>
            <a:chOff x="0" y="0"/>
            <a:chExt cx="2194560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Висновки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21925" y="1952033"/>
            <a:ext cx="16120506" cy="685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2440" indent="-411220" lvl="1">
              <a:lnSpc>
                <a:spcPts val="4571"/>
              </a:lnSpc>
              <a:spcBef>
                <a:spcPct val="0"/>
              </a:spcBef>
              <a:buAutoNum type="arabicPeriod" startAt="1"/>
            </a:pPr>
            <a:r>
              <a:rPr lang="en-US" b="true" sz="3809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CHICK-FIL-A - не підходить, так як ми не маємо власних приміщень і не маємо на них грошей.</a:t>
            </a:r>
          </a:p>
          <a:p>
            <a:pPr algn="l" marL="822440" indent="-411220" lvl="1">
              <a:lnSpc>
                <a:spcPts val="4571"/>
              </a:lnSpc>
              <a:spcBef>
                <a:spcPct val="0"/>
              </a:spcBef>
              <a:buAutoNum type="arabicPeriod" startAt="1"/>
            </a:pPr>
            <a:r>
              <a:rPr lang="en-US" b="true" sz="3809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 CVG - відображення моделі роботи офісу де роль франчайзі виконує менеджер відповідальний за проект. </a:t>
            </a:r>
          </a:p>
          <a:p>
            <a:pPr algn="l" marL="822440" indent="-411220" lvl="1">
              <a:lnSpc>
                <a:spcPts val="4571"/>
              </a:lnSpc>
              <a:spcBef>
                <a:spcPct val="0"/>
              </a:spcBef>
              <a:buAutoNum type="arabicPeriod" startAt="1"/>
            </a:pPr>
            <a:r>
              <a:rPr lang="en-US" b="true" sz="3809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IWG - найбільш підходяща під нас модель, але замість коворкінг центру - пекарня.</a:t>
            </a:r>
          </a:p>
          <a:p>
            <a:pPr algn="l" marL="822440" indent="-411220" lvl="1">
              <a:lnSpc>
                <a:spcPts val="4571"/>
              </a:lnSpc>
              <a:spcBef>
                <a:spcPct val="0"/>
              </a:spcBef>
              <a:buAutoNum type="arabicPeriod" startAt="1"/>
            </a:pPr>
            <a:r>
              <a:rPr lang="en-US" b="true" sz="3809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Ventas - Lviv Croissants не вклинюються в цю модель, адже є інвест-компанія яка сама супроводжує будівництво а оператора наймає для керування.</a:t>
            </a:r>
          </a:p>
          <a:p>
            <a:pPr algn="l" marL="822440" indent="-411220" lvl="1">
              <a:lnSpc>
                <a:spcPts val="4571"/>
              </a:lnSpc>
              <a:spcBef>
                <a:spcPct val="0"/>
              </a:spcBef>
              <a:buAutoNum type="arabicPeriod" startAt="1"/>
            </a:pPr>
            <a:r>
              <a:rPr lang="en-US" b="true" sz="3809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Кейс Marriot - релевантний, однак це або класична управлінська франшиза, або звична модель, що хтось з команди франчайзі дає кошти, а інший - курує.</a:t>
            </a:r>
          </a:p>
          <a:p>
            <a:pPr algn="l" marL="822440" indent="-411220" lvl="1">
              <a:lnSpc>
                <a:spcPts val="4571"/>
              </a:lnSpc>
              <a:spcBef>
                <a:spcPct val="0"/>
              </a:spcBef>
              <a:buAutoNum type="arabicPeriod" startAt="1"/>
            </a:pPr>
            <a:r>
              <a:rPr lang="en-US" b="true" sz="3809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Кейс Tommy’s Express - не релевантний через інвестиційний фокус на землі та нерухомості.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4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83545" y="2070307"/>
            <a:ext cx="6120910" cy="3780552"/>
          </a:xfrm>
          <a:custGeom>
            <a:avLst/>
            <a:gdLst/>
            <a:ahLst/>
            <a:cxnLst/>
            <a:rect r="r" b="b" t="t" l="l"/>
            <a:pathLst>
              <a:path h="3780552" w="6120910">
                <a:moveTo>
                  <a:pt x="0" y="0"/>
                </a:moveTo>
                <a:lnTo>
                  <a:pt x="6120910" y="0"/>
                </a:lnTo>
                <a:lnTo>
                  <a:pt x="6120910" y="3780552"/>
                </a:lnTo>
                <a:lnTo>
                  <a:pt x="0" y="3780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44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6287" y="5736559"/>
            <a:ext cx="12755425" cy="202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5827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Розділ 2</a:t>
            </a:r>
          </a:p>
          <a:p>
            <a:pPr algn="ctr">
              <a:lnSpc>
                <a:spcPts val="8159"/>
              </a:lnSpc>
            </a:pPr>
            <a:r>
              <a:rPr lang="en-US" sz="5827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Дослідження успіху </a:t>
            </a:r>
            <a:r>
              <a:rPr lang="en-US" sz="5827" b="true">
                <a:solidFill>
                  <a:srgbClr val="F5B2C4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7-Eleven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1456" y="1266825"/>
            <a:ext cx="16325088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0"/>
              </a:lnSpc>
            </a:pPr>
            <a:r>
              <a:rPr lang="en-US" sz="63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Секрет росту франшизи </a:t>
            </a:r>
            <a:r>
              <a:rPr lang="en-US" sz="63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7-Eleven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909888"/>
            <a:ext cx="3733800" cy="3448050"/>
            <a:chOff x="0" y="0"/>
            <a:chExt cx="4978400" cy="4597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78400" cy="4597400"/>
            </a:xfrm>
            <a:custGeom>
              <a:avLst/>
              <a:gdLst/>
              <a:ahLst/>
              <a:cxnLst/>
              <a:rect r="r" b="b" t="t" l="l"/>
              <a:pathLst>
                <a:path h="4597400" w="49784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673600" y="0"/>
                  </a:lnTo>
                  <a:cubicBezTo>
                    <a:pt x="4842002" y="0"/>
                    <a:pt x="4978400" y="136525"/>
                    <a:pt x="4978400" y="304800"/>
                  </a:cubicBezTo>
                  <a:lnTo>
                    <a:pt x="4978400" y="4292600"/>
                  </a:lnTo>
                  <a:cubicBezTo>
                    <a:pt x="4978400" y="4461002"/>
                    <a:pt x="4841875" y="4597400"/>
                    <a:pt x="4673600" y="4597400"/>
                  </a:cubicBezTo>
                  <a:lnTo>
                    <a:pt x="304800" y="4597400"/>
                  </a:lnTo>
                  <a:cubicBezTo>
                    <a:pt x="136398" y="4597400"/>
                    <a:pt x="0" y="4460875"/>
                    <a:pt x="0" y="429260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24000" y="3328988"/>
            <a:ext cx="3217926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50–60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4000" y="4142422"/>
            <a:ext cx="3217926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Кластерна експансія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4624388"/>
            <a:ext cx="321792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магазинів навколо одного розподільчого центру: щільність, дешева логістика, бар'єр для конкурентів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257800" y="2909888"/>
            <a:ext cx="3733800" cy="3448050"/>
            <a:chOff x="0" y="0"/>
            <a:chExt cx="4978400" cy="4597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78400" cy="4597400"/>
            </a:xfrm>
            <a:custGeom>
              <a:avLst/>
              <a:gdLst/>
              <a:ahLst/>
              <a:cxnLst/>
              <a:rect r="r" b="b" t="t" l="l"/>
              <a:pathLst>
                <a:path h="4597400" w="49784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673600" y="0"/>
                  </a:lnTo>
                  <a:cubicBezTo>
                    <a:pt x="4842002" y="0"/>
                    <a:pt x="4978400" y="136525"/>
                    <a:pt x="4978400" y="304800"/>
                  </a:cubicBezTo>
                  <a:lnTo>
                    <a:pt x="4978400" y="4292600"/>
                  </a:lnTo>
                  <a:cubicBezTo>
                    <a:pt x="4978400" y="4461002"/>
                    <a:pt x="4841875" y="4597400"/>
                    <a:pt x="4673600" y="4597400"/>
                  </a:cubicBezTo>
                  <a:lnTo>
                    <a:pt x="304800" y="4597400"/>
                  </a:lnTo>
                  <a:cubicBezTo>
                    <a:pt x="136398" y="4597400"/>
                    <a:pt x="0" y="4460875"/>
                    <a:pt x="0" y="429260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562600" y="3328988"/>
            <a:ext cx="3217926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70%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62600" y="4142422"/>
            <a:ext cx="3217926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IT-система даних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62600" y="4624388"/>
            <a:ext cx="321792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продажі за день аналізуються до ранку; за рік змінюється ~70% асортименту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96400" y="2909888"/>
            <a:ext cx="3733800" cy="3448050"/>
            <a:chOff x="0" y="0"/>
            <a:chExt cx="4978400" cy="4597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78400" cy="4597400"/>
            </a:xfrm>
            <a:custGeom>
              <a:avLst/>
              <a:gdLst/>
              <a:ahLst/>
              <a:cxnLst/>
              <a:rect r="r" b="b" t="t" l="l"/>
              <a:pathLst>
                <a:path h="4597400" w="49784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673600" y="0"/>
                  </a:lnTo>
                  <a:cubicBezTo>
                    <a:pt x="4842002" y="0"/>
                    <a:pt x="4978400" y="136525"/>
                    <a:pt x="4978400" y="304800"/>
                  </a:cubicBezTo>
                  <a:lnTo>
                    <a:pt x="4978400" y="4292600"/>
                  </a:lnTo>
                  <a:cubicBezTo>
                    <a:pt x="4978400" y="4461002"/>
                    <a:pt x="4841875" y="4597400"/>
                    <a:pt x="4673600" y="4597400"/>
                  </a:cubicBezTo>
                  <a:lnTo>
                    <a:pt x="304800" y="4597400"/>
                  </a:lnTo>
                  <a:cubicBezTo>
                    <a:pt x="136398" y="4597400"/>
                    <a:pt x="0" y="4460875"/>
                    <a:pt x="0" y="429260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601200" y="3328988"/>
            <a:ext cx="3217926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70 → 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1200" y="4142422"/>
            <a:ext cx="3217926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Об'єднана доставка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1200" y="4624388"/>
            <a:ext cx="321792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вантажівок на магазин щодня (1974 → 2006); свіжа їжа до 3 разів на день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335000" y="2909888"/>
            <a:ext cx="3733800" cy="3448050"/>
            <a:chOff x="0" y="0"/>
            <a:chExt cx="4978400" cy="4597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78400" cy="4597400"/>
            </a:xfrm>
            <a:custGeom>
              <a:avLst/>
              <a:gdLst/>
              <a:ahLst/>
              <a:cxnLst/>
              <a:rect r="r" b="b" t="t" l="l"/>
              <a:pathLst>
                <a:path h="4597400" w="49784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673600" y="0"/>
                  </a:lnTo>
                  <a:cubicBezTo>
                    <a:pt x="4842002" y="0"/>
                    <a:pt x="4978400" y="136525"/>
                    <a:pt x="4978400" y="304800"/>
                  </a:cubicBezTo>
                  <a:lnTo>
                    <a:pt x="4978400" y="4292600"/>
                  </a:lnTo>
                  <a:cubicBezTo>
                    <a:pt x="4978400" y="4461002"/>
                    <a:pt x="4841875" y="4597400"/>
                    <a:pt x="4673600" y="4597400"/>
                  </a:cubicBezTo>
                  <a:lnTo>
                    <a:pt x="304800" y="4597400"/>
                  </a:lnTo>
                  <a:cubicBezTo>
                    <a:pt x="136398" y="4597400"/>
                    <a:pt x="0" y="4460875"/>
                    <a:pt x="0" y="429260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639800" y="3328988"/>
            <a:ext cx="3217926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45%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39800" y="4142422"/>
            <a:ext cx="3217926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Чіткі ролі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39800" y="4624388"/>
            <a:ext cx="321792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SEJ бере 45% валового прибутку, дає IT, замовлення, рекламу; франчайзі керує магазином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19200" y="7168515"/>
            <a:ext cx="15849600" cy="1594485"/>
            <a:chOff x="0" y="0"/>
            <a:chExt cx="21132800" cy="21259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132800" cy="2125980"/>
            </a:xfrm>
            <a:custGeom>
              <a:avLst/>
              <a:gdLst/>
              <a:ahLst/>
              <a:cxnLst/>
              <a:rect r="r" b="b" t="t" l="l"/>
              <a:pathLst>
                <a:path h="2125980" w="211328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0828000" y="0"/>
                  </a:lnTo>
                  <a:cubicBezTo>
                    <a:pt x="20996275" y="0"/>
                    <a:pt x="21132800" y="136525"/>
                    <a:pt x="21132800" y="304800"/>
                  </a:cubicBezTo>
                  <a:lnTo>
                    <a:pt x="21132800" y="1821180"/>
                  </a:lnTo>
                  <a:cubicBezTo>
                    <a:pt x="21132800" y="1989455"/>
                    <a:pt x="20996275" y="2125980"/>
                    <a:pt x="20828000" y="2125980"/>
                  </a:cubicBezTo>
                  <a:lnTo>
                    <a:pt x="304800" y="2125980"/>
                  </a:lnTo>
                  <a:cubicBezTo>
                    <a:pt x="136525" y="2125980"/>
                    <a:pt x="0" y="1989455"/>
                    <a:pt x="0" y="1821180"/>
                  </a:cubicBezTo>
                  <a:close/>
                </a:path>
              </a:pathLst>
            </a:custGeom>
            <a:solidFill>
              <a:srgbClr val="F4B6C8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3842023" y="7520940"/>
            <a:ext cx="1060380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30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РЕЗУЛЬТАТ: 2 299 → 19 422 магазини (1984–2016), 41% ринку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244406" y="8035290"/>
            <a:ext cx="11799189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7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Продажі на магазин: ¥647 тис./день проти ¥484 тис. у конкурентів (2004)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1456" y="1266825"/>
            <a:ext cx="16325088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0"/>
              </a:lnSpc>
            </a:pPr>
            <a:r>
              <a:rPr lang="en-US" sz="63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Що ще підсилює зростання </a:t>
            </a:r>
            <a:r>
              <a:rPr lang="en-US" sz="63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7-Eleven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721292"/>
            <a:ext cx="3733800" cy="3825240"/>
            <a:chOff x="0" y="0"/>
            <a:chExt cx="4978400" cy="51003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78400" cy="5100320"/>
            </a:xfrm>
            <a:custGeom>
              <a:avLst/>
              <a:gdLst/>
              <a:ahLst/>
              <a:cxnLst/>
              <a:rect r="r" b="b" t="t" l="l"/>
              <a:pathLst>
                <a:path h="5100320" w="49784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4673600" y="0"/>
                  </a:lnTo>
                  <a:cubicBezTo>
                    <a:pt x="4841875" y="0"/>
                    <a:pt x="4978400" y="136398"/>
                    <a:pt x="4978400" y="304800"/>
                  </a:cubicBezTo>
                  <a:lnTo>
                    <a:pt x="4978400" y="4795520"/>
                  </a:lnTo>
                  <a:cubicBezTo>
                    <a:pt x="4978400" y="4963795"/>
                    <a:pt x="4842002" y="5100320"/>
                    <a:pt x="4673600" y="5100320"/>
                  </a:cubicBezTo>
                  <a:lnTo>
                    <a:pt x="304800" y="5100320"/>
                  </a:lnTo>
                  <a:cubicBezTo>
                    <a:pt x="136525" y="5100320"/>
                    <a:pt x="0" y="4963922"/>
                    <a:pt x="0" y="479552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24000" y="3140392"/>
            <a:ext cx="3217926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¥1 трлн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4000" y="3953828"/>
            <a:ext cx="3217926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Власні бренди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4435792"/>
            <a:ext cx="321792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Seven Premium: +20% щороку (2016); ексклюзивні товари, контроль якості та маржі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257800" y="2721292"/>
            <a:ext cx="3733800" cy="3825240"/>
            <a:chOff x="0" y="0"/>
            <a:chExt cx="4978400" cy="5100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78400" cy="5100320"/>
            </a:xfrm>
            <a:custGeom>
              <a:avLst/>
              <a:gdLst/>
              <a:ahLst/>
              <a:cxnLst/>
              <a:rect r="r" b="b" t="t" l="l"/>
              <a:pathLst>
                <a:path h="5100320" w="49784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4673600" y="0"/>
                  </a:lnTo>
                  <a:cubicBezTo>
                    <a:pt x="4841875" y="0"/>
                    <a:pt x="4978400" y="136398"/>
                    <a:pt x="4978400" y="304800"/>
                  </a:cubicBezTo>
                  <a:lnTo>
                    <a:pt x="4978400" y="4795520"/>
                  </a:lnTo>
                  <a:cubicBezTo>
                    <a:pt x="4978400" y="4963795"/>
                    <a:pt x="4842002" y="5100320"/>
                    <a:pt x="4673600" y="5100320"/>
                  </a:cubicBezTo>
                  <a:lnTo>
                    <a:pt x="304800" y="5100320"/>
                  </a:lnTo>
                  <a:cubicBezTo>
                    <a:pt x="136525" y="5100320"/>
                    <a:pt x="0" y="4963922"/>
                    <a:pt x="0" y="479552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562600" y="3140392"/>
            <a:ext cx="3217926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29,8%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62600" y="3953828"/>
            <a:ext cx="3217926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Свіжа їжа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62600" y="4435792"/>
            <a:ext cx="321792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частка fast food у продажах (2015); оніґірі з пакуванням, що тримає норі хрусткою, стали хітом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96400" y="2721292"/>
            <a:ext cx="3733800" cy="3825240"/>
            <a:chOff x="0" y="0"/>
            <a:chExt cx="4978400" cy="5100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78400" cy="5100320"/>
            </a:xfrm>
            <a:custGeom>
              <a:avLst/>
              <a:gdLst/>
              <a:ahLst/>
              <a:cxnLst/>
              <a:rect r="r" b="b" t="t" l="l"/>
              <a:pathLst>
                <a:path h="5100320" w="49784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4673600" y="0"/>
                  </a:lnTo>
                  <a:cubicBezTo>
                    <a:pt x="4841875" y="0"/>
                    <a:pt x="4978400" y="136398"/>
                    <a:pt x="4978400" y="304800"/>
                  </a:cubicBezTo>
                  <a:lnTo>
                    <a:pt x="4978400" y="4795520"/>
                  </a:lnTo>
                  <a:cubicBezTo>
                    <a:pt x="4978400" y="4963795"/>
                    <a:pt x="4842002" y="5100320"/>
                    <a:pt x="4673600" y="5100320"/>
                  </a:cubicBezTo>
                  <a:lnTo>
                    <a:pt x="304800" y="5100320"/>
                  </a:lnTo>
                  <a:cubicBezTo>
                    <a:pt x="136525" y="5100320"/>
                    <a:pt x="0" y="4963922"/>
                    <a:pt x="0" y="479552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601200" y="3140392"/>
            <a:ext cx="3217926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3 000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1200" y="3953828"/>
            <a:ext cx="3217926" cy="76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Локальний асортимент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1200" y="4438650"/>
            <a:ext cx="3217926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SKU в середньому в магазині з 5 000; американські хот-доги не прижились, тож перейшли на місцеву їжу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335000" y="2721292"/>
            <a:ext cx="3733800" cy="3825240"/>
            <a:chOff x="0" y="0"/>
            <a:chExt cx="4978400" cy="5100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78400" cy="5100320"/>
            </a:xfrm>
            <a:custGeom>
              <a:avLst/>
              <a:gdLst/>
              <a:ahLst/>
              <a:cxnLst/>
              <a:rect r="r" b="b" t="t" l="l"/>
              <a:pathLst>
                <a:path h="5100320" w="49784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4673600" y="0"/>
                  </a:lnTo>
                  <a:cubicBezTo>
                    <a:pt x="4841875" y="0"/>
                    <a:pt x="4978400" y="136398"/>
                    <a:pt x="4978400" y="304800"/>
                  </a:cubicBezTo>
                  <a:lnTo>
                    <a:pt x="4978400" y="4795520"/>
                  </a:lnTo>
                  <a:cubicBezTo>
                    <a:pt x="4978400" y="4963795"/>
                    <a:pt x="4842002" y="5100320"/>
                    <a:pt x="4673600" y="5100320"/>
                  </a:cubicBezTo>
                  <a:lnTo>
                    <a:pt x="304800" y="5100320"/>
                  </a:lnTo>
                  <a:cubicBezTo>
                    <a:pt x="136525" y="5100320"/>
                    <a:pt x="0" y="4963922"/>
                    <a:pt x="0" y="479552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639800" y="3140392"/>
            <a:ext cx="3217926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18 000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39800" y="3953828"/>
            <a:ext cx="3217926" cy="38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7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Сервіси «під ключ»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39800" y="4435792"/>
            <a:ext cx="3217926" cy="133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банкоматів Seven Bank; оплата рахунків, посилки, квитки; 111 транзакцій на день на один банкомат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19200" y="7168515"/>
            <a:ext cx="15849600" cy="1594485"/>
            <a:chOff x="0" y="0"/>
            <a:chExt cx="21132800" cy="21259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132800" cy="2125980"/>
            </a:xfrm>
            <a:custGeom>
              <a:avLst/>
              <a:gdLst/>
              <a:ahLst/>
              <a:cxnLst/>
              <a:rect r="r" b="b" t="t" l="l"/>
              <a:pathLst>
                <a:path h="2125980" w="211328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0828000" y="0"/>
                  </a:lnTo>
                  <a:cubicBezTo>
                    <a:pt x="20996275" y="0"/>
                    <a:pt x="21132800" y="136525"/>
                    <a:pt x="21132800" y="304800"/>
                  </a:cubicBezTo>
                  <a:lnTo>
                    <a:pt x="21132800" y="1821180"/>
                  </a:lnTo>
                  <a:cubicBezTo>
                    <a:pt x="21132800" y="1989455"/>
                    <a:pt x="20996275" y="2125980"/>
                    <a:pt x="20828000" y="2125980"/>
                  </a:cubicBezTo>
                  <a:lnTo>
                    <a:pt x="304800" y="2125980"/>
                  </a:lnTo>
                  <a:cubicBezTo>
                    <a:pt x="136525" y="2125980"/>
                    <a:pt x="0" y="1989455"/>
                    <a:pt x="0" y="1821180"/>
                  </a:cubicBezTo>
                  <a:close/>
                </a:path>
              </a:pathLst>
            </a:custGeom>
            <a:solidFill>
              <a:srgbClr val="F4B6C8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3847528" y="7520940"/>
            <a:ext cx="1059294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30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ВИСНОВОК: 7-Eleven продає не товар, а зручність і свіжість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96025" y="8035290"/>
            <a:ext cx="569595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7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Частота візитів - 1 000+ на магазин щодня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10811" y="1276350"/>
            <a:ext cx="8266377" cy="80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0"/>
              </a:lnSpc>
            </a:pPr>
            <a:r>
              <a:rPr lang="en-US" sz="57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Розподіл обов’язків </a:t>
            </a:r>
            <a:r>
              <a:rPr lang="en-US" sz="57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7-Eleven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905125"/>
            <a:ext cx="7772400" cy="3632835"/>
            <a:chOff x="0" y="0"/>
            <a:chExt cx="10363200" cy="48437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63200" cy="4843780"/>
            </a:xfrm>
            <a:custGeom>
              <a:avLst/>
              <a:gdLst/>
              <a:ahLst/>
              <a:cxnLst/>
              <a:rect r="r" b="b" t="t" l="l"/>
              <a:pathLst>
                <a:path h="4843780" w="10363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0058400" y="0"/>
                  </a:lnTo>
                  <a:cubicBezTo>
                    <a:pt x="10226802" y="0"/>
                    <a:pt x="10363200" y="136525"/>
                    <a:pt x="10363200" y="304800"/>
                  </a:cubicBezTo>
                  <a:lnTo>
                    <a:pt x="10363200" y="4538980"/>
                  </a:lnTo>
                  <a:cubicBezTo>
                    <a:pt x="10363200" y="4707382"/>
                    <a:pt x="10226675" y="4843780"/>
                    <a:pt x="10058400" y="4843780"/>
                  </a:cubicBezTo>
                  <a:lnTo>
                    <a:pt x="304800" y="4843780"/>
                  </a:lnTo>
                  <a:cubicBezTo>
                    <a:pt x="136398" y="4843780"/>
                    <a:pt x="0" y="4707255"/>
                    <a:pt x="0" y="4538980"/>
                  </a:cubicBezTo>
                  <a:close/>
                </a:path>
              </a:pathLst>
            </a:custGeom>
            <a:solidFill>
              <a:srgbClr val="FBFBF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00200" y="3267075"/>
            <a:ext cx="7220712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3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SEJ (франчайзер)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6598" y="3842385"/>
            <a:ext cx="7072884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Розробляє асортимент і пропонує його франчайзі</a:t>
            </a:r>
          </a:p>
          <a:p>
            <a:pPr algn="l" marL="380048" indent="-190024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Надає систему замовлень</a:t>
            </a:r>
          </a:p>
          <a:p>
            <a:pPr algn="l" marL="380048" indent="-190024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Оплачує роботу IT-системи</a:t>
            </a:r>
          </a:p>
          <a:p>
            <a:pPr algn="l" marL="380048" indent="-190024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Дає бухгалтерські послуги</a:t>
            </a:r>
          </a:p>
          <a:p>
            <a:pPr algn="l" marL="380048" indent="-190024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Забезпечує рекламу</a:t>
            </a:r>
          </a:p>
          <a:p>
            <a:pPr algn="l" marL="380048" indent="-190024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Облаштовує та ремонтує приміщення</a:t>
            </a:r>
          </a:p>
          <a:p>
            <a:pPr algn="l" marL="380048" indent="-190024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Покриває 80% комунальних витрат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96400" y="2905125"/>
            <a:ext cx="7772400" cy="3632835"/>
            <a:chOff x="0" y="0"/>
            <a:chExt cx="10363200" cy="48437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63200" cy="4843780"/>
            </a:xfrm>
            <a:custGeom>
              <a:avLst/>
              <a:gdLst/>
              <a:ahLst/>
              <a:cxnLst/>
              <a:rect r="r" b="b" t="t" l="l"/>
              <a:pathLst>
                <a:path h="4843780" w="10363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0058400" y="0"/>
                  </a:lnTo>
                  <a:cubicBezTo>
                    <a:pt x="10226802" y="0"/>
                    <a:pt x="10363200" y="136525"/>
                    <a:pt x="10363200" y="304800"/>
                  </a:cubicBezTo>
                  <a:lnTo>
                    <a:pt x="10363200" y="4538980"/>
                  </a:lnTo>
                  <a:cubicBezTo>
                    <a:pt x="10363200" y="4707382"/>
                    <a:pt x="10226675" y="4843780"/>
                    <a:pt x="10058400" y="4843780"/>
                  </a:cubicBezTo>
                  <a:lnTo>
                    <a:pt x="304800" y="4843780"/>
                  </a:lnTo>
                  <a:cubicBezTo>
                    <a:pt x="136398" y="4843780"/>
                    <a:pt x="0" y="4707255"/>
                    <a:pt x="0" y="453898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77400" y="3267075"/>
            <a:ext cx="7220712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3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Франчайзі (власник магазину)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3798" y="3842385"/>
            <a:ext cx="7072884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Керує магазином і його діяльністю</a:t>
            </a:r>
          </a:p>
          <a:p>
            <a:pPr algn="l" marL="380048" indent="-190024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Наймає персонал і платить зарплату</a:t>
            </a:r>
          </a:p>
          <a:p>
            <a:pPr algn="l" marL="380048" indent="-190024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Замовляє товари</a:t>
            </a:r>
          </a:p>
          <a:p>
            <a:pPr algn="l" marL="380048" indent="-190024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Підтримує належний вигляд магазину</a:t>
            </a:r>
          </a:p>
          <a:p>
            <a:pPr algn="l" marL="380048" indent="-190024" lvl="1">
              <a:lnSpc>
                <a:spcPts val="2625"/>
              </a:lnSpc>
              <a:buFont typeface="Arial"/>
              <a:buChar char="•"/>
            </a:pPr>
            <a:r>
              <a:rPr lang="en-US" b="true" sz="2100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Обслуговує клієнтів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19200" y="7427595"/>
            <a:ext cx="15849600" cy="1335405"/>
            <a:chOff x="0" y="0"/>
            <a:chExt cx="21132800" cy="17805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32800" cy="1780540"/>
            </a:xfrm>
            <a:custGeom>
              <a:avLst/>
              <a:gdLst/>
              <a:ahLst/>
              <a:cxnLst/>
              <a:rect r="r" b="b" t="t" l="l"/>
              <a:pathLst>
                <a:path h="1780540" w="211328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20828000" y="0"/>
                  </a:lnTo>
                  <a:cubicBezTo>
                    <a:pt x="20996275" y="0"/>
                    <a:pt x="21132800" y="136398"/>
                    <a:pt x="21132800" y="304800"/>
                  </a:cubicBezTo>
                  <a:lnTo>
                    <a:pt x="21132800" y="1475740"/>
                  </a:lnTo>
                  <a:cubicBezTo>
                    <a:pt x="21132800" y="1644015"/>
                    <a:pt x="20996402" y="1780540"/>
                    <a:pt x="20828000" y="1780540"/>
                  </a:cubicBezTo>
                  <a:lnTo>
                    <a:pt x="304800" y="1780540"/>
                  </a:lnTo>
                  <a:cubicBezTo>
                    <a:pt x="136525" y="1780540"/>
                    <a:pt x="0" y="1644142"/>
                    <a:pt x="0" y="1475740"/>
                  </a:cubicBezTo>
                  <a:close/>
                </a:path>
              </a:pathLst>
            </a:custGeom>
            <a:solidFill>
              <a:srgbClr val="F4B6C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886666" y="7703820"/>
            <a:ext cx="12514516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4"/>
              </a:lnSpc>
            </a:pPr>
            <a:r>
              <a:rPr lang="en-US" sz="27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SEJ бере 45% валового прибутку магазину (1994), решта належить франчайзі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66632" y="8155305"/>
            <a:ext cx="6954584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4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Франшизу отримує менш ніж 1 із 100 кандидатів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83545" y="2070307"/>
            <a:ext cx="6120910" cy="3780552"/>
          </a:xfrm>
          <a:custGeom>
            <a:avLst/>
            <a:gdLst/>
            <a:ahLst/>
            <a:cxnLst/>
            <a:rect r="r" b="b" t="t" l="l"/>
            <a:pathLst>
              <a:path h="3780552" w="6120910">
                <a:moveTo>
                  <a:pt x="0" y="0"/>
                </a:moveTo>
                <a:lnTo>
                  <a:pt x="6120910" y="0"/>
                </a:lnTo>
                <a:lnTo>
                  <a:pt x="6120910" y="3780552"/>
                </a:lnTo>
                <a:lnTo>
                  <a:pt x="0" y="3780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44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6287" y="5736559"/>
            <a:ext cx="12755425" cy="202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5827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Розділ 3</a:t>
            </a:r>
          </a:p>
          <a:p>
            <a:pPr algn="ctr">
              <a:lnSpc>
                <a:spcPts val="8159"/>
              </a:lnSpc>
            </a:pPr>
            <a:r>
              <a:rPr lang="en-US" sz="5827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Дослідження структури </a:t>
            </a:r>
            <a:r>
              <a:rPr lang="en-US" sz="5827" b="true">
                <a:solidFill>
                  <a:srgbClr val="F5B5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TOMMY'S EXPRESS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1456" y="1266825"/>
            <a:ext cx="16325088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Франшиза </a:t>
            </a:r>
            <a:r>
              <a:rPr lang="en-US" sz="54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Tommy's Express</a:t>
            </a: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: схема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359981"/>
            <a:ext cx="7752083" cy="1730378"/>
            <a:chOff x="0" y="0"/>
            <a:chExt cx="10336111" cy="230717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36149" cy="2307209"/>
            </a:xfrm>
            <a:custGeom>
              <a:avLst/>
              <a:gdLst/>
              <a:ahLst/>
              <a:cxnLst/>
              <a:rect r="r" b="b" t="t" l="l"/>
              <a:pathLst>
                <a:path h="2307209" w="10336149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0031349" y="0"/>
                  </a:lnTo>
                  <a:cubicBezTo>
                    <a:pt x="10199624" y="0"/>
                    <a:pt x="10336149" y="136525"/>
                    <a:pt x="10336149" y="304800"/>
                  </a:cubicBezTo>
                  <a:lnTo>
                    <a:pt x="10336149" y="2002409"/>
                  </a:lnTo>
                  <a:cubicBezTo>
                    <a:pt x="10336149" y="2170684"/>
                    <a:pt x="10199624" y="2307209"/>
                    <a:pt x="10031349" y="2307209"/>
                  </a:cubicBezTo>
                  <a:lnTo>
                    <a:pt x="304800" y="2307209"/>
                  </a:lnTo>
                  <a:cubicBezTo>
                    <a:pt x="136525" y="2307209"/>
                    <a:pt x="0" y="2170684"/>
                    <a:pt x="0" y="2002409"/>
                  </a:cubicBezTo>
                  <a:close/>
                </a:path>
              </a:pathLst>
            </a:custGeom>
            <a:solidFill>
              <a:srgbClr val="FBFBF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3545919" y="2655256"/>
            <a:ext cx="3098483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15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Tommy's Express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6106" y="3133411"/>
            <a:ext cx="7278272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Франчайзер: бренд, система мийки, навчання, IT; проєкт і обладнання через афілійовану VQ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76083" y="2359981"/>
            <a:ext cx="7792717" cy="1730378"/>
            <a:chOff x="0" y="0"/>
            <a:chExt cx="10390289" cy="23071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90378" cy="2307209"/>
            </a:xfrm>
            <a:custGeom>
              <a:avLst/>
              <a:gdLst/>
              <a:ahLst/>
              <a:cxnLst/>
              <a:rect r="r" b="b" t="t" l="l"/>
              <a:pathLst>
                <a:path h="2307209" w="10390378">
                  <a:moveTo>
                    <a:pt x="0" y="290576"/>
                  </a:moveTo>
                  <a:cubicBezTo>
                    <a:pt x="0" y="130048"/>
                    <a:pt x="130048" y="0"/>
                    <a:pt x="290576" y="0"/>
                  </a:cubicBezTo>
                  <a:lnTo>
                    <a:pt x="10099802" y="0"/>
                  </a:lnTo>
                  <a:cubicBezTo>
                    <a:pt x="10260203" y="0"/>
                    <a:pt x="10390378" y="130048"/>
                    <a:pt x="10390378" y="290576"/>
                  </a:cubicBezTo>
                  <a:lnTo>
                    <a:pt x="10390378" y="2016633"/>
                  </a:lnTo>
                  <a:cubicBezTo>
                    <a:pt x="10390378" y="2177034"/>
                    <a:pt x="10260330" y="2307209"/>
                    <a:pt x="10099802" y="2307209"/>
                  </a:cubicBezTo>
                  <a:lnTo>
                    <a:pt x="290576" y="2307209"/>
                  </a:lnTo>
                  <a:cubicBezTo>
                    <a:pt x="130048" y="2307209"/>
                    <a:pt x="0" y="2177034"/>
                    <a:pt x="0" y="2016633"/>
                  </a:cubicBezTo>
                  <a:close/>
                </a:path>
              </a:pathLst>
            </a:custGeom>
            <a:solidFill>
              <a:srgbClr val="0E4D38"/>
            </a:solidFill>
            <a:ln w="28575" cap="sq">
              <a:solidFill>
                <a:srgbClr val="F4B6C8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427201" y="2675573"/>
            <a:ext cx="1490472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15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Ділянка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33306" y="3153727"/>
            <a:ext cx="7278272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Оператор купує її сам або орендує в афілійованої компанії чи в інвестора</a:t>
            </a:r>
          </a:p>
        </p:txBody>
      </p:sp>
      <p:sp>
        <p:nvSpPr>
          <p:cNvPr name="AutoShape 11" id="11"/>
          <p:cNvSpPr/>
          <p:nvPr/>
        </p:nvSpPr>
        <p:spPr>
          <a:xfrm rot="5252760">
            <a:off x="580415" y="5100476"/>
            <a:ext cx="1334729" cy="0"/>
          </a:xfrm>
          <a:prstGeom prst="line">
            <a:avLst/>
          </a:prstGeom>
          <a:ln cap="rnd" w="28575">
            <a:solidFill>
              <a:srgbClr val="F4B6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574797" y="4505163"/>
            <a:ext cx="7325363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Оператор платить Tommy's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4797" y="5027133"/>
            <a:ext cx="7325363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$50 000 одноразово; щотижня 4% роялті + 1% фонд бренду + IT; $2,18–2,52 млн за пакет VQ</a:t>
            </a:r>
          </a:p>
        </p:txBody>
      </p:sp>
      <p:sp>
        <p:nvSpPr>
          <p:cNvPr name="AutoShape 14" id="14"/>
          <p:cNvSpPr/>
          <p:nvPr/>
        </p:nvSpPr>
        <p:spPr>
          <a:xfrm rot="5252760">
            <a:off x="8657615" y="5100476"/>
            <a:ext cx="1334729" cy="0"/>
          </a:xfrm>
          <a:prstGeom prst="line">
            <a:avLst/>
          </a:prstGeom>
          <a:ln cap="rnd" w="28575">
            <a:solidFill>
              <a:srgbClr val="F4B6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651997" y="4505163"/>
            <a:ext cx="7325363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Оператор платить за ділянку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51997" y="5027133"/>
            <a:ext cx="7325363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або купує її, або платить оренду; суму оренди FDD не вказує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9200" y="6139339"/>
            <a:ext cx="15849600" cy="1369695"/>
            <a:chOff x="0" y="0"/>
            <a:chExt cx="21132800" cy="18262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132800" cy="1826260"/>
            </a:xfrm>
            <a:custGeom>
              <a:avLst/>
              <a:gdLst/>
              <a:ahLst/>
              <a:cxnLst/>
              <a:rect r="r" b="b" t="t" l="l"/>
              <a:pathLst>
                <a:path h="1826260" w="211328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0828000" y="0"/>
                  </a:lnTo>
                  <a:cubicBezTo>
                    <a:pt x="20996275" y="0"/>
                    <a:pt x="21132800" y="136525"/>
                    <a:pt x="21132800" y="304800"/>
                  </a:cubicBezTo>
                  <a:lnTo>
                    <a:pt x="21132800" y="1521460"/>
                  </a:lnTo>
                  <a:cubicBezTo>
                    <a:pt x="21132800" y="1689735"/>
                    <a:pt x="20996275" y="1826260"/>
                    <a:pt x="20828000" y="1826260"/>
                  </a:cubicBezTo>
                  <a:lnTo>
                    <a:pt x="304800" y="1826260"/>
                  </a:lnTo>
                  <a:cubicBezTo>
                    <a:pt x="136525" y="1826260"/>
                    <a:pt x="0" y="1689735"/>
                    <a:pt x="0" y="152146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133272" y="6434614"/>
            <a:ext cx="4021455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15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Оператор-франчайзі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25303" y="6912769"/>
            <a:ext cx="9637395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Фінансує будівництво, наймає персонал, керує мийкою; дохід дають клієнти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19200" y="7895272"/>
            <a:ext cx="15849600" cy="867727"/>
            <a:chOff x="0" y="0"/>
            <a:chExt cx="21132800" cy="1156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132800" cy="1156970"/>
            </a:xfrm>
            <a:custGeom>
              <a:avLst/>
              <a:gdLst/>
              <a:ahLst/>
              <a:cxnLst/>
              <a:rect r="r" b="b" t="t" l="l"/>
              <a:pathLst>
                <a:path h="1156970" w="211328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0828000" y="0"/>
                  </a:lnTo>
                  <a:cubicBezTo>
                    <a:pt x="20996275" y="0"/>
                    <a:pt x="21132800" y="136525"/>
                    <a:pt x="21132800" y="304800"/>
                  </a:cubicBezTo>
                  <a:lnTo>
                    <a:pt x="21132800" y="852170"/>
                  </a:lnTo>
                  <a:cubicBezTo>
                    <a:pt x="21132800" y="1020445"/>
                    <a:pt x="20996275" y="1156970"/>
                    <a:pt x="20828000" y="1156970"/>
                  </a:cubicBezTo>
                  <a:lnTo>
                    <a:pt x="304800" y="1156970"/>
                  </a:lnTo>
                  <a:cubicBezTo>
                    <a:pt x="136525" y="1156970"/>
                    <a:pt x="0" y="1020445"/>
                    <a:pt x="0" y="852170"/>
                  </a:cubicBezTo>
                  <a:close/>
                </a:path>
              </a:pathLst>
            </a:custGeom>
            <a:solidFill>
              <a:srgbClr val="F4B6C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1132800" cy="11569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932"/>
                </a:lnSpc>
              </a:pPr>
              <a:r>
                <a:rPr lang="en-US" sz="2550" b="true">
                  <a:solidFill>
                    <a:srgbClr val="0E4D3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Інвестиції оператора $4,18–5,97 млн без землі; Tommy's бере 5% виторгу щотижня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1456" y="1266825"/>
            <a:ext cx="16325088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Три варіанти ділянки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3359467"/>
            <a:ext cx="5130803" cy="2786062"/>
            <a:chOff x="0" y="0"/>
            <a:chExt cx="6841071" cy="37147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41109" cy="3714750"/>
            </a:xfrm>
            <a:custGeom>
              <a:avLst/>
              <a:gdLst/>
              <a:ahLst/>
              <a:cxnLst/>
              <a:rect r="r" b="b" t="t" l="l"/>
              <a:pathLst>
                <a:path h="3714750" w="6841109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36309" y="0"/>
                  </a:lnTo>
                  <a:cubicBezTo>
                    <a:pt x="6704584" y="0"/>
                    <a:pt x="6841109" y="136398"/>
                    <a:pt x="6841109" y="304800"/>
                  </a:cubicBezTo>
                  <a:lnTo>
                    <a:pt x="6841109" y="3409950"/>
                  </a:lnTo>
                  <a:cubicBezTo>
                    <a:pt x="6841109" y="3578225"/>
                    <a:pt x="6704711" y="3714750"/>
                    <a:pt x="6536309" y="3714750"/>
                  </a:cubicBezTo>
                  <a:lnTo>
                    <a:pt x="304800" y="3714750"/>
                  </a:lnTo>
                  <a:cubicBezTo>
                    <a:pt x="136525" y="3714750"/>
                    <a:pt x="0" y="3578352"/>
                    <a:pt x="0" y="340995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24000" y="3740467"/>
            <a:ext cx="4656839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4000" y="4412933"/>
            <a:ext cx="4656839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55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Купує оператор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4864417"/>
            <a:ext cx="4656839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Земля за власні кошти; її вартість не входить у $4,18–5,97 млн. Ділянку затверджує Tommy's за 30 днів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78603" y="3359467"/>
            <a:ext cx="5130803" cy="2786062"/>
            <a:chOff x="0" y="0"/>
            <a:chExt cx="6841071" cy="3714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41109" cy="3714750"/>
            </a:xfrm>
            <a:custGeom>
              <a:avLst/>
              <a:gdLst/>
              <a:ahLst/>
              <a:cxnLst/>
              <a:rect r="r" b="b" t="t" l="l"/>
              <a:pathLst>
                <a:path h="3714750" w="6841109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36309" y="0"/>
                  </a:lnTo>
                  <a:cubicBezTo>
                    <a:pt x="6704584" y="0"/>
                    <a:pt x="6841109" y="136398"/>
                    <a:pt x="6841109" y="304800"/>
                  </a:cubicBezTo>
                  <a:lnTo>
                    <a:pt x="6841109" y="3409950"/>
                  </a:lnTo>
                  <a:cubicBezTo>
                    <a:pt x="6841109" y="3578225"/>
                    <a:pt x="6704711" y="3714750"/>
                    <a:pt x="6536309" y="3714750"/>
                  </a:cubicBezTo>
                  <a:lnTo>
                    <a:pt x="304800" y="3714750"/>
                  </a:lnTo>
                  <a:cubicBezTo>
                    <a:pt x="136525" y="3714750"/>
                    <a:pt x="0" y="3578352"/>
                    <a:pt x="0" y="340995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883403" y="3740467"/>
            <a:ext cx="4656839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83403" y="4412933"/>
            <a:ext cx="4656839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55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Оренда в афілійованої компанії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83403" y="4864417"/>
            <a:ext cx="4656839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TX Real Estate, Inc. здає частину локацій; Tommy's може купити чи орендувати ділянку для оператора й заробити на цьому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37997" y="3359467"/>
            <a:ext cx="5130803" cy="2786062"/>
            <a:chOff x="0" y="0"/>
            <a:chExt cx="6841071" cy="37147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41109" cy="3714750"/>
            </a:xfrm>
            <a:custGeom>
              <a:avLst/>
              <a:gdLst/>
              <a:ahLst/>
              <a:cxnLst/>
              <a:rect r="r" b="b" t="t" l="l"/>
              <a:pathLst>
                <a:path h="3714750" w="6841109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36309" y="0"/>
                  </a:lnTo>
                  <a:cubicBezTo>
                    <a:pt x="6704584" y="0"/>
                    <a:pt x="6841109" y="136398"/>
                    <a:pt x="6841109" y="304800"/>
                  </a:cubicBezTo>
                  <a:lnTo>
                    <a:pt x="6841109" y="3409950"/>
                  </a:lnTo>
                  <a:cubicBezTo>
                    <a:pt x="6841109" y="3578225"/>
                    <a:pt x="6704711" y="3714750"/>
                    <a:pt x="6536309" y="3714750"/>
                  </a:cubicBezTo>
                  <a:lnTo>
                    <a:pt x="304800" y="3714750"/>
                  </a:lnTo>
                  <a:cubicBezTo>
                    <a:pt x="136525" y="3714750"/>
                    <a:pt x="0" y="3578352"/>
                    <a:pt x="0" y="340995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242797" y="3740467"/>
            <a:ext cx="4656839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42797" y="4412933"/>
            <a:ext cx="4656839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55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Незалежний інвестор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42797" y="4864417"/>
            <a:ext cx="4656839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Оператор шукає його сам; оренда має бути погоджена з Tommy's, а в договорі є Collateral Lease Assignment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9200" y="7531418"/>
            <a:ext cx="15849600" cy="1231582"/>
            <a:chOff x="0" y="0"/>
            <a:chExt cx="21132800" cy="1642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132800" cy="1642110"/>
            </a:xfrm>
            <a:custGeom>
              <a:avLst/>
              <a:gdLst/>
              <a:ahLst/>
              <a:cxnLst/>
              <a:rect r="r" b="b" t="t" l="l"/>
              <a:pathLst>
                <a:path h="1642110" w="211328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20828000" y="0"/>
                  </a:lnTo>
                  <a:cubicBezTo>
                    <a:pt x="20996275" y="0"/>
                    <a:pt x="21132800" y="136398"/>
                    <a:pt x="21132800" y="304800"/>
                  </a:cubicBezTo>
                  <a:lnTo>
                    <a:pt x="21132800" y="1337310"/>
                  </a:lnTo>
                  <a:cubicBezTo>
                    <a:pt x="21132800" y="1505585"/>
                    <a:pt x="20996402" y="1642110"/>
                    <a:pt x="20828000" y="1642110"/>
                  </a:cubicBezTo>
                  <a:lnTo>
                    <a:pt x="304800" y="1642110"/>
                  </a:lnTo>
                  <a:cubicBezTo>
                    <a:pt x="136525" y="1642110"/>
                    <a:pt x="0" y="1505712"/>
                    <a:pt x="0" y="1337310"/>
                  </a:cubicBezTo>
                  <a:close/>
                </a:path>
              </a:pathLst>
            </a:custGeom>
            <a:solidFill>
              <a:srgbClr val="F4B6C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352885" y="7779068"/>
            <a:ext cx="13582078" cy="410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2"/>
              </a:lnSpc>
            </a:pPr>
            <a:r>
              <a:rPr lang="en-US" sz="255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При дефолті Tommy's може зайняти об'єкт, вигнати оператора й передати мийку іншому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37554" y="8208645"/>
            <a:ext cx="1201274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</a:pPr>
            <a:r>
              <a:rPr lang="en-US" sz="21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Сум оренди й інвесторів у FDD немає: NNN-оренда $380 000 на рік (Керролтон) взята не з нього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1456" y="1266825"/>
            <a:ext cx="16325088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Хто кому платить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229360" y="2456656"/>
          <a:ext cx="15773400" cy="4933950"/>
        </p:xfrm>
        <a:graphic>
          <a:graphicData uri="http://schemas.openxmlformats.org/drawingml/2006/table">
            <a:tbl>
              <a:tblPr/>
              <a:tblGrid>
                <a:gridCol w="3943350"/>
                <a:gridCol w="3943350"/>
                <a:gridCol w="3943350"/>
                <a:gridCol w="3943350"/>
              </a:tblGrid>
              <a:tr h="573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4B6C8"/>
                          </a:solidFill>
                          <a:latin typeface="Fira Sans Extra Condensed Bold"/>
                          <a:ea typeface="Fira Sans Extra Condensed Bold"/>
                          <a:cs typeface="Fira Sans Extra Condensed Bold"/>
                          <a:sym typeface="Fira Sans Extra Condensed Bold"/>
                        </a:rPr>
                        <a:t>Платіж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B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4B6C8"/>
                          </a:solidFill>
                          <a:latin typeface="Fira Sans Extra Condensed Bold"/>
                          <a:ea typeface="Fira Sans Extra Condensed Bold"/>
                          <a:cs typeface="Fira Sans Extra Condensed Bold"/>
                          <a:sym typeface="Fira Sans Extra Condensed Bold"/>
                        </a:rPr>
                        <a:t>Сума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B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4B6C8"/>
                          </a:solidFill>
                          <a:latin typeface="Fira Sans Extra Condensed Bold"/>
                          <a:ea typeface="Fira Sans Extra Condensed Bold"/>
                          <a:cs typeface="Fira Sans Extra Condensed Bold"/>
                          <a:sym typeface="Fira Sans Extra Condensed Bold"/>
                        </a:rPr>
                        <a:t>Кому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B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4B6C8"/>
                          </a:solidFill>
                          <a:latin typeface="Fira Sans Extra Condensed Bold"/>
                          <a:ea typeface="Fira Sans Extra Condensed Bold"/>
                          <a:cs typeface="Fira Sans Extra Condensed Bold"/>
                          <a:sym typeface="Fira Sans Extra Condensed Bold"/>
                        </a:rPr>
                        <a:t>Коли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B47"/>
                    </a:solidFill>
                  </a:tcPr>
                </a:tc>
              </a:tr>
              <a:tr h="573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Вступний внесок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4B6C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$50 000, не повертається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Tommy's Express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при підписанні договору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5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Будівля, обладнання, POS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4B6C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$2,18–2,52 млн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афілійована VQ, Inc.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етапами: дозволи, матеріали, обладнання, перед відкриттям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Роялті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4B6C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4% виторгу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Tommy's Express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щовівторка за минулий тиждень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Фонд бренду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4B6C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1% виторгу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Tommy's Express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разом з роялті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IT-збір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4B6C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$80–150 на тиждень (зараз $70)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Tommy's або постачальник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разом з роялті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Місцевий маркетинг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4B6C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2% виторгу (рекомендовано)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місцеві підрядники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щомісяця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0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Маркетинг відкриття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4B6C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від $10 000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підрядники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на відкритті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1219200" y="7895272"/>
            <a:ext cx="15849600" cy="867727"/>
            <a:chOff x="0" y="0"/>
            <a:chExt cx="21132800" cy="1156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32800" cy="1156970"/>
            </a:xfrm>
            <a:custGeom>
              <a:avLst/>
              <a:gdLst/>
              <a:ahLst/>
              <a:cxnLst/>
              <a:rect r="r" b="b" t="t" l="l"/>
              <a:pathLst>
                <a:path h="1156970" w="211328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0828000" y="0"/>
                  </a:lnTo>
                  <a:cubicBezTo>
                    <a:pt x="20996275" y="0"/>
                    <a:pt x="21132800" y="136525"/>
                    <a:pt x="21132800" y="304800"/>
                  </a:cubicBezTo>
                  <a:lnTo>
                    <a:pt x="21132800" y="852170"/>
                  </a:lnTo>
                  <a:cubicBezTo>
                    <a:pt x="21132800" y="1020445"/>
                    <a:pt x="20996275" y="1156970"/>
                    <a:pt x="20828000" y="1156970"/>
                  </a:cubicBezTo>
                  <a:lnTo>
                    <a:pt x="304800" y="1156970"/>
                  </a:lnTo>
                  <a:cubicBezTo>
                    <a:pt x="136525" y="1156970"/>
                    <a:pt x="0" y="1020445"/>
                    <a:pt x="0" y="852170"/>
                  </a:cubicBezTo>
                  <a:close/>
                </a:path>
              </a:pathLst>
            </a:custGeom>
            <a:solidFill>
              <a:srgbClr val="F4B6C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132800" cy="11569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932"/>
                </a:lnSpc>
              </a:pPr>
              <a:r>
                <a:rPr lang="en-US" sz="2550" b="true">
                  <a:solidFill>
                    <a:srgbClr val="0E4D3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Tommy's заробляє на роялті (5%) і на продажу обладнання через афілійовану VQ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1456" y="1266825"/>
            <a:ext cx="16325088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Скільки грошей потрібно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733513"/>
            <a:ext cx="4572000" cy="4401817"/>
            <a:chOff x="0" y="0"/>
            <a:chExt cx="6096000" cy="58690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96000" cy="5869051"/>
            </a:xfrm>
            <a:custGeom>
              <a:avLst/>
              <a:gdLst/>
              <a:ahLst/>
              <a:cxnLst/>
              <a:rect r="r" b="b" t="t" l="l"/>
              <a:pathLst>
                <a:path h="5869051" w="6096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5791200" y="0"/>
                  </a:lnTo>
                  <a:cubicBezTo>
                    <a:pt x="5959475" y="0"/>
                    <a:pt x="6096000" y="136398"/>
                    <a:pt x="6096000" y="304800"/>
                  </a:cubicBezTo>
                  <a:lnTo>
                    <a:pt x="6096000" y="5564251"/>
                  </a:lnTo>
                  <a:cubicBezTo>
                    <a:pt x="6096000" y="5732526"/>
                    <a:pt x="5959602" y="5869051"/>
                    <a:pt x="5791200" y="5869051"/>
                  </a:cubicBezTo>
                  <a:lnTo>
                    <a:pt x="304800" y="5869051"/>
                  </a:lnTo>
                  <a:cubicBezTo>
                    <a:pt x="136525" y="5869051"/>
                    <a:pt x="0" y="5732653"/>
                    <a:pt x="0" y="5564251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00200" y="4060984"/>
            <a:ext cx="39243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$4,18–5,97 млн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00200" y="4826794"/>
            <a:ext cx="39243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початкові інвестиції без землі та нерухомості; фінансування від Tommy's немає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106161" y="2743674"/>
          <a:ext cx="10915650" cy="4362450"/>
        </p:xfrm>
        <a:graphic>
          <a:graphicData uri="http://schemas.openxmlformats.org/drawingml/2006/table">
            <a:tbl>
              <a:tblPr/>
              <a:tblGrid>
                <a:gridCol w="3638550"/>
                <a:gridCol w="3638550"/>
                <a:gridCol w="3638550"/>
              </a:tblGrid>
              <a:tr h="5732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4B6C8"/>
                          </a:solidFill>
                          <a:latin typeface="Fira Sans Extra Condensed Bold"/>
                          <a:ea typeface="Fira Sans Extra Condensed Bold"/>
                          <a:cs typeface="Fira Sans Extra Condensed Bold"/>
                          <a:sym typeface="Fira Sans Extra Condensed Bold"/>
                        </a:rPr>
                        <a:t>Стаття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B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4B6C8"/>
                          </a:solidFill>
                          <a:latin typeface="Fira Sans Extra Condensed Bold"/>
                          <a:ea typeface="Fira Sans Extra Condensed Bold"/>
                          <a:cs typeface="Fira Sans Extra Condensed Bold"/>
                          <a:sym typeface="Fira Sans Extra Condensed Bold"/>
                        </a:rPr>
                        <a:t>Від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B4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4B6C8"/>
                          </a:solidFill>
                          <a:latin typeface="Fira Sans Extra Condensed Bold"/>
                          <a:ea typeface="Fira Sans Extra Condensed Bold"/>
                          <a:cs typeface="Fira Sans Extra Condensed Bold"/>
                          <a:sym typeface="Fira Sans Extra Condensed Bold"/>
                        </a:rPr>
                        <a:t>До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B47"/>
                    </a:solidFill>
                  </a:tcPr>
                </a:tc>
              </a:tr>
              <a:tr h="5732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Вступний внесок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$50 000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$50 000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17E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2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Проєкт і дозволи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$137 000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$620 500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2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Будівельні роботи (підрядники)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$1,70 млн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$2,64 млн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2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Пакет Tommy's (VQ)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$2,18 млн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$2,52 млн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2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Страхування, ліцензії, меблі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$15 850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$42 000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9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Навчання, відкриття, резерв на 3 місяці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$102 500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BFBF8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$106 527</a:t>
                      </a:r>
                      <a:endParaRPr lang="en-US" sz="1100"/>
                    </a:p>
                  </a:txBody>
                  <a:tcPr marL="101600" marR="101600" marT="101600" marB="101600" anchor="t">
                    <a:lnL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4273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1219200" y="7895272"/>
            <a:ext cx="15849600" cy="867727"/>
            <a:chOff x="0" y="0"/>
            <a:chExt cx="21132800" cy="11569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132800" cy="1156970"/>
            </a:xfrm>
            <a:custGeom>
              <a:avLst/>
              <a:gdLst/>
              <a:ahLst/>
              <a:cxnLst/>
              <a:rect r="r" b="b" t="t" l="l"/>
              <a:pathLst>
                <a:path h="1156970" w="211328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0828000" y="0"/>
                  </a:lnTo>
                  <a:cubicBezTo>
                    <a:pt x="20996275" y="0"/>
                    <a:pt x="21132800" y="136525"/>
                    <a:pt x="21132800" y="304800"/>
                  </a:cubicBezTo>
                  <a:lnTo>
                    <a:pt x="21132800" y="852170"/>
                  </a:lnTo>
                  <a:cubicBezTo>
                    <a:pt x="21132800" y="1020445"/>
                    <a:pt x="20996275" y="1156970"/>
                    <a:pt x="20828000" y="1156970"/>
                  </a:cubicBezTo>
                  <a:lnTo>
                    <a:pt x="304800" y="1156970"/>
                  </a:lnTo>
                  <a:cubicBezTo>
                    <a:pt x="136525" y="1156970"/>
                    <a:pt x="0" y="1020445"/>
                    <a:pt x="0" y="852170"/>
                  </a:cubicBezTo>
                  <a:close/>
                </a:path>
              </a:pathLst>
            </a:custGeom>
            <a:solidFill>
              <a:srgbClr val="F4B6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132800" cy="11569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932"/>
                </a:lnSpc>
              </a:pPr>
              <a:r>
                <a:rPr lang="en-US" sz="2550" b="true">
                  <a:solidFill>
                    <a:srgbClr val="0E4D3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Землю й нерухомість оператор купує або орендує окремо: в афілійованої компанії чи в інвестора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02232" y="1266825"/>
            <a:ext cx="10083536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Розподіл обов’язків </a:t>
            </a:r>
            <a:r>
              <a:rPr lang="en-US" sz="54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Tommy’s Express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3424714"/>
            <a:ext cx="7772400" cy="3019425"/>
            <a:chOff x="0" y="0"/>
            <a:chExt cx="10363200" cy="4025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63200" cy="4025900"/>
            </a:xfrm>
            <a:custGeom>
              <a:avLst/>
              <a:gdLst/>
              <a:ahLst/>
              <a:cxnLst/>
              <a:rect r="r" b="b" t="t" l="l"/>
              <a:pathLst>
                <a:path h="4025900" w="10363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0058400" y="0"/>
                  </a:lnTo>
                  <a:cubicBezTo>
                    <a:pt x="10226675" y="0"/>
                    <a:pt x="10363200" y="136525"/>
                    <a:pt x="10363200" y="304800"/>
                  </a:cubicBezTo>
                  <a:lnTo>
                    <a:pt x="10363200" y="3721100"/>
                  </a:lnTo>
                  <a:cubicBezTo>
                    <a:pt x="10363200" y="3889375"/>
                    <a:pt x="10226675" y="4025900"/>
                    <a:pt x="10058400" y="4025900"/>
                  </a:cubicBezTo>
                  <a:lnTo>
                    <a:pt x="304800" y="4025900"/>
                  </a:lnTo>
                  <a:cubicBezTo>
                    <a:pt x="136525" y="4025900"/>
                    <a:pt x="0" y="3889375"/>
                    <a:pt x="0" y="3721100"/>
                  </a:cubicBezTo>
                  <a:close/>
                </a:path>
              </a:pathLst>
            </a:custGeom>
            <a:solidFill>
              <a:srgbClr val="FBFBF8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00200" y="3748564"/>
            <a:ext cx="722071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Tommy's Express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47266" y="4272439"/>
            <a:ext cx="7062216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437"/>
              </a:lnSpc>
              <a:buFont typeface="Arial"/>
              <a:buChar char="•"/>
            </a:pPr>
            <a:r>
              <a:rPr lang="en-US" b="true" sz="1950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Затверджує ділянку за 30 днів</a:t>
            </a:r>
          </a:p>
          <a:p>
            <a:pPr algn="l" marL="352901" indent="-176451" lvl="1">
              <a:lnSpc>
                <a:spcPts val="2437"/>
              </a:lnSpc>
              <a:buFont typeface="Arial"/>
              <a:buChar char="•"/>
            </a:pPr>
            <a:r>
              <a:rPr lang="en-US" b="true" sz="1950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Дає проєкт, специфікації, пакет обладнання</a:t>
            </a:r>
          </a:p>
          <a:p>
            <a:pPr algn="l" marL="352901" indent="-176451" lvl="1">
              <a:lnSpc>
                <a:spcPts val="2437"/>
              </a:lnSpc>
              <a:buFont typeface="Arial"/>
              <a:buChar char="•"/>
            </a:pPr>
            <a:r>
              <a:rPr lang="en-US" b="true" sz="1950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Керує будівництвом і монтажем</a:t>
            </a:r>
          </a:p>
          <a:p>
            <a:pPr algn="l" marL="352901" indent="-176451" lvl="1">
              <a:lnSpc>
                <a:spcPts val="2437"/>
              </a:lnSpc>
              <a:buFont typeface="Arial"/>
              <a:buChar char="•"/>
            </a:pPr>
            <a:r>
              <a:rPr lang="en-US" b="true" sz="1950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Дає список постачальників і хімію</a:t>
            </a:r>
          </a:p>
          <a:p>
            <a:pPr algn="l" marL="352901" indent="-176451" lvl="1">
              <a:lnSpc>
                <a:spcPts val="2437"/>
              </a:lnSpc>
              <a:buFont typeface="Arial"/>
              <a:buChar char="•"/>
            </a:pPr>
            <a:r>
              <a:rPr lang="en-US" b="true" sz="1950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Дає посібник; навчає 3 людей (~20 днів, Holland, MI)</a:t>
            </a:r>
          </a:p>
          <a:p>
            <a:pPr algn="l" marL="352901" indent="-176451" lvl="1">
              <a:lnSpc>
                <a:spcPts val="2437"/>
              </a:lnSpc>
              <a:buFont typeface="Arial"/>
              <a:buChar char="•"/>
            </a:pPr>
            <a:r>
              <a:rPr lang="en-US" b="true" sz="1950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Веде фонд бренду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96400" y="3424714"/>
            <a:ext cx="7772400" cy="3019425"/>
            <a:chOff x="0" y="0"/>
            <a:chExt cx="10363200" cy="4025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63200" cy="4025900"/>
            </a:xfrm>
            <a:custGeom>
              <a:avLst/>
              <a:gdLst/>
              <a:ahLst/>
              <a:cxnLst/>
              <a:rect r="r" b="b" t="t" l="l"/>
              <a:pathLst>
                <a:path h="4025900" w="10363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0058400" y="0"/>
                  </a:lnTo>
                  <a:cubicBezTo>
                    <a:pt x="10226675" y="0"/>
                    <a:pt x="10363200" y="136525"/>
                    <a:pt x="10363200" y="304800"/>
                  </a:cubicBezTo>
                  <a:lnTo>
                    <a:pt x="10363200" y="3721100"/>
                  </a:lnTo>
                  <a:cubicBezTo>
                    <a:pt x="10363200" y="3889375"/>
                    <a:pt x="10226675" y="4025900"/>
                    <a:pt x="10058400" y="4025900"/>
                  </a:cubicBezTo>
                  <a:lnTo>
                    <a:pt x="304800" y="4025900"/>
                  </a:lnTo>
                  <a:cubicBezTo>
                    <a:pt x="136525" y="4025900"/>
                    <a:pt x="0" y="3889375"/>
                    <a:pt x="0" y="372110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677400" y="3748564"/>
            <a:ext cx="722071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Франчайзі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24466" y="4272439"/>
            <a:ext cx="7062216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437"/>
              </a:lnSpc>
              <a:buFont typeface="Arial"/>
              <a:buChar char="•"/>
            </a:pPr>
            <a:r>
              <a:rPr lang="en-US" b="true" sz="1950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Знаходить і купує або орендує ділянку (120 днів)</a:t>
            </a:r>
          </a:p>
          <a:p>
            <a:pPr algn="l" marL="352901" indent="-176451" lvl="1">
              <a:lnSpc>
                <a:spcPts val="2437"/>
              </a:lnSpc>
              <a:buFont typeface="Arial"/>
              <a:buChar char="•"/>
            </a:pPr>
            <a:r>
              <a:rPr lang="en-US" b="true" sz="1950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Фінансує будівництво, підрядники його</a:t>
            </a:r>
          </a:p>
          <a:p>
            <a:pPr algn="l" marL="352901" indent="-176451" lvl="1">
              <a:lnSpc>
                <a:spcPts val="2437"/>
              </a:lnSpc>
              <a:buFont typeface="Arial"/>
              <a:buChar char="•"/>
            </a:pPr>
            <a:r>
              <a:rPr lang="en-US" b="true" sz="1950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Купує обладнання, хімію, запчастини в Tommy's</a:t>
            </a:r>
          </a:p>
          <a:p>
            <a:pPr algn="l" marL="352901" indent="-176451" lvl="1">
              <a:lnSpc>
                <a:spcPts val="2437"/>
              </a:lnSpc>
              <a:buFont typeface="Arial"/>
              <a:buChar char="•"/>
            </a:pPr>
            <a:r>
              <a:rPr lang="en-US" b="true" sz="1950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Наймає й оплачує персонал</a:t>
            </a:r>
          </a:p>
          <a:p>
            <a:pPr algn="l" marL="352901" indent="-176451" lvl="1">
              <a:lnSpc>
                <a:spcPts val="2437"/>
              </a:lnSpc>
              <a:buFont typeface="Arial"/>
              <a:buChar char="•"/>
            </a:pPr>
            <a:r>
              <a:rPr lang="en-US" b="true" sz="1950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Страхує бізнес і платить за поїздки на навчання</a:t>
            </a:r>
          </a:p>
          <a:p>
            <a:pPr algn="l" marL="352901" indent="-176451" lvl="1">
              <a:lnSpc>
                <a:spcPts val="2437"/>
              </a:lnSpc>
              <a:buFont typeface="Arial"/>
              <a:buChar char="•"/>
            </a:pPr>
            <a:r>
              <a:rPr lang="en-US" b="true" sz="1950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Витрачає від $10 000 на маркетинг відкриття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19200" y="7895272"/>
            <a:ext cx="15849600" cy="867727"/>
            <a:chOff x="0" y="0"/>
            <a:chExt cx="21132800" cy="11569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32800" cy="1156970"/>
            </a:xfrm>
            <a:custGeom>
              <a:avLst/>
              <a:gdLst/>
              <a:ahLst/>
              <a:cxnLst/>
              <a:rect r="r" b="b" t="t" l="l"/>
              <a:pathLst>
                <a:path h="1156970" w="211328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0828000" y="0"/>
                  </a:lnTo>
                  <a:cubicBezTo>
                    <a:pt x="20996275" y="0"/>
                    <a:pt x="21132800" y="136525"/>
                    <a:pt x="21132800" y="304800"/>
                  </a:cubicBezTo>
                  <a:lnTo>
                    <a:pt x="21132800" y="852170"/>
                  </a:lnTo>
                  <a:cubicBezTo>
                    <a:pt x="21132800" y="1020445"/>
                    <a:pt x="20996275" y="1156970"/>
                    <a:pt x="20828000" y="1156970"/>
                  </a:cubicBezTo>
                  <a:lnTo>
                    <a:pt x="304800" y="1156970"/>
                  </a:lnTo>
                  <a:cubicBezTo>
                    <a:pt x="136525" y="1156970"/>
                    <a:pt x="0" y="1020445"/>
                    <a:pt x="0" y="852170"/>
                  </a:cubicBezTo>
                  <a:close/>
                </a:path>
              </a:pathLst>
            </a:custGeom>
            <a:solidFill>
              <a:srgbClr val="F4B6C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1132800" cy="115697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932"/>
                </a:lnSpc>
              </a:pPr>
              <a:r>
                <a:rPr lang="en-US" sz="2550" b="true">
                  <a:solidFill>
                    <a:srgbClr val="0E4D3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Договір на 20 років + 3 продовження по 10; територія не ексклюзивна (радіус 1–5 миль)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1456" y="1266825"/>
            <a:ext cx="16325088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Скільки заробляють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3503295"/>
            <a:ext cx="5130803" cy="2476500"/>
            <a:chOff x="0" y="0"/>
            <a:chExt cx="6841071" cy="3302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41109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41109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536309" y="0"/>
                  </a:lnTo>
                  <a:cubicBezTo>
                    <a:pt x="6704711" y="0"/>
                    <a:pt x="6841109" y="136525"/>
                    <a:pt x="6841109" y="304800"/>
                  </a:cubicBezTo>
                  <a:lnTo>
                    <a:pt x="6841109" y="2997200"/>
                  </a:lnTo>
                  <a:cubicBezTo>
                    <a:pt x="6841109" y="3165602"/>
                    <a:pt x="6704584" y="3302000"/>
                    <a:pt x="6536309" y="3302000"/>
                  </a:cubicBezTo>
                  <a:lnTo>
                    <a:pt x="304800" y="3302000"/>
                  </a:lnTo>
                  <a:cubicBezTo>
                    <a:pt x="136398" y="3302000"/>
                    <a:pt x="0" y="3165475"/>
                    <a:pt x="0" y="299720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24000" y="3884295"/>
            <a:ext cx="4656839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$1,74 млн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4000" y="4556760"/>
            <a:ext cx="4656839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55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Мийки 12–24 місяці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5008245"/>
            <a:ext cx="465683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середній виторг за 2019 рік (6 мийок; від $1,30 до $2,15 млн)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78603" y="3503295"/>
            <a:ext cx="5130803" cy="2476500"/>
            <a:chOff x="0" y="0"/>
            <a:chExt cx="6841071" cy="330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41109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41109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536309" y="0"/>
                  </a:lnTo>
                  <a:cubicBezTo>
                    <a:pt x="6704711" y="0"/>
                    <a:pt x="6841109" y="136525"/>
                    <a:pt x="6841109" y="304800"/>
                  </a:cubicBezTo>
                  <a:lnTo>
                    <a:pt x="6841109" y="2997200"/>
                  </a:lnTo>
                  <a:cubicBezTo>
                    <a:pt x="6841109" y="3165602"/>
                    <a:pt x="6704584" y="3302000"/>
                    <a:pt x="6536309" y="3302000"/>
                  </a:cubicBezTo>
                  <a:lnTo>
                    <a:pt x="304800" y="3302000"/>
                  </a:lnTo>
                  <a:cubicBezTo>
                    <a:pt x="136398" y="3302000"/>
                    <a:pt x="0" y="3165475"/>
                    <a:pt x="0" y="299720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883403" y="3884295"/>
            <a:ext cx="4656839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$2,16 млн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83403" y="4556760"/>
            <a:ext cx="4656839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55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Мийки 24+ місяці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83403" y="5008245"/>
            <a:ext cx="465683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середній виторг за 2019 рік (3 мийки; від $2,02 до $2,33 млн)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37997" y="3503295"/>
            <a:ext cx="5130803" cy="2476500"/>
            <a:chOff x="0" y="0"/>
            <a:chExt cx="6841071" cy="330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41109" cy="3302000"/>
            </a:xfrm>
            <a:custGeom>
              <a:avLst/>
              <a:gdLst/>
              <a:ahLst/>
              <a:cxnLst/>
              <a:rect r="r" b="b" t="t" l="l"/>
              <a:pathLst>
                <a:path h="3302000" w="6841109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536309" y="0"/>
                  </a:lnTo>
                  <a:cubicBezTo>
                    <a:pt x="6704711" y="0"/>
                    <a:pt x="6841109" y="136525"/>
                    <a:pt x="6841109" y="304800"/>
                  </a:cubicBezTo>
                  <a:lnTo>
                    <a:pt x="6841109" y="2997200"/>
                  </a:lnTo>
                  <a:cubicBezTo>
                    <a:pt x="6841109" y="3165602"/>
                    <a:pt x="6704584" y="3302000"/>
                    <a:pt x="6536309" y="3302000"/>
                  </a:cubicBezTo>
                  <a:lnTo>
                    <a:pt x="304800" y="3302000"/>
                  </a:lnTo>
                  <a:cubicBezTo>
                    <a:pt x="136398" y="3302000"/>
                    <a:pt x="0" y="3165475"/>
                    <a:pt x="0" y="299720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242797" y="3884295"/>
            <a:ext cx="4656839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~$87–108 тис.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42797" y="4556760"/>
            <a:ext cx="4656839" cy="38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55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5% виторгу Tommy's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42797" y="5008245"/>
            <a:ext cx="4656839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5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роялті та фонд бренду на рік (наш розрахунок із середніх виторгів)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9200" y="7509510"/>
            <a:ext cx="15849600" cy="1253490"/>
            <a:chOff x="0" y="0"/>
            <a:chExt cx="21132800" cy="1671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132800" cy="1671320"/>
            </a:xfrm>
            <a:custGeom>
              <a:avLst/>
              <a:gdLst/>
              <a:ahLst/>
              <a:cxnLst/>
              <a:rect r="r" b="b" t="t" l="l"/>
              <a:pathLst>
                <a:path h="1671320" w="211328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0828000" y="0"/>
                  </a:lnTo>
                  <a:cubicBezTo>
                    <a:pt x="20996275" y="0"/>
                    <a:pt x="21132800" y="136525"/>
                    <a:pt x="21132800" y="304800"/>
                  </a:cubicBezTo>
                  <a:lnTo>
                    <a:pt x="21132800" y="1366520"/>
                  </a:lnTo>
                  <a:cubicBezTo>
                    <a:pt x="21132800" y="1534795"/>
                    <a:pt x="20996275" y="1671320"/>
                    <a:pt x="20828000" y="1671320"/>
                  </a:cubicBezTo>
                  <a:lnTo>
                    <a:pt x="304800" y="1671320"/>
                  </a:lnTo>
                  <a:cubicBezTo>
                    <a:pt x="136525" y="1671320"/>
                    <a:pt x="0" y="1534795"/>
                    <a:pt x="0" y="1366520"/>
                  </a:cubicBezTo>
                  <a:close/>
                </a:path>
              </a:pathLst>
            </a:custGeom>
            <a:solidFill>
              <a:srgbClr val="F4B6C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524506" y="7757160"/>
            <a:ext cx="13238988" cy="410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2"/>
              </a:lnSpc>
            </a:pPr>
            <a:r>
              <a:rPr lang="en-US" sz="255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Чистий прибуток франчайзі FDD не називає: лише виторг і витрати на авто ($0,83–1,19)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67253" y="8196263"/>
            <a:ext cx="11953494" cy="35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7"/>
              </a:lnSpc>
            </a:pPr>
            <a:r>
              <a:rPr lang="en-US" sz="225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Афілійована Tommy Car Wash Systems отримала $41,7 млн від продажів франчайзі (2019)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83545" y="2070307"/>
            <a:ext cx="6120910" cy="3780552"/>
          </a:xfrm>
          <a:custGeom>
            <a:avLst/>
            <a:gdLst/>
            <a:ahLst/>
            <a:cxnLst/>
            <a:rect r="r" b="b" t="t" l="l"/>
            <a:pathLst>
              <a:path h="3780552" w="6120910">
                <a:moveTo>
                  <a:pt x="0" y="0"/>
                </a:moveTo>
                <a:lnTo>
                  <a:pt x="6120910" y="0"/>
                </a:lnTo>
                <a:lnTo>
                  <a:pt x="6120910" y="3780552"/>
                </a:lnTo>
                <a:lnTo>
                  <a:pt x="0" y="3780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44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6287" y="5736559"/>
            <a:ext cx="12755425" cy="305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5827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Розділ 4</a:t>
            </a:r>
          </a:p>
          <a:p>
            <a:pPr algn="ctr">
              <a:lnSpc>
                <a:spcPts val="8159"/>
              </a:lnSpc>
            </a:pPr>
            <a:r>
              <a:rPr lang="en-US" sz="5827" b="true">
                <a:solidFill>
                  <a:srgbClr val="FFFFFF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Блокова побудова дворівневої франшизи для </a:t>
            </a:r>
            <a:r>
              <a:rPr lang="en-US" sz="5827" b="true">
                <a:solidFill>
                  <a:srgbClr val="F5B5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Lviv Croissants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63394" y="1266825"/>
            <a:ext cx="7161212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Правила підпорядкування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900201"/>
            <a:ext cx="3810000" cy="2551433"/>
            <a:chOff x="0" y="0"/>
            <a:chExt cx="5080000" cy="34019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80000" cy="3401949"/>
            </a:xfrm>
            <a:custGeom>
              <a:avLst/>
              <a:gdLst/>
              <a:ahLst/>
              <a:cxnLst/>
              <a:rect r="r" b="b" t="t" l="l"/>
              <a:pathLst>
                <a:path h="3401949" w="5080000">
                  <a:moveTo>
                    <a:pt x="0" y="289052"/>
                  </a:moveTo>
                  <a:cubicBezTo>
                    <a:pt x="0" y="129413"/>
                    <a:pt x="129413" y="0"/>
                    <a:pt x="289052" y="0"/>
                  </a:cubicBezTo>
                  <a:lnTo>
                    <a:pt x="4790948" y="0"/>
                  </a:lnTo>
                  <a:cubicBezTo>
                    <a:pt x="4950587" y="0"/>
                    <a:pt x="5080000" y="129413"/>
                    <a:pt x="5080000" y="289052"/>
                  </a:cubicBezTo>
                  <a:lnTo>
                    <a:pt x="5080000" y="3112897"/>
                  </a:lnTo>
                  <a:cubicBezTo>
                    <a:pt x="5080000" y="3272536"/>
                    <a:pt x="4950587" y="3401949"/>
                    <a:pt x="4790948" y="3401949"/>
                  </a:cubicBezTo>
                  <a:lnTo>
                    <a:pt x="289052" y="3401949"/>
                  </a:lnTo>
                  <a:cubicBezTo>
                    <a:pt x="129413" y="3401949"/>
                    <a:pt x="0" y="3272536"/>
                    <a:pt x="0" y="3112897"/>
                  </a:cubicBezTo>
                  <a:close/>
                </a:path>
              </a:pathLst>
            </a:custGeom>
            <a:solidFill>
              <a:srgbClr val="0E4D38"/>
            </a:solidFill>
            <a:ln w="28575" cap="sq">
              <a:solidFill>
                <a:srgbClr val="F4B6C8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376720" y="3596802"/>
            <a:ext cx="3494961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3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Інвестор-франчайзі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95500" y="4185447"/>
            <a:ext cx="2057400" cy="5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95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Нікому не підпорядковується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239000" y="3311052"/>
            <a:ext cx="3810000" cy="1729740"/>
            <a:chOff x="0" y="0"/>
            <a:chExt cx="5080000" cy="23063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00" cy="2306320"/>
            </a:xfrm>
            <a:custGeom>
              <a:avLst/>
              <a:gdLst/>
              <a:ahLst/>
              <a:cxnLst/>
              <a:rect r="r" b="b" t="t" l="l"/>
              <a:pathLst>
                <a:path h="2306320" w="50800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75200" y="0"/>
                  </a:lnTo>
                  <a:cubicBezTo>
                    <a:pt x="4943475" y="0"/>
                    <a:pt x="5080000" y="136525"/>
                    <a:pt x="5080000" y="304800"/>
                  </a:cubicBezTo>
                  <a:lnTo>
                    <a:pt x="5080000" y="2001520"/>
                  </a:lnTo>
                  <a:cubicBezTo>
                    <a:pt x="5080000" y="2169795"/>
                    <a:pt x="4943475" y="2306320"/>
                    <a:pt x="4775200" y="2306320"/>
                  </a:cubicBezTo>
                  <a:lnTo>
                    <a:pt x="304800" y="2306320"/>
                  </a:lnTo>
                  <a:cubicBezTo>
                    <a:pt x="136525" y="2306320"/>
                    <a:pt x="0" y="2169795"/>
                    <a:pt x="0" y="2001520"/>
                  </a:cubicBezTo>
                  <a:close/>
                </a:path>
              </a:pathLst>
            </a:custGeom>
            <a:solidFill>
              <a:srgbClr val="FBFBF8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727652" y="3596802"/>
            <a:ext cx="2832544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3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Lviv Croissants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56551" y="4124487"/>
            <a:ext cx="337489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Нікому не підпорядковується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63300" y="4242121"/>
            <a:ext cx="37163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700">
                <a:solidFill>
                  <a:srgbClr val="F4B6C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◀</a:t>
            </a:r>
          </a:p>
        </p:txBody>
      </p:sp>
      <p:sp>
        <p:nvSpPr>
          <p:cNvPr name="AutoShape 12" id="12"/>
          <p:cNvSpPr/>
          <p:nvPr/>
        </p:nvSpPr>
        <p:spPr>
          <a:xfrm rot="94440">
            <a:off x="11434591" y="4355144"/>
            <a:ext cx="1734045" cy="0"/>
          </a:xfrm>
          <a:prstGeom prst="line">
            <a:avLst/>
          </a:prstGeom>
          <a:ln cap="rnd" w="28575">
            <a:solidFill>
              <a:srgbClr val="F4B6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3258800" y="3080547"/>
            <a:ext cx="3810000" cy="2190750"/>
            <a:chOff x="0" y="0"/>
            <a:chExt cx="5080000" cy="292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80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0800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75200" y="0"/>
                  </a:lnTo>
                  <a:cubicBezTo>
                    <a:pt x="4943602" y="0"/>
                    <a:pt x="5080000" y="136525"/>
                    <a:pt x="5080000" y="304800"/>
                  </a:cubicBezTo>
                  <a:lnTo>
                    <a:pt x="5080000" y="2616200"/>
                  </a:lnTo>
                  <a:cubicBezTo>
                    <a:pt x="5080000" y="2784602"/>
                    <a:pt x="4943475" y="2921000"/>
                    <a:pt x="4775200" y="2921000"/>
                  </a:cubicBezTo>
                  <a:lnTo>
                    <a:pt x="304800" y="2921000"/>
                  </a:lnTo>
                  <a:cubicBezTo>
                    <a:pt x="136398" y="2921000"/>
                    <a:pt x="0" y="2784475"/>
                    <a:pt x="0" y="261620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367576" y="3596802"/>
            <a:ext cx="3592449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</a:pPr>
            <a:r>
              <a:rPr lang="en-US" sz="33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Оператор-франчайзі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19200" y="6378416"/>
            <a:ext cx="15849600" cy="688340"/>
            <a:chOff x="0" y="0"/>
            <a:chExt cx="21132800" cy="9177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32800" cy="917824"/>
            </a:xfrm>
            <a:custGeom>
              <a:avLst/>
              <a:gdLst/>
              <a:ahLst/>
              <a:cxnLst/>
              <a:rect r="r" b="b" t="t" l="l"/>
              <a:pathLst>
                <a:path h="917824" w="21132800">
                  <a:moveTo>
                    <a:pt x="0" y="192150"/>
                  </a:moveTo>
                  <a:cubicBezTo>
                    <a:pt x="0" y="85979"/>
                    <a:pt x="85979" y="0"/>
                    <a:pt x="192151" y="0"/>
                  </a:cubicBezTo>
                  <a:lnTo>
                    <a:pt x="20940649" y="0"/>
                  </a:lnTo>
                  <a:cubicBezTo>
                    <a:pt x="21046821" y="0"/>
                    <a:pt x="21132800" y="85979"/>
                    <a:pt x="21132800" y="192150"/>
                  </a:cubicBezTo>
                  <a:lnTo>
                    <a:pt x="21132800" y="725674"/>
                  </a:lnTo>
                  <a:cubicBezTo>
                    <a:pt x="21132800" y="831846"/>
                    <a:pt x="21046821" y="917824"/>
                    <a:pt x="20940649" y="917824"/>
                  </a:cubicBezTo>
                  <a:lnTo>
                    <a:pt x="192151" y="917824"/>
                  </a:lnTo>
                  <a:cubicBezTo>
                    <a:pt x="85979" y="917824"/>
                    <a:pt x="0" y="831719"/>
                    <a:pt x="0" y="725674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98642" r="0" b="-398639"/>
              </a:stretch>
            </a:blipFill>
            <a:ln w="28575" cap="sq">
              <a:solidFill>
                <a:srgbClr val="F4B6C8"/>
              </a:solidFill>
              <a:prstDash val="dash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132800" cy="92731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4B6C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Lviv Croissants виступає в ролі пункту, який відфільтровує те що має дойти до кожної зі сторін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19200" y="7993380"/>
            <a:ext cx="15849600" cy="1299667"/>
            <a:chOff x="0" y="0"/>
            <a:chExt cx="21132800" cy="17328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132800" cy="1732890"/>
            </a:xfrm>
            <a:custGeom>
              <a:avLst/>
              <a:gdLst/>
              <a:ahLst/>
              <a:cxnLst/>
              <a:rect r="r" b="b" t="t" l="l"/>
              <a:pathLst>
                <a:path h="1732890" w="21132800">
                  <a:moveTo>
                    <a:pt x="0" y="514720"/>
                  </a:moveTo>
                  <a:cubicBezTo>
                    <a:pt x="0" y="230552"/>
                    <a:pt x="136525" y="0"/>
                    <a:pt x="304800" y="0"/>
                  </a:cubicBezTo>
                  <a:lnTo>
                    <a:pt x="20828000" y="0"/>
                  </a:lnTo>
                  <a:cubicBezTo>
                    <a:pt x="20996275" y="0"/>
                    <a:pt x="21132800" y="230552"/>
                    <a:pt x="21132800" y="514720"/>
                  </a:cubicBezTo>
                  <a:lnTo>
                    <a:pt x="21132800" y="1218170"/>
                  </a:lnTo>
                  <a:cubicBezTo>
                    <a:pt x="21132800" y="1502338"/>
                    <a:pt x="20996275" y="1732890"/>
                    <a:pt x="20828000" y="1732890"/>
                  </a:cubicBezTo>
                  <a:lnTo>
                    <a:pt x="304800" y="1732890"/>
                  </a:lnTo>
                  <a:cubicBezTo>
                    <a:pt x="136525" y="1732890"/>
                    <a:pt x="0" y="1502338"/>
                    <a:pt x="0" y="1218170"/>
                  </a:cubicBezTo>
                  <a:close/>
                </a:path>
              </a:pathLst>
            </a:custGeom>
            <a:solidFill>
              <a:srgbClr val="F4B6C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21132800" cy="172336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2760"/>
                </a:lnSpc>
              </a:pPr>
              <a:r>
                <a:rPr lang="en-US" sz="2400" b="true">
                  <a:solidFill>
                    <a:srgbClr val="0E4D3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Інвестор: Усі питання чи офіційні зверення щодо роботи оператора, результатів пекарні адресуються Lviv Croissants.</a:t>
              </a:r>
            </a:p>
            <a:p>
              <a:pPr algn="ctr">
                <a:lnSpc>
                  <a:spcPts val="2760"/>
                </a:lnSpc>
              </a:pPr>
              <a:r>
                <a:rPr lang="en-US" sz="2400" b="true">
                  <a:solidFill>
                    <a:srgbClr val="0E4D3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Франчайзер: усі запити на фінансування, дофінансування, вагомих впроваджень адресуються інвестору через Lviv Croissants.</a:t>
              </a:r>
            </a:p>
            <a:p>
              <a:pPr algn="ctr">
                <a:lnSpc>
                  <a:spcPts val="2760"/>
                </a:lnSpc>
              </a:pPr>
              <a:r>
                <a:rPr lang="en-US" sz="2400" b="true">
                  <a:solidFill>
                    <a:srgbClr val="0E4D38"/>
                  </a:solidFill>
                  <a:latin typeface="Fira Sans Extra Condensed Bold"/>
                  <a:ea typeface="Fira Sans Extra Condensed Bold"/>
                  <a:cs typeface="Fira Sans Extra Condensed Bold"/>
                  <a:sym typeface="Fira Sans Extra Condensed Bold"/>
                </a:rPr>
                <a:t>Lviv Croissants: усі рекомендації, нововведення, зміни тощо узгоджуються з оператором (з інвестором за бажанням).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130727" y="4175446"/>
            <a:ext cx="2057400" cy="55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2"/>
              </a:lnSpc>
            </a:pPr>
            <a:r>
              <a:rPr lang="en-US" sz="195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Підпорядковується Lviv Croissants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81516" y="255270"/>
            <a:ext cx="2924969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Рух коштів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256140" y="3942779"/>
            <a:ext cx="3790950" cy="2814638"/>
            <a:chOff x="0" y="0"/>
            <a:chExt cx="5054600" cy="37528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4600" cy="3752850"/>
            </a:xfrm>
            <a:custGeom>
              <a:avLst/>
              <a:gdLst/>
              <a:ahLst/>
              <a:cxnLst/>
              <a:rect r="r" b="b" t="t" l="l"/>
              <a:pathLst>
                <a:path h="3752850" w="5054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49800" y="0"/>
                  </a:lnTo>
                  <a:cubicBezTo>
                    <a:pt x="4918202" y="0"/>
                    <a:pt x="5054600" y="136525"/>
                    <a:pt x="5054600" y="304800"/>
                  </a:cubicBezTo>
                  <a:lnTo>
                    <a:pt x="5054600" y="3448050"/>
                  </a:lnTo>
                  <a:cubicBezTo>
                    <a:pt x="5054600" y="3616452"/>
                    <a:pt x="4918075" y="3752850"/>
                    <a:pt x="4749800" y="3752850"/>
                  </a:cubicBezTo>
                  <a:lnTo>
                    <a:pt x="304800" y="3752850"/>
                  </a:lnTo>
                  <a:cubicBezTo>
                    <a:pt x="136398" y="3752850"/>
                    <a:pt x="0" y="3616325"/>
                    <a:pt x="0" y="344805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393518" y="4854685"/>
            <a:ext cx="1500964" cy="495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5"/>
              </a:lnSpc>
            </a:pPr>
            <a:r>
              <a:rPr lang="en-US" sz="3486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</a:t>
            </a:r>
            <a:r>
              <a:rPr lang="en-US" sz="3486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екарня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326105" y="2703909"/>
            <a:ext cx="134996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Інвестор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53114" y="5350098"/>
            <a:ext cx="3790950" cy="4441031"/>
            <a:chOff x="0" y="0"/>
            <a:chExt cx="5054600" cy="59213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54600" cy="5921375"/>
            </a:xfrm>
            <a:custGeom>
              <a:avLst/>
              <a:gdLst/>
              <a:ahLst/>
              <a:cxnLst/>
              <a:rect r="r" b="b" t="t" l="l"/>
              <a:pathLst>
                <a:path h="5921375" w="5054600">
                  <a:moveTo>
                    <a:pt x="0" y="480924"/>
                  </a:moveTo>
                  <a:cubicBezTo>
                    <a:pt x="0" y="215414"/>
                    <a:pt x="136525" y="0"/>
                    <a:pt x="304800" y="0"/>
                  </a:cubicBezTo>
                  <a:lnTo>
                    <a:pt x="4749800" y="0"/>
                  </a:lnTo>
                  <a:cubicBezTo>
                    <a:pt x="4918202" y="0"/>
                    <a:pt x="5054600" y="215414"/>
                    <a:pt x="5054600" y="480924"/>
                  </a:cubicBezTo>
                  <a:lnTo>
                    <a:pt x="5054600" y="5440451"/>
                  </a:lnTo>
                  <a:cubicBezTo>
                    <a:pt x="5054600" y="5706162"/>
                    <a:pt x="4918075" y="5921375"/>
                    <a:pt x="4749800" y="5921375"/>
                  </a:cubicBezTo>
                  <a:lnTo>
                    <a:pt x="304800" y="5921375"/>
                  </a:lnTo>
                  <a:cubicBezTo>
                    <a:pt x="136398" y="5921375"/>
                    <a:pt x="0" y="5705961"/>
                    <a:pt x="0" y="5440451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9" id="9"/>
          <p:cNvSpPr txBox="true"/>
          <p:nvPr/>
        </p:nvSpPr>
        <p:spPr>
          <a:xfrm rot="-5400000">
            <a:off x="-391251" y="7352176"/>
            <a:ext cx="1478981" cy="436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3001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Оператор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730775" y="851914"/>
            <a:ext cx="3790950" cy="2814638"/>
            <a:chOff x="0" y="0"/>
            <a:chExt cx="5054600" cy="3752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54600" cy="3752850"/>
            </a:xfrm>
            <a:custGeom>
              <a:avLst/>
              <a:gdLst/>
              <a:ahLst/>
              <a:cxnLst/>
              <a:rect r="r" b="b" t="t" l="l"/>
              <a:pathLst>
                <a:path h="3752850" w="5054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49800" y="0"/>
                  </a:lnTo>
                  <a:cubicBezTo>
                    <a:pt x="4918202" y="0"/>
                    <a:pt x="5054600" y="136525"/>
                    <a:pt x="5054600" y="304800"/>
                  </a:cubicBezTo>
                  <a:lnTo>
                    <a:pt x="5054600" y="3448050"/>
                  </a:lnTo>
                  <a:cubicBezTo>
                    <a:pt x="5054600" y="3616452"/>
                    <a:pt x="4918075" y="3752850"/>
                    <a:pt x="4749800" y="3752850"/>
                  </a:cubicBezTo>
                  <a:lnTo>
                    <a:pt x="304800" y="3752850"/>
                  </a:lnTo>
                  <a:cubicBezTo>
                    <a:pt x="136398" y="3752850"/>
                    <a:pt x="0" y="3616325"/>
                    <a:pt x="0" y="344805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30775" y="3885626"/>
            <a:ext cx="3790950" cy="2814638"/>
            <a:chOff x="0" y="0"/>
            <a:chExt cx="5054600" cy="37528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54600" cy="3752850"/>
            </a:xfrm>
            <a:custGeom>
              <a:avLst/>
              <a:gdLst/>
              <a:ahLst/>
              <a:cxnLst/>
              <a:rect r="r" b="b" t="t" l="l"/>
              <a:pathLst>
                <a:path h="3752850" w="5054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49800" y="0"/>
                  </a:lnTo>
                  <a:cubicBezTo>
                    <a:pt x="4918202" y="0"/>
                    <a:pt x="5054600" y="136525"/>
                    <a:pt x="5054600" y="304800"/>
                  </a:cubicBezTo>
                  <a:lnTo>
                    <a:pt x="5054600" y="3448050"/>
                  </a:lnTo>
                  <a:cubicBezTo>
                    <a:pt x="5054600" y="3616452"/>
                    <a:pt x="4918075" y="3752850"/>
                    <a:pt x="4749800" y="3752850"/>
                  </a:cubicBezTo>
                  <a:lnTo>
                    <a:pt x="304800" y="3752850"/>
                  </a:lnTo>
                  <a:cubicBezTo>
                    <a:pt x="136398" y="3752850"/>
                    <a:pt x="0" y="3616325"/>
                    <a:pt x="0" y="344805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30775" y="6919339"/>
            <a:ext cx="3790950" cy="2814638"/>
            <a:chOff x="0" y="0"/>
            <a:chExt cx="5054600" cy="37528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54600" cy="3752850"/>
            </a:xfrm>
            <a:custGeom>
              <a:avLst/>
              <a:gdLst/>
              <a:ahLst/>
              <a:cxnLst/>
              <a:rect r="r" b="b" t="t" l="l"/>
              <a:pathLst>
                <a:path h="3752850" w="5054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49800" y="0"/>
                  </a:lnTo>
                  <a:cubicBezTo>
                    <a:pt x="4918202" y="0"/>
                    <a:pt x="5054600" y="136525"/>
                    <a:pt x="5054600" y="304800"/>
                  </a:cubicBezTo>
                  <a:lnTo>
                    <a:pt x="5054600" y="3448050"/>
                  </a:lnTo>
                  <a:cubicBezTo>
                    <a:pt x="5054600" y="3616452"/>
                    <a:pt x="4918075" y="3752850"/>
                    <a:pt x="4749800" y="3752850"/>
                  </a:cubicBezTo>
                  <a:lnTo>
                    <a:pt x="304800" y="3752850"/>
                  </a:lnTo>
                  <a:cubicBezTo>
                    <a:pt x="136398" y="3752850"/>
                    <a:pt x="0" y="3616325"/>
                    <a:pt x="0" y="344805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16836" y="702469"/>
            <a:ext cx="3790950" cy="4441031"/>
            <a:chOff x="0" y="0"/>
            <a:chExt cx="5054600" cy="59213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54600" cy="5921375"/>
            </a:xfrm>
            <a:custGeom>
              <a:avLst/>
              <a:gdLst/>
              <a:ahLst/>
              <a:cxnLst/>
              <a:rect r="r" b="b" t="t" l="l"/>
              <a:pathLst>
                <a:path h="5921375" w="5054600">
                  <a:moveTo>
                    <a:pt x="0" y="480924"/>
                  </a:moveTo>
                  <a:cubicBezTo>
                    <a:pt x="0" y="215414"/>
                    <a:pt x="136525" y="0"/>
                    <a:pt x="304800" y="0"/>
                  </a:cubicBezTo>
                  <a:lnTo>
                    <a:pt x="4749800" y="0"/>
                  </a:lnTo>
                  <a:cubicBezTo>
                    <a:pt x="4918202" y="0"/>
                    <a:pt x="5054600" y="215414"/>
                    <a:pt x="5054600" y="480924"/>
                  </a:cubicBezTo>
                  <a:lnTo>
                    <a:pt x="5054600" y="5440451"/>
                  </a:lnTo>
                  <a:cubicBezTo>
                    <a:pt x="5054600" y="5706162"/>
                    <a:pt x="4918075" y="5921375"/>
                    <a:pt x="4749800" y="5921375"/>
                  </a:cubicBezTo>
                  <a:lnTo>
                    <a:pt x="304800" y="5921375"/>
                  </a:lnTo>
                  <a:cubicBezTo>
                    <a:pt x="136398" y="5921375"/>
                    <a:pt x="0" y="5705961"/>
                    <a:pt x="0" y="5440451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AutoShape 18" id="18"/>
          <p:cNvSpPr/>
          <p:nvPr/>
        </p:nvSpPr>
        <p:spPr>
          <a:xfrm>
            <a:off x="4407786" y="2922984"/>
            <a:ext cx="2848355" cy="19125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11047090" y="6051371"/>
            <a:ext cx="2683685" cy="227528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 flipV="true">
            <a:off x="11047090" y="5292945"/>
            <a:ext cx="2683685" cy="5715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" id="21"/>
          <p:cNvSpPr/>
          <p:nvPr/>
        </p:nvSpPr>
        <p:spPr>
          <a:xfrm flipV="true">
            <a:off x="11047090" y="2259232"/>
            <a:ext cx="2683685" cy="253089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2" id="22"/>
          <p:cNvSpPr txBox="true"/>
          <p:nvPr/>
        </p:nvSpPr>
        <p:spPr>
          <a:xfrm rot="0">
            <a:off x="786149" y="794764"/>
            <a:ext cx="3452324" cy="41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Construction Works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Interior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Takeover Fee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Паушальний внесок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День відкриття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Ліцензії та довзоли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Відрядження команди 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Навчання адміна + лінійки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Обладнання та інвентар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2424" y="5874588"/>
            <a:ext cx="2932330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Перше замовлення продуктів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Упаковка, курасани та уніформа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Навчання операційного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Internal Systems</a:t>
            </a:r>
          </a:p>
        </p:txBody>
      </p:sp>
      <p:sp>
        <p:nvSpPr>
          <p:cNvPr name="AutoShape 24" id="24"/>
          <p:cNvSpPr/>
          <p:nvPr/>
        </p:nvSpPr>
        <p:spPr>
          <a:xfrm flipV="true">
            <a:off x="4344064" y="5931738"/>
            <a:ext cx="2912077" cy="1638876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5" id="25"/>
          <p:cNvSpPr txBox="true"/>
          <p:nvPr/>
        </p:nvSpPr>
        <p:spPr>
          <a:xfrm rot="0">
            <a:off x="8037517" y="5389324"/>
            <a:ext cx="221296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генерує дохід</a:t>
            </a:r>
          </a:p>
        </p:txBody>
      </p:sp>
      <p:sp>
        <p:nvSpPr>
          <p:cNvPr name="TextBox 26" id="26"/>
          <p:cNvSpPr txBox="true"/>
          <p:nvPr/>
        </p:nvSpPr>
        <p:spPr>
          <a:xfrm rot="5400000">
            <a:off x="17065818" y="2040157"/>
            <a:ext cx="134996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Інвестор</a:t>
            </a:r>
          </a:p>
        </p:txBody>
      </p:sp>
      <p:sp>
        <p:nvSpPr>
          <p:cNvPr name="TextBox 27" id="27"/>
          <p:cNvSpPr txBox="true"/>
          <p:nvPr/>
        </p:nvSpPr>
        <p:spPr>
          <a:xfrm rot="5400000">
            <a:off x="17030764" y="4954237"/>
            <a:ext cx="151532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Оператор</a:t>
            </a:r>
          </a:p>
        </p:txBody>
      </p:sp>
      <p:sp>
        <p:nvSpPr>
          <p:cNvPr name="TextBox 28" id="28"/>
          <p:cNvSpPr txBox="true"/>
          <p:nvPr/>
        </p:nvSpPr>
        <p:spPr>
          <a:xfrm rot="5400000">
            <a:off x="16744168" y="8107582"/>
            <a:ext cx="199326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Франчайзер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963218" y="1777902"/>
            <a:ext cx="345232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60% від прибукту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3% від доходу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963218" y="5086350"/>
            <a:ext cx="345232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37% від прибутку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906248" y="7845327"/>
            <a:ext cx="3452324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3% від прибутку</a:t>
            </a:r>
          </a:p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1% від доходу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02698" y="143730"/>
            <a:ext cx="1419225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6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Вихідне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092016" y="190024"/>
            <a:ext cx="1194726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6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Вхідне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5840" y="1232535"/>
            <a:ext cx="1627632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9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Вартість інвестицій для </a:t>
            </a:r>
            <a:r>
              <a:rPr lang="en-US" sz="54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Lviv Croissants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05840" y="2468880"/>
            <a:ext cx="7955280" cy="5943600"/>
            <a:chOff x="0" y="0"/>
            <a:chExt cx="10607040" cy="7924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07040" cy="7924800"/>
            </a:xfrm>
            <a:custGeom>
              <a:avLst/>
              <a:gdLst/>
              <a:ahLst/>
              <a:cxnLst/>
              <a:rect r="r" b="b" t="t" l="l"/>
              <a:pathLst>
                <a:path h="7924800" w="10607040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lnTo>
                    <a:pt x="10131552" y="0"/>
                  </a:lnTo>
                  <a:cubicBezTo>
                    <a:pt x="10394188" y="0"/>
                    <a:pt x="10607040" y="212852"/>
                    <a:pt x="10607040" y="475488"/>
                  </a:cubicBezTo>
                  <a:lnTo>
                    <a:pt x="10607040" y="7449312"/>
                  </a:lnTo>
                  <a:cubicBezTo>
                    <a:pt x="10607040" y="7711948"/>
                    <a:pt x="10394188" y="7924800"/>
                    <a:pt x="10131552" y="7924800"/>
                  </a:cubicBezTo>
                  <a:lnTo>
                    <a:pt x="475488" y="7924800"/>
                  </a:lnTo>
                  <a:cubicBezTo>
                    <a:pt x="212852" y="7924800"/>
                    <a:pt x="0" y="7711948"/>
                    <a:pt x="0" y="7449312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63040" y="2735580"/>
            <a:ext cx="704088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Інвестор-франчайзі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63040" y="3444240"/>
            <a:ext cx="4480560" cy="409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Construction Works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Обладнання та інвентар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Interior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Takeover Fee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Паушальний внесок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День відкриття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Ліцензії та дозволи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Відрядження команди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Навчання адміна + лінійки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35040" y="3444240"/>
            <a:ext cx="2468880" cy="409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40 000-70 000</a:t>
            </a:r>
          </a:p>
          <a:p>
            <a:pPr algn="r">
              <a:lnSpc>
                <a:spcPts val="3600"/>
              </a:lnSpc>
            </a:pPr>
            <a:r>
              <a:rPr lang="en-US" sz="2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50 000 - 75 000</a:t>
            </a:r>
          </a:p>
          <a:p>
            <a:pPr algn="r">
              <a:lnSpc>
                <a:spcPts val="3600"/>
              </a:lnSpc>
            </a:pPr>
            <a:r>
              <a:rPr lang="en-US" sz="2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25 000 - 40 000</a:t>
            </a:r>
          </a:p>
          <a:p>
            <a:pPr algn="r">
              <a:lnSpc>
                <a:spcPts val="3600"/>
              </a:lnSpc>
            </a:pPr>
            <a:r>
              <a:rPr lang="en-US" sz="2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~50 000</a:t>
            </a:r>
          </a:p>
          <a:p>
            <a:pPr algn="r">
              <a:lnSpc>
                <a:spcPts val="3600"/>
              </a:lnSpc>
            </a:pPr>
            <a:r>
              <a:rPr lang="en-US" sz="2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15 000</a:t>
            </a:r>
          </a:p>
          <a:p>
            <a:pPr algn="r">
              <a:lnSpc>
                <a:spcPts val="3600"/>
              </a:lnSpc>
            </a:pPr>
            <a:r>
              <a:rPr lang="en-US" sz="2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5 000–7 000</a:t>
            </a:r>
          </a:p>
          <a:p>
            <a:pPr algn="r">
              <a:lnSpc>
                <a:spcPts val="3600"/>
              </a:lnSpc>
            </a:pPr>
            <a:r>
              <a:rPr lang="en-US" sz="2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1 000–3 000</a:t>
            </a:r>
          </a:p>
          <a:p>
            <a:pPr algn="r">
              <a:lnSpc>
                <a:spcPts val="3600"/>
              </a:lnSpc>
            </a:pPr>
            <a:r>
              <a:rPr lang="en-US" sz="2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1 000 - 3 000</a:t>
            </a:r>
          </a:p>
          <a:p>
            <a:pPr algn="r">
              <a:lnSpc>
                <a:spcPts val="3600"/>
              </a:lnSpc>
            </a:pPr>
            <a:r>
              <a:rPr lang="en-US" sz="2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1 000 - 4 000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3040" y="7717155"/>
            <a:ext cx="2743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Разом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06240" y="7717155"/>
            <a:ext cx="429768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€188 000 – €266 000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26880" y="2468880"/>
            <a:ext cx="7955280" cy="5943600"/>
            <a:chOff x="0" y="0"/>
            <a:chExt cx="10607040" cy="7924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07040" cy="7924800"/>
            </a:xfrm>
            <a:custGeom>
              <a:avLst/>
              <a:gdLst/>
              <a:ahLst/>
              <a:cxnLst/>
              <a:rect r="r" b="b" t="t" l="l"/>
              <a:pathLst>
                <a:path h="7924800" w="10607040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lnTo>
                    <a:pt x="10131552" y="0"/>
                  </a:lnTo>
                  <a:cubicBezTo>
                    <a:pt x="10394188" y="0"/>
                    <a:pt x="10607040" y="212852"/>
                    <a:pt x="10607040" y="475488"/>
                  </a:cubicBezTo>
                  <a:lnTo>
                    <a:pt x="10607040" y="7449312"/>
                  </a:lnTo>
                  <a:cubicBezTo>
                    <a:pt x="10607040" y="7711948"/>
                    <a:pt x="10394188" y="7924800"/>
                    <a:pt x="10131552" y="7924800"/>
                  </a:cubicBezTo>
                  <a:lnTo>
                    <a:pt x="475488" y="7924800"/>
                  </a:lnTo>
                  <a:cubicBezTo>
                    <a:pt x="212852" y="7924800"/>
                    <a:pt x="0" y="7711948"/>
                    <a:pt x="0" y="7449312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84080" y="2735580"/>
            <a:ext cx="704088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Оператор-франчайзі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84080" y="3444240"/>
            <a:ext cx="5486400" cy="428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Internal Systems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Перше замовлення продуктів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Упаковка, круасани та уніформа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Навчання операційного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77752" y="3444240"/>
            <a:ext cx="1947208" cy="181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20 000 -27 000</a:t>
            </a:r>
          </a:p>
          <a:p>
            <a:pPr algn="r">
              <a:lnSpc>
                <a:spcPts val="3600"/>
              </a:lnSpc>
            </a:pPr>
            <a:r>
              <a:rPr lang="en-US" sz="2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5 000</a:t>
            </a:r>
          </a:p>
          <a:p>
            <a:pPr algn="r">
              <a:lnSpc>
                <a:spcPts val="3600"/>
              </a:lnSpc>
            </a:pPr>
            <a:r>
              <a:rPr lang="en-US" sz="2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15 000</a:t>
            </a:r>
          </a:p>
          <a:p>
            <a:pPr algn="r">
              <a:lnSpc>
                <a:spcPts val="3600"/>
              </a:lnSpc>
            </a:pPr>
            <a:r>
              <a:rPr lang="en-US" sz="2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2 000-3 000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84080" y="7717155"/>
            <a:ext cx="27432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Разом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27280" y="7717155"/>
            <a:ext cx="429768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300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€42 000 - €50 000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5840" y="8641080"/>
            <a:ext cx="16276320" cy="1097280"/>
            <a:chOff x="0" y="0"/>
            <a:chExt cx="2170176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01761" cy="1462913"/>
            </a:xfrm>
            <a:custGeom>
              <a:avLst/>
              <a:gdLst/>
              <a:ahLst/>
              <a:cxnLst/>
              <a:rect r="r" b="b" t="t" l="l"/>
              <a:pathLst>
                <a:path h="1462913" w="21701761">
                  <a:moveTo>
                    <a:pt x="0" y="175514"/>
                  </a:moveTo>
                  <a:cubicBezTo>
                    <a:pt x="0" y="78613"/>
                    <a:pt x="78613" y="0"/>
                    <a:pt x="175514" y="0"/>
                  </a:cubicBezTo>
                  <a:lnTo>
                    <a:pt x="21526246" y="0"/>
                  </a:lnTo>
                  <a:cubicBezTo>
                    <a:pt x="21623147" y="0"/>
                    <a:pt x="21701761" y="78613"/>
                    <a:pt x="21701761" y="175514"/>
                  </a:cubicBezTo>
                  <a:lnTo>
                    <a:pt x="21701761" y="1287399"/>
                  </a:lnTo>
                  <a:cubicBezTo>
                    <a:pt x="21701761" y="1384300"/>
                    <a:pt x="21623147" y="1462913"/>
                    <a:pt x="21526246" y="1462913"/>
                  </a:cubicBezTo>
                  <a:lnTo>
                    <a:pt x="175514" y="1462913"/>
                  </a:lnTo>
                  <a:cubicBezTo>
                    <a:pt x="78613" y="1463040"/>
                    <a:pt x="0" y="1384427"/>
                    <a:pt x="0" y="1287526"/>
                  </a:cubicBezTo>
                  <a:close/>
                </a:path>
              </a:pathLst>
            </a:custGeom>
            <a:solidFill>
              <a:srgbClr val="F4B6C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792677" y="8980170"/>
            <a:ext cx="1270264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За максимальне число брав німецькі показники, а мінімальне виставляв орієнтовно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1456" y="1266825"/>
            <a:ext cx="16325088" cy="7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Шкала розподілу прибутку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719388"/>
            <a:ext cx="5130803" cy="4059555"/>
            <a:chOff x="0" y="0"/>
            <a:chExt cx="6841071" cy="54127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41109" cy="5412740"/>
            </a:xfrm>
            <a:custGeom>
              <a:avLst/>
              <a:gdLst/>
              <a:ahLst/>
              <a:cxnLst/>
              <a:rect r="r" b="b" t="t" l="l"/>
              <a:pathLst>
                <a:path h="5412740" w="6841109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36309" y="0"/>
                  </a:lnTo>
                  <a:cubicBezTo>
                    <a:pt x="6704584" y="0"/>
                    <a:pt x="6841109" y="136398"/>
                    <a:pt x="6841109" y="304800"/>
                  </a:cubicBezTo>
                  <a:lnTo>
                    <a:pt x="6841109" y="5107940"/>
                  </a:lnTo>
                  <a:cubicBezTo>
                    <a:pt x="6841109" y="5276215"/>
                    <a:pt x="6704711" y="5412740"/>
                    <a:pt x="6536309" y="5412740"/>
                  </a:cubicBezTo>
                  <a:lnTo>
                    <a:pt x="304800" y="5412740"/>
                  </a:lnTo>
                  <a:cubicBezTo>
                    <a:pt x="136525" y="5412740"/>
                    <a:pt x="0" y="5276342"/>
                    <a:pt x="0" y="510794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04950" y="3024188"/>
            <a:ext cx="4696082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Етап 1: до повернення 50% вкладень інвестора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4950" y="3854767"/>
            <a:ext cx="469608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Інвестор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4950" y="4531042"/>
            <a:ext cx="469608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60%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4950" y="5207317"/>
            <a:ext cx="469608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Оператор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4950" y="5883592"/>
            <a:ext cx="469608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40%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78603" y="2719388"/>
            <a:ext cx="5130803" cy="4059555"/>
            <a:chOff x="0" y="0"/>
            <a:chExt cx="6841071" cy="54127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41109" cy="5412740"/>
            </a:xfrm>
            <a:custGeom>
              <a:avLst/>
              <a:gdLst/>
              <a:ahLst/>
              <a:cxnLst/>
              <a:rect r="r" b="b" t="t" l="l"/>
              <a:pathLst>
                <a:path h="5412740" w="6841109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36309" y="0"/>
                  </a:lnTo>
                  <a:cubicBezTo>
                    <a:pt x="6704584" y="0"/>
                    <a:pt x="6841109" y="136398"/>
                    <a:pt x="6841109" y="304800"/>
                  </a:cubicBezTo>
                  <a:lnTo>
                    <a:pt x="6841109" y="5107940"/>
                  </a:lnTo>
                  <a:cubicBezTo>
                    <a:pt x="6841109" y="5276215"/>
                    <a:pt x="6704711" y="5412740"/>
                    <a:pt x="6536309" y="5412740"/>
                  </a:cubicBezTo>
                  <a:lnTo>
                    <a:pt x="304800" y="5412740"/>
                  </a:lnTo>
                  <a:cubicBezTo>
                    <a:pt x="136525" y="5412740"/>
                    <a:pt x="0" y="5276342"/>
                    <a:pt x="0" y="510794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864353" y="3024188"/>
            <a:ext cx="4696082" cy="75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Етап 2: до 100% повернення вкладень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64353" y="3854767"/>
            <a:ext cx="469608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Інвестор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64353" y="4531042"/>
            <a:ext cx="469608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50%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64353" y="5207317"/>
            <a:ext cx="469608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Оператор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64353" y="5883592"/>
            <a:ext cx="469608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50%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937997" y="2719388"/>
            <a:ext cx="5130803" cy="4059555"/>
            <a:chOff x="0" y="0"/>
            <a:chExt cx="6841071" cy="5412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41109" cy="5412740"/>
            </a:xfrm>
            <a:custGeom>
              <a:avLst/>
              <a:gdLst/>
              <a:ahLst/>
              <a:cxnLst/>
              <a:rect r="r" b="b" t="t" l="l"/>
              <a:pathLst>
                <a:path h="5412740" w="6841109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36309" y="0"/>
                  </a:lnTo>
                  <a:cubicBezTo>
                    <a:pt x="6704584" y="0"/>
                    <a:pt x="6841109" y="136398"/>
                    <a:pt x="6841109" y="304800"/>
                  </a:cubicBezTo>
                  <a:lnTo>
                    <a:pt x="6841109" y="5107940"/>
                  </a:lnTo>
                  <a:cubicBezTo>
                    <a:pt x="6841109" y="5276215"/>
                    <a:pt x="6704711" y="5412740"/>
                    <a:pt x="6536309" y="5412740"/>
                  </a:cubicBezTo>
                  <a:lnTo>
                    <a:pt x="304800" y="5412740"/>
                  </a:lnTo>
                  <a:cubicBezTo>
                    <a:pt x="136525" y="5412740"/>
                    <a:pt x="0" y="5276342"/>
                    <a:pt x="0" y="5107940"/>
                  </a:cubicBezTo>
                  <a:close/>
                </a:path>
              </a:pathLst>
            </a:custGeom>
            <a:solidFill>
              <a:srgbClr val="135F4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223747" y="3024188"/>
            <a:ext cx="2895335" cy="38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Етап 3: після окупності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23747" y="3482340"/>
            <a:ext cx="469608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Інвестор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23747" y="4158615"/>
            <a:ext cx="469608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40%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23747" y="4834890"/>
            <a:ext cx="469608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Оператор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23747" y="5511165"/>
            <a:ext cx="469608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 b="true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60%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19200" y="7524750"/>
            <a:ext cx="15849600" cy="1238250"/>
            <a:chOff x="0" y="0"/>
            <a:chExt cx="21132800" cy="165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1328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11328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0828000" y="0"/>
                  </a:lnTo>
                  <a:cubicBezTo>
                    <a:pt x="20996402" y="0"/>
                    <a:pt x="21132800" y="136525"/>
                    <a:pt x="21132800" y="304800"/>
                  </a:cubicBezTo>
                  <a:lnTo>
                    <a:pt x="21132800" y="1346200"/>
                  </a:lnTo>
                  <a:cubicBezTo>
                    <a:pt x="21132800" y="1514602"/>
                    <a:pt x="20996275" y="1651000"/>
                    <a:pt x="20828000" y="1651000"/>
                  </a:cubicBezTo>
                  <a:lnTo>
                    <a:pt x="304800" y="1651000"/>
                  </a:lnTo>
                  <a:cubicBezTo>
                    <a:pt x="136398" y="1651000"/>
                    <a:pt x="0" y="1514475"/>
                    <a:pt x="0" y="1346200"/>
                  </a:cubicBezTo>
                  <a:close/>
                </a:path>
              </a:pathLst>
            </a:custGeom>
            <a:solidFill>
              <a:srgbClr val="F4B6C8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143125" y="7762875"/>
            <a:ext cx="14001750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4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Інвестор отримує більше, поки не окупився; потім більше отримує оператор, який працює щодня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18361" y="8113395"/>
            <a:ext cx="825112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Фінансова модель будується на основі етапів 1 та 2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981456" y="1000000"/>
            <a:ext cx="16325088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5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Зони </a:t>
            </a:r>
            <a:r>
              <a:rPr lang="uk-UA" sz="5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відповідальності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3769200" y="1850000"/>
            <a:ext cx="6524800" cy="5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30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 відкриття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0544000" y="1850000"/>
            <a:ext cx="6524800" cy="5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30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Після відкриття</a:t>
            </a:r>
          </a:p>
        </p:txBody>
      </p:sp>
      <p:sp>
        <p:nvSpPr>
          <p:cNvPr name="Role 5" id="5"/>
          <p:cNvSpPr/>
          <p:nvPr/>
        </p:nvSpPr>
        <p:spPr>
          <a:xfrm>
            <a:off x="1219200" y="2450000"/>
            <a:ext cx="2300000" cy="215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6" id="6"/>
          <p:cNvSpPr txBox="true"/>
          <p:nvPr/>
        </p:nvSpPr>
        <p:spPr>
          <a:xfrm>
            <a:off x="1369200" y="2450000"/>
            <a:ext cx="2000000" cy="215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Інвестор</a:t>
            </a:r>
          </a:p>
        </p:txBody>
      </p:sp>
      <p:sp>
        <p:nvSpPr>
          <p:cNvPr name="Card 7" id="7"/>
          <p:cNvSpPr/>
          <p:nvPr/>
        </p:nvSpPr>
        <p:spPr>
          <a:xfrm>
            <a:off x="3769200" y="2450000"/>
            <a:ext cx="6524800" cy="215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8" id="8"/>
          <p:cNvSpPr txBox="true"/>
          <p:nvPr/>
        </p:nvSpPr>
        <p:spPr>
          <a:xfrm>
            <a:off x="4019200" y="2600000"/>
            <a:ext cx="6024800" cy="185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Профінансувати закріплені за роллю витрати, зокрема відрядження команди HQ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Провести ремонт і оздоблення за архітектурним планом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Підписати договір оренди, оформити ліцензії та дозволи</a:t>
            </a:r>
          </a:p>
        </p:txBody>
      </p:sp>
      <p:sp>
        <p:nvSpPr>
          <p:cNvPr name="Card 9" id="9"/>
          <p:cNvSpPr/>
          <p:nvPr/>
        </p:nvSpPr>
        <p:spPr>
          <a:xfrm>
            <a:off x="10544000" y="2450000"/>
            <a:ext cx="6524800" cy="215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10" id="10"/>
          <p:cNvSpPr txBox="true"/>
          <p:nvPr/>
        </p:nvSpPr>
        <p:spPr>
          <a:xfrm>
            <a:off x="10794000" y="2600000"/>
            <a:ext cx="6024800" cy="185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Отримувати частку прибутку за шкалою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Звертатися щодо роботи пекарні через Lviv Croissants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Розглядати запити на дофінансування та вагомі зміни</a:t>
            </a:r>
          </a:p>
        </p:txBody>
      </p:sp>
      <p:sp>
        <p:nvSpPr>
          <p:cNvPr name="Role 11" id="11"/>
          <p:cNvSpPr/>
          <p:nvPr/>
        </p:nvSpPr>
        <p:spPr>
          <a:xfrm>
            <a:off x="1219200" y="4800000"/>
            <a:ext cx="2300000" cy="215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12" id="12"/>
          <p:cNvSpPr txBox="true"/>
          <p:nvPr/>
        </p:nvSpPr>
        <p:spPr>
          <a:xfrm>
            <a:off x="1369200" y="4800000"/>
            <a:ext cx="2000000" cy="215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Оператор</a:t>
            </a:r>
          </a:p>
        </p:txBody>
      </p:sp>
      <p:sp>
        <p:nvSpPr>
          <p:cNvPr name="Card 13" id="13"/>
          <p:cNvSpPr/>
          <p:nvPr/>
        </p:nvSpPr>
        <p:spPr>
          <a:xfrm>
            <a:off x="3769200" y="4800000"/>
            <a:ext cx="6524800" cy="215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14" id="14"/>
          <p:cNvSpPr txBox="true"/>
          <p:nvPr/>
        </p:nvSpPr>
        <p:spPr>
          <a:xfrm>
            <a:off x="4019200" y="4950000"/>
            <a:ext cx="6024800" cy="185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Бути присутнім як операційний директор і пройти навчання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Підібрати та оформити персонал, постачальників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Замовити сухий склад і заморозку, провести навчання команди</a:t>
            </a:r>
          </a:p>
        </p:txBody>
      </p:sp>
      <p:sp>
        <p:nvSpPr>
          <p:cNvPr name="Card 15" id="15"/>
          <p:cNvSpPr/>
          <p:nvPr/>
        </p:nvSpPr>
        <p:spPr>
          <a:xfrm>
            <a:off x="10544000" y="4800000"/>
            <a:ext cx="6524800" cy="215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16" id="16"/>
          <p:cNvSpPr txBox="true"/>
          <p:nvPr/>
        </p:nvSpPr>
        <p:spPr>
          <a:xfrm>
            <a:off x="10794000" y="4950000"/>
            <a:ext cx="6024800" cy="185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Щодня керувати пекарнею, персоналом і закупівлями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Вести Odoo, інвентаризацію, P&amp;L та ABC звіти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Розвивати додаткові канали збуту; отримувати частку прибутку</a:t>
            </a:r>
          </a:p>
        </p:txBody>
      </p:sp>
      <p:sp>
        <p:nvSpPr>
          <p:cNvPr name="Role 17" id="17"/>
          <p:cNvSpPr/>
          <p:nvPr/>
        </p:nvSpPr>
        <p:spPr>
          <a:xfrm>
            <a:off x="1219200" y="7150000"/>
            <a:ext cx="2300000" cy="215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18" id="18"/>
          <p:cNvSpPr txBox="true"/>
          <p:nvPr/>
        </p:nvSpPr>
        <p:spPr>
          <a:xfrm>
            <a:off x="1369200" y="7150000"/>
            <a:ext cx="2000000" cy="215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Lviv Croissants</a:t>
            </a:r>
          </a:p>
        </p:txBody>
      </p:sp>
      <p:sp>
        <p:nvSpPr>
          <p:cNvPr name="Card 19" id="19"/>
          <p:cNvSpPr/>
          <p:nvPr/>
        </p:nvSpPr>
        <p:spPr>
          <a:xfrm>
            <a:off x="3769200" y="7150000"/>
            <a:ext cx="6524800" cy="215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20" id="20"/>
          <p:cNvSpPr txBox="true"/>
          <p:nvPr/>
        </p:nvSpPr>
        <p:spPr>
          <a:xfrm>
            <a:off x="4019200" y="7300000"/>
            <a:ext cx="6024800" cy="185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Навчити операційного директора (~30 днів) і команду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Дистанційно вести ремонт, обладнання, меню, кошторис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Команда HQ на місці за 14 днів: запуск, тестування, відкриття</a:t>
            </a:r>
          </a:p>
        </p:txBody>
      </p:sp>
      <p:sp>
        <p:nvSpPr>
          <p:cNvPr name="Card 21" id="21"/>
          <p:cNvSpPr/>
          <p:nvPr/>
        </p:nvSpPr>
        <p:spPr>
          <a:xfrm>
            <a:off x="10544000" y="7150000"/>
            <a:ext cx="6524800" cy="215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22" id="22"/>
          <p:cNvSpPr txBox="true"/>
          <p:nvPr/>
        </p:nvSpPr>
        <p:spPr>
          <a:xfrm>
            <a:off x="10794000" y="7300000"/>
            <a:ext cx="6024800" cy="185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Менеджер проєкту на місці ~5 тижнів: від стабілізації до автономії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Контролювати Стандарти Мережі, звітність, меню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uk-UA" sz="20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Отримувати 3% від прибутку та 1% від доходу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981456" y="1000000"/>
            <a:ext cx="16325088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5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Два договори з </a:t>
            </a:r>
            <a:r>
              <a:rPr lang="uk-UA" sz="5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Lviv Croissants</a:t>
            </a:r>
          </a:p>
        </p:txBody>
      </p:sp>
      <p:sp>
        <p:nvSpPr>
          <p:cNvPr name="Card 3" id="3"/>
          <p:cNvSpPr/>
          <p:nvPr/>
        </p:nvSpPr>
        <p:spPr>
          <a:xfrm>
            <a:off x="1219200" y="3300000"/>
            <a:ext cx="3800000" cy="26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4" id="4"/>
          <p:cNvSpPr txBox="true"/>
          <p:nvPr/>
        </p:nvSpPr>
        <p:spPr>
          <a:xfrm>
            <a:off x="1504950" y="3300000"/>
            <a:ext cx="3228500" cy="26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3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Інвестор-франчайзі</a:t>
            </a:r>
          </a:p>
        </p:txBody>
      </p:sp>
      <p:sp>
        <p:nvSpPr>
          <p:cNvPr name="Card 5" id="5"/>
          <p:cNvSpPr/>
          <p:nvPr/>
        </p:nvSpPr>
        <p:spPr>
          <a:xfrm>
            <a:off x="7244000" y="3300000"/>
            <a:ext cx="3800000" cy="26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6" id="6"/>
          <p:cNvSpPr txBox="true"/>
          <p:nvPr/>
        </p:nvSpPr>
        <p:spPr>
          <a:xfrm>
            <a:off x="7529750" y="3300000"/>
            <a:ext cx="3228500" cy="26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3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Lviv Croissants</a:t>
            </a:r>
          </a:p>
        </p:txBody>
      </p:sp>
      <p:sp>
        <p:nvSpPr>
          <p:cNvPr name="Card 7" id="7"/>
          <p:cNvSpPr/>
          <p:nvPr/>
        </p:nvSpPr>
        <p:spPr>
          <a:xfrm>
            <a:off x="13268800" y="3300000"/>
            <a:ext cx="3800000" cy="26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8" id="8"/>
          <p:cNvSpPr txBox="true"/>
          <p:nvPr/>
        </p:nvSpPr>
        <p:spPr>
          <a:xfrm>
            <a:off x="13554550" y="3300000"/>
            <a:ext cx="3228500" cy="26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3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Оператор-франчайзі</a:t>
            </a:r>
          </a:p>
        </p:txBody>
      </p:sp>
      <p:cxnSp>
        <p:nvCxnSpPr>
          <p:cNvPr name="Arrow 9" id="9"/>
          <p:cNvCxnSpPr/>
          <p:nvPr/>
        </p:nvCxnSpPr>
        <p:spPr>
          <a:xfrm>
            <a:off x="5169200" y="4600000"/>
            <a:ext cx="1924800" cy="0"/>
          </a:xfrm>
          <a:prstGeom prst="line">
            <a:avLst/>
          </a:prstGeom>
          <a:ln w="38100">
            <a:solidFill>
              <a:srgbClr val="FBFBF8"/>
            </a:solidFill>
            <a:headEnd type="triangle"/>
            <a:tailEnd type="triangle"/>
          </a:ln>
        </p:spPr>
      </p:cxnSp>
      <p:sp>
        <p:nvSpPr>
          <p:cNvPr name="TextBox 10" id="10"/>
          <p:cNvSpPr txBox="true"/>
          <p:nvPr/>
        </p:nvSpPr>
        <p:spPr>
          <a:xfrm>
            <a:off x="5169200" y="3900000"/>
            <a:ext cx="1924800" cy="5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1</a:t>
            </a:r>
          </a:p>
        </p:txBody>
      </p:sp>
      <p:cxnSp>
        <p:nvCxnSpPr>
          <p:cNvPr name="Arrow 11" id="11"/>
          <p:cNvCxnSpPr/>
          <p:nvPr/>
        </p:nvCxnSpPr>
        <p:spPr>
          <a:xfrm>
            <a:off x="11194000" y="4600000"/>
            <a:ext cx="1924800" cy="0"/>
          </a:xfrm>
          <a:prstGeom prst="line">
            <a:avLst/>
          </a:prstGeom>
          <a:ln w="38100">
            <a:solidFill>
              <a:srgbClr val="FBFBF8"/>
            </a:solidFill>
            <a:headEnd type="triangle"/>
            <a:tailEnd type="triangle"/>
          </a:ln>
        </p:spPr>
      </p:cxnSp>
      <p:sp>
        <p:nvSpPr>
          <p:cNvPr name="TextBox 12" id="12"/>
          <p:cNvSpPr txBox="true"/>
          <p:nvPr/>
        </p:nvSpPr>
        <p:spPr>
          <a:xfrm>
            <a:off x="11194000" y="3900000"/>
            <a:ext cx="1924800" cy="5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2</a:t>
            </a:r>
          </a:p>
        </p:txBody>
      </p:sp>
      <p:sp>
        <p:nvSpPr>
          <p:cNvPr name="Note 13" id="13"/>
          <p:cNvSpPr/>
          <p:nvPr/>
        </p:nvSpPr>
        <p:spPr>
          <a:xfrm>
            <a:off x="1219200" y="8750000"/>
            <a:ext cx="15849600" cy="100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14" id="14"/>
          <p:cNvSpPr txBox="true"/>
          <p:nvPr/>
        </p:nvSpPr>
        <p:spPr>
          <a:xfrm>
            <a:off x="1500000" y="8750000"/>
            <a:ext cx="15286000" cy="10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Інвестор і оператор укладають договори окремо: якщо один партнер виходить, договір іншого продовжує діяти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981456" y="1000000"/>
            <a:ext cx="16325088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5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З чого складається </a:t>
            </a:r>
            <a:r>
              <a:rPr lang="uk-UA" sz="5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кожен договір</a:t>
            </a:r>
          </a:p>
        </p:txBody>
      </p:sp>
      <p:sp>
        <p:nvSpPr>
          <p:cNvPr name="Card 3" id="3"/>
          <p:cNvSpPr/>
          <p:nvPr/>
        </p:nvSpPr>
        <p:spPr>
          <a:xfrm>
            <a:off x="1219200" y="2300000"/>
            <a:ext cx="3750000" cy="29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4" id="4"/>
          <p:cNvSpPr txBox="true"/>
          <p:nvPr/>
        </p:nvSpPr>
        <p:spPr>
          <a:xfrm>
            <a:off x="1469200" y="2530000"/>
            <a:ext cx="32500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40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1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469200" y="32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Сторони та предмет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1469200" y="42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2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Хто, що і для якої пекарні</a:t>
            </a:r>
          </a:p>
        </p:txBody>
      </p:sp>
      <p:sp>
        <p:nvSpPr>
          <p:cNvPr name="Card 7" id="7"/>
          <p:cNvSpPr/>
          <p:nvPr/>
        </p:nvSpPr>
        <p:spPr>
          <a:xfrm>
            <a:off x="5252200" y="2300000"/>
            <a:ext cx="3750000" cy="29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8" id="8"/>
          <p:cNvSpPr txBox="true"/>
          <p:nvPr/>
        </p:nvSpPr>
        <p:spPr>
          <a:xfrm>
            <a:off x="5502200" y="2530000"/>
            <a:ext cx="32500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40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5502200" y="32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Права й обов'язки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5502200" y="42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2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Інвестор, франчайзер, оператор</a:t>
            </a:r>
          </a:p>
        </p:txBody>
      </p:sp>
      <p:sp>
        <p:nvSpPr>
          <p:cNvPr name="Card 11" id="11"/>
          <p:cNvSpPr/>
          <p:nvPr/>
        </p:nvSpPr>
        <p:spPr>
          <a:xfrm>
            <a:off x="9285200" y="2300000"/>
            <a:ext cx="3750000" cy="29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12" id="12"/>
          <p:cNvSpPr txBox="true"/>
          <p:nvPr/>
        </p:nvSpPr>
        <p:spPr>
          <a:xfrm>
            <a:off x="9535200" y="2530000"/>
            <a:ext cx="32500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40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9535200" y="32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Фінанси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9535200" y="42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2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Інвестиції, збори, розподіл прибутку</a:t>
            </a:r>
          </a:p>
        </p:txBody>
      </p:sp>
      <p:sp>
        <p:nvSpPr>
          <p:cNvPr name="Card 15" id="15"/>
          <p:cNvSpPr/>
          <p:nvPr/>
        </p:nvSpPr>
        <p:spPr>
          <a:xfrm>
            <a:off x="13318200" y="2300000"/>
            <a:ext cx="3750000" cy="29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16" id="16"/>
          <p:cNvSpPr txBox="true"/>
          <p:nvPr/>
        </p:nvSpPr>
        <p:spPr>
          <a:xfrm>
            <a:off x="13568200" y="2530000"/>
            <a:ext cx="32500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40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>
            <a:off x="13568200" y="32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Бренд і стандарти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13568200" y="42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2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Використання бренду, меню, якість</a:t>
            </a:r>
          </a:p>
        </p:txBody>
      </p:sp>
      <p:sp>
        <p:nvSpPr>
          <p:cNvPr name="Card 19" id="19"/>
          <p:cNvSpPr/>
          <p:nvPr/>
        </p:nvSpPr>
        <p:spPr>
          <a:xfrm>
            <a:off x="1219200" y="5500000"/>
            <a:ext cx="3750000" cy="29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20" id="20"/>
          <p:cNvSpPr txBox="true"/>
          <p:nvPr/>
        </p:nvSpPr>
        <p:spPr>
          <a:xfrm>
            <a:off x="1469200" y="5730000"/>
            <a:ext cx="32500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40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5</a:t>
            </a:r>
          </a:p>
        </p:txBody>
      </p:sp>
      <p:sp>
        <p:nvSpPr>
          <p:cNvPr name="TextBox 21" id="21"/>
          <p:cNvSpPr txBox="true"/>
          <p:nvPr/>
        </p:nvSpPr>
        <p:spPr>
          <a:xfrm>
            <a:off x="1469200" y="64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Звітність і контроль</a:t>
            </a:r>
          </a:p>
        </p:txBody>
      </p:sp>
      <p:sp>
        <p:nvSpPr>
          <p:cNvPr name="TextBox 22" id="22"/>
          <p:cNvSpPr txBox="true"/>
          <p:nvPr/>
        </p:nvSpPr>
        <p:spPr>
          <a:xfrm>
            <a:off x="1469200" y="74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2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Дані, аудит, канали комунікації</a:t>
            </a:r>
          </a:p>
        </p:txBody>
      </p:sp>
      <p:sp>
        <p:nvSpPr>
          <p:cNvPr name="Card 23" id="23"/>
          <p:cNvSpPr/>
          <p:nvPr/>
        </p:nvSpPr>
        <p:spPr>
          <a:xfrm>
            <a:off x="5252200" y="5500000"/>
            <a:ext cx="3750000" cy="29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24" id="24"/>
          <p:cNvSpPr txBox="true"/>
          <p:nvPr/>
        </p:nvSpPr>
        <p:spPr>
          <a:xfrm>
            <a:off x="5502200" y="5730000"/>
            <a:ext cx="32500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40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6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5502200" y="64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Строк і продовження</a:t>
            </a:r>
          </a:p>
        </p:txBody>
      </p:sp>
      <p:sp>
        <p:nvSpPr>
          <p:cNvPr name="TextBox 26" id="26"/>
          <p:cNvSpPr txBox="true"/>
          <p:nvPr/>
        </p:nvSpPr>
        <p:spPr>
          <a:xfrm>
            <a:off x="5502200" y="74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2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Тривалість, умови пролонгації</a:t>
            </a:r>
          </a:p>
        </p:txBody>
      </p:sp>
      <p:sp>
        <p:nvSpPr>
          <p:cNvPr name="Card 27" id="27"/>
          <p:cNvSpPr/>
          <p:nvPr/>
        </p:nvSpPr>
        <p:spPr>
          <a:xfrm>
            <a:off x="9285200" y="5500000"/>
            <a:ext cx="3750000" cy="29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28" id="28"/>
          <p:cNvSpPr txBox="true"/>
          <p:nvPr/>
        </p:nvSpPr>
        <p:spPr>
          <a:xfrm>
            <a:off x="9535200" y="5730000"/>
            <a:ext cx="32500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40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7</a:t>
            </a:r>
          </a:p>
        </p:txBody>
      </p:sp>
      <p:sp>
        <p:nvSpPr>
          <p:cNvPr name="TextBox 29" id="29"/>
          <p:cNvSpPr txBox="true"/>
          <p:nvPr/>
        </p:nvSpPr>
        <p:spPr>
          <a:xfrm>
            <a:off x="9535200" y="64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Зміни та вихід</a:t>
            </a:r>
          </a:p>
        </p:txBody>
      </p:sp>
      <p:sp>
        <p:nvSpPr>
          <p:cNvPr name="TextBox 30" id="30"/>
          <p:cNvSpPr txBox="true"/>
          <p:nvPr/>
        </p:nvSpPr>
        <p:spPr>
          <a:xfrm>
            <a:off x="9535200" y="74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2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Розірвання, продаж частки, заміна сторони</a:t>
            </a:r>
          </a:p>
        </p:txBody>
      </p:sp>
      <p:sp>
        <p:nvSpPr>
          <p:cNvPr name="Card 31" id="31"/>
          <p:cNvSpPr/>
          <p:nvPr/>
        </p:nvSpPr>
        <p:spPr>
          <a:xfrm>
            <a:off x="13318200" y="5500000"/>
            <a:ext cx="3750000" cy="29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32" id="32"/>
          <p:cNvSpPr txBox="true"/>
          <p:nvPr/>
        </p:nvSpPr>
        <p:spPr>
          <a:xfrm>
            <a:off x="13568200" y="5730000"/>
            <a:ext cx="32500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40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8</a:t>
            </a:r>
          </a:p>
        </p:txBody>
      </p:sp>
      <p:sp>
        <p:nvSpPr>
          <p:cNvPr name="TextBox 33" id="33"/>
          <p:cNvSpPr txBox="true"/>
          <p:nvPr/>
        </p:nvSpPr>
        <p:spPr>
          <a:xfrm>
            <a:off x="13568200" y="64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Відповідальність</a:t>
            </a:r>
          </a:p>
        </p:txBody>
      </p:sp>
      <p:sp>
        <p:nvSpPr>
          <p:cNvPr name="TextBox 34" id="34"/>
          <p:cNvSpPr txBox="true"/>
          <p:nvPr/>
        </p:nvSpPr>
        <p:spPr>
          <a:xfrm>
            <a:off x="13568200" y="7450000"/>
            <a:ext cx="3250000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2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Ризики, санкції, спори</a:t>
            </a:r>
          </a:p>
        </p:txBody>
      </p:sp>
      <p:sp>
        <p:nvSpPr>
          <p:cNvPr name="Note 35" id="35"/>
          <p:cNvSpPr/>
          <p:nvPr/>
        </p:nvSpPr>
        <p:spPr>
          <a:xfrm>
            <a:off x="1219200" y="8750000"/>
            <a:ext cx="15849600" cy="100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36" id="36"/>
          <p:cNvSpPr txBox="true"/>
          <p:nvPr/>
        </p:nvSpPr>
        <p:spPr>
          <a:xfrm>
            <a:off x="1500000" y="8750000"/>
            <a:ext cx="15286000" cy="10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Каркас однаковий для обох договорів; кожен розділ — на окремому слайді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981456" y="1000000"/>
            <a:ext cx="16325088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5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1  </a:t>
            </a:r>
            <a:r>
              <a:rPr lang="uk-UA" sz="5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Сторони та предмет</a:t>
            </a:r>
          </a:p>
        </p:txBody>
      </p:sp>
      <p:sp>
        <p:nvSpPr>
          <p:cNvPr name="Card 3" id="3"/>
          <p:cNvSpPr/>
          <p:nvPr/>
        </p:nvSpPr>
        <p:spPr>
          <a:xfrm>
            <a:off x="12192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4" id="4"/>
          <p:cNvSpPr txBox="true"/>
          <p:nvPr/>
        </p:nvSpPr>
        <p:spPr>
          <a:xfrm>
            <a:off x="15192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1: інвестор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5192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Тип: інвестиційний договір (кваліфікацію визначає юрист)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Предмет: фінансування відкриття пекарні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Інвестор не керує пекарнею й не підпорядковується оператору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Окремо визначити, хто орендар приміщення</a:t>
            </a:r>
          </a:p>
        </p:txBody>
      </p:sp>
      <p:sp>
        <p:nvSpPr>
          <p:cNvPr name="Card 6" id="6"/>
          <p:cNvSpPr/>
          <p:nvPr/>
        </p:nvSpPr>
        <p:spPr>
          <a:xfrm>
            <a:off x="92940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7" id="7"/>
          <p:cNvSpPr txBox="true"/>
          <p:nvPr/>
        </p:nvSpPr>
        <p:spPr>
          <a:xfrm>
            <a:off x="95940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2: оператор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95940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Тип: франчайзинговий договір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Предмет: право вести пекарню під брендом за Стандартами Мережі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Оператор керує щодня й підпорядковується Lviv Croissants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Пекарня: адреса, формат, територія</a:t>
            </a:r>
          </a:p>
        </p:txBody>
      </p:sp>
      <p:sp>
        <p:nvSpPr>
          <p:cNvPr name="Note 9" id="9"/>
          <p:cNvSpPr/>
          <p:nvPr/>
        </p:nvSpPr>
        <p:spPr>
          <a:xfrm>
            <a:off x="1219200" y="8750000"/>
            <a:ext cx="15849600" cy="100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10" id="10"/>
          <p:cNvSpPr txBox="true"/>
          <p:nvPr/>
        </p:nvSpPr>
        <p:spPr>
          <a:xfrm>
            <a:off x="1500000" y="8750000"/>
            <a:ext cx="15286000" cy="10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Дві окремі угоди з одним центром: усі запити йдуть через Lviv Croissants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981456" y="1000000"/>
            <a:ext cx="16325088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5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2  </a:t>
            </a:r>
            <a:r>
              <a:rPr lang="uk-UA" sz="5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Права й обов'язки</a:t>
            </a:r>
          </a:p>
        </p:txBody>
      </p:sp>
      <p:sp>
        <p:nvSpPr>
          <p:cNvPr name="Card 3" id="3"/>
          <p:cNvSpPr/>
          <p:nvPr/>
        </p:nvSpPr>
        <p:spPr>
          <a:xfrm>
            <a:off x="12192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4" id="4"/>
          <p:cNvSpPr txBox="true"/>
          <p:nvPr/>
        </p:nvSpPr>
        <p:spPr>
          <a:xfrm>
            <a:off x="15192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1: інвестор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5192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Обов'язок: профінансувати свою частину вкладень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Обов'язок: оренда, ліцензії та дозволи щодо приміщення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Право: частка прибутку і звіти про результати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Право: розглядати запити на дофінансування й вагомі зміни</a:t>
            </a:r>
          </a:p>
        </p:txBody>
      </p:sp>
      <p:sp>
        <p:nvSpPr>
          <p:cNvPr name="Card 6" id="6"/>
          <p:cNvSpPr/>
          <p:nvPr/>
        </p:nvSpPr>
        <p:spPr>
          <a:xfrm>
            <a:off x="92940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7" id="7"/>
          <p:cNvSpPr txBox="true"/>
          <p:nvPr/>
        </p:nvSpPr>
        <p:spPr>
          <a:xfrm>
            <a:off x="95940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2: оператор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95940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Обов'язок: профінансувати свою частину, укомплектувати команду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Обов'язок: працювати за Стандартами, вести облік в Odoo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Право: бренд, навчання, підтримка команди HQ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Право: частка прибутку за правилом розподілу</a:t>
            </a:r>
          </a:p>
        </p:txBody>
      </p:sp>
      <p:sp>
        <p:nvSpPr>
          <p:cNvPr name="Note 9" id="9"/>
          <p:cNvSpPr/>
          <p:nvPr/>
        </p:nvSpPr>
        <p:spPr>
          <a:xfrm>
            <a:off x="1219200" y="8750000"/>
            <a:ext cx="15849600" cy="100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10" id="10"/>
          <p:cNvSpPr txBox="true"/>
          <p:nvPr/>
        </p:nvSpPr>
        <p:spPr>
          <a:xfrm>
            <a:off x="1500000" y="8750000"/>
            <a:ext cx="15286000" cy="10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Повні переліки до і після відкриття: у «Зонах відповідальності»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981456" y="1000000"/>
            <a:ext cx="16325088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5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3  </a:t>
            </a:r>
            <a:r>
              <a:rPr lang="uk-UA" sz="5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Фінанси</a:t>
            </a:r>
          </a:p>
        </p:txBody>
      </p:sp>
      <p:sp>
        <p:nvSpPr>
          <p:cNvPr name="Card 3" id="3"/>
          <p:cNvSpPr/>
          <p:nvPr/>
        </p:nvSpPr>
        <p:spPr>
          <a:xfrm>
            <a:off x="12192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4" id="4"/>
          <p:cNvSpPr txBox="true"/>
          <p:nvPr/>
        </p:nvSpPr>
        <p:spPr>
          <a:xfrm>
            <a:off x="15192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1: інвестор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5192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Вклад інвестора: ~166 тис. €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Прибуток до 2 000 €: 1 000 € інвестору, решта оператору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Прибуток від 2 000 €: 50/50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Націнка за оренду 2 500–3 000 € (уточнити: разово чи щомісяця)</a:t>
            </a:r>
          </a:p>
        </p:txBody>
      </p:sp>
      <p:sp>
        <p:nvSpPr>
          <p:cNvPr name="Card 6" id="6"/>
          <p:cNvSpPr/>
          <p:nvPr/>
        </p:nvSpPr>
        <p:spPr>
          <a:xfrm>
            <a:off x="92940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7" id="7"/>
          <p:cNvSpPr txBox="true"/>
          <p:nvPr/>
        </p:nvSpPr>
        <p:spPr>
          <a:xfrm>
            <a:off x="95940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2: оператор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95940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Вклад оператора: ~65 тис. €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Франчайзеру: 3% чистого виторгу + 1% маркетинговий збір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Оператор: 50% прибутку від 2 000 €, 0–1 000 € при меншому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Порядок, строки й перерахунок виплат: до деталізації</a:t>
            </a:r>
          </a:p>
        </p:txBody>
      </p:sp>
      <p:sp>
        <p:nvSpPr>
          <p:cNvPr name="Note 9" id="9"/>
          <p:cNvSpPr/>
          <p:nvPr/>
        </p:nvSpPr>
        <p:spPr>
          <a:xfrm>
            <a:off x="1219200" y="8750000"/>
            <a:ext cx="15849600" cy="100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10" id="10"/>
          <p:cNvSpPr txBox="true"/>
          <p:nvPr/>
        </p:nvSpPr>
        <p:spPr>
          <a:xfrm>
            <a:off x="1500000" y="8750000"/>
            <a:ext cx="15286000" cy="10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Прописати, що саме вважається прибутком: від цього залежить розподіл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981456" y="1000000"/>
            <a:ext cx="16325088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5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4  </a:t>
            </a:r>
            <a:r>
              <a:rPr lang="uk-UA" sz="5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Бренд і стандарти</a:t>
            </a:r>
          </a:p>
        </p:txBody>
      </p:sp>
      <p:sp>
        <p:nvSpPr>
          <p:cNvPr name="Card 3" id="3"/>
          <p:cNvSpPr/>
          <p:nvPr/>
        </p:nvSpPr>
        <p:spPr>
          <a:xfrm>
            <a:off x="12192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4" id="4"/>
          <p:cNvSpPr txBox="true"/>
          <p:nvPr/>
        </p:nvSpPr>
        <p:spPr>
          <a:xfrm>
            <a:off x="15192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1: інвестор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5192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Інвестор не отримує прав на бренд і рецептури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Бренд на пекарні використовується лише в межах договору</a:t>
            </a:r>
          </a:p>
        </p:txBody>
      </p:sp>
      <p:sp>
        <p:nvSpPr>
          <p:cNvPr name="Card 6" id="6"/>
          <p:cNvSpPr/>
          <p:nvPr/>
        </p:nvSpPr>
        <p:spPr>
          <a:xfrm>
            <a:off x="92940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7" id="7"/>
          <p:cNvSpPr txBox="true"/>
          <p:nvPr/>
        </p:nvSpPr>
        <p:spPr>
          <a:xfrm>
            <a:off x="95940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2: оператор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95940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Ліцензія на бренд для однієї пекарні (територія й ексклюзивність: відкрито)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Стандарти Мережі: меню, дизайн, процеси, якість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Зміни меню й дизайну лише за погодженням Lviv Croissants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Навчання операційного директора й команди (~30 днів)</a:t>
            </a:r>
          </a:p>
        </p:txBody>
      </p:sp>
      <p:sp>
        <p:nvSpPr>
          <p:cNvPr name="Note 9" id="9"/>
          <p:cNvSpPr/>
          <p:nvPr/>
        </p:nvSpPr>
        <p:spPr>
          <a:xfrm>
            <a:off x="1219200" y="8750000"/>
            <a:ext cx="15849600" cy="100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10" id="10"/>
          <p:cNvSpPr txBox="true"/>
          <p:nvPr/>
        </p:nvSpPr>
        <p:spPr>
          <a:xfrm>
            <a:off x="1500000" y="8750000"/>
            <a:ext cx="15286000" cy="10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Бренд і стандарти належать Lviv Croissants, оператор лише користується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981456" y="1000000"/>
            <a:ext cx="16325088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5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5  </a:t>
            </a:r>
            <a:r>
              <a:rPr lang="uk-UA" sz="5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Звітність і контроль</a:t>
            </a:r>
          </a:p>
        </p:txBody>
      </p:sp>
      <p:sp>
        <p:nvSpPr>
          <p:cNvPr name="Card 3" id="3"/>
          <p:cNvSpPr/>
          <p:nvPr/>
        </p:nvSpPr>
        <p:spPr>
          <a:xfrm>
            <a:off x="12192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4" id="4"/>
          <p:cNvSpPr txBox="true"/>
          <p:nvPr/>
        </p:nvSpPr>
        <p:spPr>
          <a:xfrm>
            <a:off x="15192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1: інвестор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5192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Звіти про результати пекарні надходять через Lviv Croissants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Що бачить інвестор: виручка, P&amp;L, окупність (глибина деталізації: відкрито)</a:t>
            </a:r>
          </a:p>
        </p:txBody>
      </p:sp>
      <p:sp>
        <p:nvSpPr>
          <p:cNvPr name="Card 6" id="6"/>
          <p:cNvSpPr/>
          <p:nvPr/>
        </p:nvSpPr>
        <p:spPr>
          <a:xfrm>
            <a:off x="92940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7" id="7"/>
          <p:cNvSpPr txBox="true"/>
          <p:nvPr/>
        </p:nvSpPr>
        <p:spPr>
          <a:xfrm>
            <a:off x="95940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2: оператор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95940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Щомісячні P&amp;L і ABC звіти, інвентаризація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Онлайн-моніторинг продажів, облік в Odoo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Контроль Стандартів: чек-листи, фотозвіти, візити HQ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Право перевірки з боку Lviv Croissants</a:t>
            </a:r>
          </a:p>
        </p:txBody>
      </p:sp>
      <p:sp>
        <p:nvSpPr>
          <p:cNvPr name="Note 9" id="9"/>
          <p:cNvSpPr/>
          <p:nvPr/>
        </p:nvSpPr>
        <p:spPr>
          <a:xfrm>
            <a:off x="1219200" y="8750000"/>
            <a:ext cx="15849600" cy="100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10" id="10"/>
          <p:cNvSpPr txBox="true"/>
          <p:nvPr/>
        </p:nvSpPr>
        <p:spPr>
          <a:xfrm>
            <a:off x="1500000" y="8750000"/>
            <a:ext cx="15286000" cy="10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Пропозиція: єдине джерело цифр, інвестор і оператор бачать однакові дані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981456" y="1000000"/>
            <a:ext cx="16325088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5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6  </a:t>
            </a:r>
            <a:r>
              <a:rPr lang="uk-UA" sz="5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Строк і продовження</a:t>
            </a:r>
          </a:p>
        </p:txBody>
      </p:sp>
      <p:sp>
        <p:nvSpPr>
          <p:cNvPr name="Card 3" id="3"/>
          <p:cNvSpPr/>
          <p:nvPr/>
        </p:nvSpPr>
        <p:spPr>
          <a:xfrm>
            <a:off x="12192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4" id="4"/>
          <p:cNvSpPr txBox="true"/>
          <p:nvPr/>
        </p:nvSpPr>
        <p:spPr>
          <a:xfrm>
            <a:off x="15192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1: інвестор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5192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Строк має покривати окупність інвестора (3–3,5 роки)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Умови продовження: відкрито</a:t>
            </a:r>
          </a:p>
        </p:txBody>
      </p:sp>
      <p:sp>
        <p:nvSpPr>
          <p:cNvPr name="Card 6" id="6"/>
          <p:cNvSpPr/>
          <p:nvPr/>
        </p:nvSpPr>
        <p:spPr>
          <a:xfrm>
            <a:off x="92940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7" id="7"/>
          <p:cNvSpPr txBox="true"/>
          <p:nvPr/>
        </p:nvSpPr>
        <p:spPr>
          <a:xfrm>
            <a:off x="95940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2: оператор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95940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Строк франшизи: відкрито, пов'язати зі строком оренди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Умови продовження й перегляду частки прибутку: відкрито</a:t>
            </a:r>
          </a:p>
        </p:txBody>
      </p:sp>
      <p:sp>
        <p:nvSpPr>
          <p:cNvPr name="Note 9" id="9"/>
          <p:cNvSpPr/>
          <p:nvPr/>
        </p:nvSpPr>
        <p:spPr>
          <a:xfrm>
            <a:off x="1219200" y="8750000"/>
            <a:ext cx="15849600" cy="100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10" id="10"/>
          <p:cNvSpPr txBox="true"/>
          <p:nvPr/>
        </p:nvSpPr>
        <p:spPr>
          <a:xfrm>
            <a:off x="1500000" y="8750000"/>
            <a:ext cx="15286000" cy="10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Строки обох договорів і оренди приміщення мають узгоджуватися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981456" y="1000000"/>
            <a:ext cx="16325088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5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7  </a:t>
            </a:r>
            <a:r>
              <a:rPr lang="uk-UA" sz="5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Зміни та вихід</a:t>
            </a:r>
          </a:p>
        </p:txBody>
      </p:sp>
      <p:sp>
        <p:nvSpPr>
          <p:cNvPr name="Card 3" id="3"/>
          <p:cNvSpPr/>
          <p:nvPr/>
        </p:nvSpPr>
        <p:spPr>
          <a:xfrm>
            <a:off x="12192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4" id="4"/>
          <p:cNvSpPr txBox="true"/>
          <p:nvPr/>
        </p:nvSpPr>
        <p:spPr>
          <a:xfrm>
            <a:off x="15192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1: інвестор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5192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Вихід інвестора: відкрито (викуп частки, новий інвестор?)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Умови зміни й передачі прав третій особі: відкрито</a:t>
            </a:r>
          </a:p>
        </p:txBody>
      </p:sp>
      <p:sp>
        <p:nvSpPr>
          <p:cNvPr name="Card 6" id="6"/>
          <p:cNvSpPr/>
          <p:nvPr/>
        </p:nvSpPr>
        <p:spPr>
          <a:xfrm>
            <a:off x="92940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7" id="7"/>
          <p:cNvSpPr txBox="true"/>
          <p:nvPr/>
        </p:nvSpPr>
        <p:spPr>
          <a:xfrm>
            <a:off x="95940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2: оператор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95940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Вихід оператора: інвестор викуповує його обладнання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Ціна викупу знижується з 90% до 50% вартості за 5 років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Заміна оператора: Lviv Croissants підбирає нового (пропозиція)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Розірвання за порушення Стандартів: умови й строки виправлення: відкрито</a:t>
            </a:r>
          </a:p>
        </p:txBody>
      </p:sp>
      <p:sp>
        <p:nvSpPr>
          <p:cNvPr name="Note 9" id="9"/>
          <p:cNvSpPr/>
          <p:nvPr/>
        </p:nvSpPr>
        <p:spPr>
          <a:xfrm>
            <a:off x="1219200" y="8750000"/>
            <a:ext cx="15849600" cy="100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10" id="10"/>
          <p:cNvSpPr txBox="true"/>
          <p:nvPr/>
        </p:nvSpPr>
        <p:spPr>
          <a:xfrm>
            <a:off x="1500000" y="8750000"/>
            <a:ext cx="15286000" cy="10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Вихід одного партнера не зупиняє договір іншого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981456" y="1000000"/>
            <a:ext cx="16325088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5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8  </a:t>
            </a:r>
            <a:r>
              <a:rPr lang="uk-UA" sz="5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Відповідальність</a:t>
            </a:r>
          </a:p>
        </p:txBody>
      </p:sp>
      <p:sp>
        <p:nvSpPr>
          <p:cNvPr name="Card 3" id="3"/>
          <p:cNvSpPr/>
          <p:nvPr/>
        </p:nvSpPr>
        <p:spPr>
          <a:xfrm>
            <a:off x="12192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4" id="4"/>
          <p:cNvSpPr txBox="true"/>
          <p:nvPr/>
        </p:nvSpPr>
        <p:spPr>
          <a:xfrm>
            <a:off x="15192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1: інвестор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5192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Інвестор відповідає за виконання своїх фінансових обов'язків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Санкції за прострочення вкладень: відкрито</a:t>
            </a:r>
          </a:p>
        </p:txBody>
      </p:sp>
      <p:sp>
        <p:nvSpPr>
          <p:cNvPr name="Card 6" id="6"/>
          <p:cNvSpPr/>
          <p:nvPr/>
        </p:nvSpPr>
        <p:spPr>
          <a:xfrm>
            <a:off x="92940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7" id="7"/>
          <p:cNvSpPr txBox="true"/>
          <p:nvPr/>
        </p:nvSpPr>
        <p:spPr>
          <a:xfrm>
            <a:off x="9594000" y="2450000"/>
            <a:ext cx="7174800" cy="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uk-UA" sz="28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Договір 2: оператор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9594000" y="3350000"/>
            <a:ext cx="7174800" cy="4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Оператор відповідає за операції: персонал, якість, безпеку продукції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Lviv Croissants: за якість Стандартів і навчання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Санкції за порушення Стандартів, страхування: відкрито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— Спори: право, місце розгляду, арбітраж: до юриста</a:t>
            </a:r>
          </a:p>
        </p:txBody>
      </p:sp>
      <p:sp>
        <p:nvSpPr>
          <p:cNvPr name="Note 9" id="9"/>
          <p:cNvSpPr/>
          <p:nvPr/>
        </p:nvSpPr>
        <p:spPr>
          <a:xfrm>
            <a:off x="1219200" y="8750000"/>
            <a:ext cx="15849600" cy="100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10" id="10"/>
          <p:cNvSpPr txBox="true"/>
          <p:nvPr/>
        </p:nvSpPr>
        <p:spPr>
          <a:xfrm>
            <a:off x="1500000" y="8750000"/>
            <a:ext cx="15286000" cy="10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Кожен відповідає за свою зону; межі прописати в кожному договорі окремо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>
      <p:bgPr>
        <a:solidFill>
          <a:srgbClr val="0E4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981456" y="1000000"/>
            <a:ext cx="16325088" cy="9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5400" b="1">
                <a:solidFill>
                  <a:srgbClr val="FBFBF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Питання до </a:t>
            </a:r>
            <a:r>
              <a:rPr lang="uk-UA" sz="5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юриста</a:t>
            </a:r>
          </a:p>
        </p:txBody>
      </p:sp>
      <p:sp>
        <p:nvSpPr>
          <p:cNvPr name="Card 3" id="3"/>
          <p:cNvSpPr/>
          <p:nvPr/>
        </p:nvSpPr>
        <p:spPr>
          <a:xfrm>
            <a:off x="12192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4" id="4"/>
          <p:cNvSpPr txBox="true"/>
          <p:nvPr/>
        </p:nvSpPr>
        <p:spPr>
          <a:xfrm>
            <a:off x="1519200" y="2450000"/>
            <a:ext cx="7174800" cy="5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lang="uk-UA" sz="2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1.  </a:t>
            </a: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Країна запуску: правила розкриття інформації для франшиз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lang="uk-UA" sz="2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2.  </a:t>
            </a: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Правова природа договору 1: інвестиція, партнерство чи позика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lang="uk-UA" sz="2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3.  </a:t>
            </a: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Ризик, що оператора визнають працівником або учасником спільного підприємства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lang="uk-UA" sz="2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4.  </a:t>
            </a: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Конкурентні обмеження: неконкуренція, територія, ціни (регламент ЄС про вертикальні угоди)</a:t>
            </a:r>
          </a:p>
        </p:txBody>
      </p:sp>
      <p:sp>
        <p:nvSpPr>
          <p:cNvPr name="Card 5" id="5"/>
          <p:cNvSpPr/>
          <p:nvPr/>
        </p:nvSpPr>
        <p:spPr>
          <a:xfrm>
            <a:off x="9294000" y="2200000"/>
            <a:ext cx="7774800" cy="6200000"/>
          </a:xfrm>
          <a:prstGeom prst="roundRect">
            <a:avLst>
              <a:gd name="adj" fmla="val 7000"/>
            </a:avLst>
          </a:prstGeom>
          <a:solidFill>
            <a:srgbClr val="135F45"/>
          </a:solidFill>
        </p:spPr>
      </p:sp>
      <p:sp>
        <p:nvSpPr>
          <p:cNvPr name="TextBox 6" id="6"/>
          <p:cNvSpPr txBox="true"/>
          <p:nvPr/>
        </p:nvSpPr>
        <p:spPr>
          <a:xfrm>
            <a:off x="9594000" y="2450000"/>
            <a:ext cx="7174800" cy="5700000"/>
          </a:xfrm>
          <a:prstGeom prst="rect">
            <a:avLst/>
          </a:prstGeom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lang="uk-UA" sz="2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5.  </a:t>
            </a: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Податки: роялті й виплати між Україною та ЄС, ПДВ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lang="uk-UA" sz="2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6.  </a:t>
            </a: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Торгова марка: реєстрація в країні запуску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lang="uk-UA" sz="2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7.  </a:t>
            </a: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Персональні дані (GDPR): персонал, гості, облік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lang="uk-UA" sz="2400" b="1">
                <a:solidFill>
                  <a:srgbClr val="F4B6C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8.  </a:t>
            </a:r>
            <a:r>
              <a:rPr lang="uk-UA" sz="2400" b="0">
                <a:solidFill>
                  <a:srgbClr val="FBFBF8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Право й юрисдикція, арбітраж; договір оренди: хто орендар</a:t>
            </a:r>
          </a:p>
        </p:txBody>
      </p:sp>
      <p:sp>
        <p:nvSpPr>
          <p:cNvPr name="Note 7" id="7"/>
          <p:cNvSpPr/>
          <p:nvPr/>
        </p:nvSpPr>
        <p:spPr>
          <a:xfrm>
            <a:off x="1219200" y="8750000"/>
            <a:ext cx="15849600" cy="1000000"/>
          </a:xfrm>
          <a:prstGeom prst="roundRect">
            <a:avLst>
              <a:gd name="adj" fmla="val 7000"/>
            </a:avLst>
          </a:prstGeom>
          <a:solidFill>
            <a:srgbClr val="F4B6C8"/>
          </a:solidFill>
        </p:spPr>
      </p:sp>
      <p:sp>
        <p:nvSpPr>
          <p:cNvPr name="TextBox 8" id="8"/>
          <p:cNvSpPr txBox="true"/>
          <p:nvPr/>
        </p:nvSpPr>
        <p:spPr>
          <a:xfrm>
            <a:off x="1500000" y="8750000"/>
            <a:ext cx="15286000" cy="1000000"/>
          </a:xfrm>
          <a:prstGeom prst="rect">
            <a:avLst/>
          </a:prstGeom>
        </p:spPr>
        <p:txBody>
          <a:bodyPr anchor="ctr" wrap="square" rtlCol="false" tIns="0" lIns="0" bIns="0" r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uk-UA" sz="2600" b="1">
                <a:solidFill>
                  <a:srgbClr val="0E4D38"/>
                </a:solidFill>
                <a:latin typeface="Fira Sans Extra Condensed Bold"/>
                <a:ea typeface="Fira Sans Extra Condensed Bold"/>
                <a:cs typeface="Fira Sans Extra Condensed Bold"/>
                <a:sym typeface="Fira Sans Extra Condensed Bold"/>
              </a:rPr>
              <a:t>Це перелік тем, а не висновки: відповісти може лише юрист країни запуску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DAHXNssl1TQ</dc:identifier>
  <dcterms:modified xsi:type="dcterms:W3CDTF">2011-08-01T06:04:30Z</dcterms:modified>
  <cp:revision>1</cp:revision>
  <dc:title>Управлінська франшиза</dc:title>
</cp:coreProperties>
</file>