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8288000" cy="10287000"/>
  <p:notesSz cx="6858000" cy="9144000"/>
  <p:embeddedFontLst>
    <p:embeddedFont>
      <p:font typeface="Fira Sans Extra Condensed Bold" charset="1" panose="020B0803050000020004"/>
      <p:regular r:id="rId33"/>
    </p:embeddedFont>
    <p:embeddedFont>
      <p:font typeface="Fira Sans Extra Condensed" charset="1" panose="020B0603050000020004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  <Relationship Id="rId35" Type="http://schemas.openxmlformats.org/officeDocument/2006/relationships/slide" Target="slides/slide28.xml"/>
  <Relationship Id="rId36" Type="http://schemas.openxmlformats.org/officeDocument/2006/relationships/slide" Target="slides/slide29.xml"/>
  <Relationship Id="rId37" Type="http://schemas.openxmlformats.org/officeDocument/2006/relationships/slide" Target="slides/slide30.xml"/>
  <Relationship Id="rId38" Type="http://schemas.openxmlformats.org/officeDocument/2006/relationships/slide" Target="slides/slide31.xml"/>
  <Relationship Id="rId39" Type="http://schemas.openxmlformats.org/officeDocument/2006/relationships/slide" Target="slides/slide32.xml"/>
  <Relationship Id="rId40" Type="http://schemas.openxmlformats.org/officeDocument/2006/relationships/slide" Target="slides/slide33.xml"/>
  <Relationship Id="rId41" Type="http://schemas.openxmlformats.org/officeDocument/2006/relationships/slide" Target="slides/slide34.xml"/>
  <Relationship Id="rId42" Type="http://schemas.openxmlformats.org/officeDocument/2006/relationships/slide" Target="slides/slide35.xml"/>
  <Relationship Id="rId43" Type="http://schemas.openxmlformats.org/officeDocument/2006/relationships/slide" Target="slides/slide36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4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044806" y="5878571"/>
            <a:ext cx="3203299" cy="915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1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2766287" y="5736559"/>
            <a:ext cx="12755425" cy="3052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1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Дослідження франшиз і підбір найреальнішого для </a:t>
            </a:r>
            <a:r>
              <a:rPr lang="en-US" sz="5827" b="true">
                <a:solidFill>
                  <a:srgbClr val="F5B2C4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 </a:t>
            </a: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аналогу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80931" y="462877"/>
            <a:ext cx="10691572" cy="1234440"/>
            <a:chOff x="0" y="0"/>
            <a:chExt cx="1425543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255431" cy="1645920"/>
            </a:xfrm>
            <a:custGeom>
              <a:avLst/>
              <a:gdLst/>
              <a:ahLst/>
              <a:cxnLst/>
              <a:rect r="r" b="b" t="t" l="l"/>
              <a:pathLst>
                <a:path h="1645920" w="14255431">
                  <a:moveTo>
                    <a:pt x="0" y="0"/>
                  </a:moveTo>
                  <a:lnTo>
                    <a:pt x="14255431" y="0"/>
                  </a:lnTo>
                  <a:lnTo>
                    <a:pt x="14255431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-53945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425543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Операційна франшиза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CHICK-FIL-A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033772" y="1988820"/>
            <a:ext cx="8229600" cy="1645920"/>
            <a:chOff x="0" y="0"/>
            <a:chExt cx="10972800" cy="21945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9728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10972800">
                  <a:moveTo>
                    <a:pt x="0" y="263398"/>
                  </a:moveTo>
                  <a:cubicBezTo>
                    <a:pt x="0" y="117856"/>
                    <a:pt x="117856" y="0"/>
                    <a:pt x="263398" y="0"/>
                  </a:cubicBezTo>
                  <a:lnTo>
                    <a:pt x="10709402" y="0"/>
                  </a:lnTo>
                  <a:cubicBezTo>
                    <a:pt x="10854944" y="0"/>
                    <a:pt x="10972800" y="117856"/>
                    <a:pt x="10972800" y="263398"/>
                  </a:cubicBezTo>
                  <a:lnTo>
                    <a:pt x="10972800" y="1931162"/>
                  </a:lnTo>
                  <a:cubicBezTo>
                    <a:pt x="10972800" y="2076577"/>
                    <a:pt x="10854944" y="2194560"/>
                    <a:pt x="10709402" y="2194560"/>
                  </a:cubicBezTo>
                  <a:lnTo>
                    <a:pt x="263398" y="2194560"/>
                  </a:lnTo>
                  <a:cubicBezTo>
                    <a:pt x="117856" y="2194560"/>
                    <a:pt x="0" y="2076704"/>
                    <a:pt x="0" y="1931162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033772" y="1988820"/>
            <a:ext cx="8229600" cy="1645920"/>
            <a:chOff x="0" y="0"/>
            <a:chExt cx="10972800" cy="21945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728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7425" r="0" b="-4742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097280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sz="36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Chick-fil-A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 і власник приміщення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стандарти, навчання, меню, постачання,  приміщення тощо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 Інвестує: CAPEX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6199632" y="5006340"/>
            <a:ext cx="5897880" cy="1508760"/>
            <a:chOff x="0" y="0"/>
            <a:chExt cx="7863840" cy="20116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Оператор-франчайзі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Керує рестораном і командою, працює на ньому особисто по 60-70 годин на тиждень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flipV="true">
            <a:off x="9148572" y="3634740"/>
            <a:ext cx="0" cy="137160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6" id="16"/>
          <p:cNvSpPr txBox="true"/>
          <p:nvPr/>
        </p:nvSpPr>
        <p:spPr>
          <a:xfrm rot="0">
            <a:off x="5033772" y="4056697"/>
            <a:ext cx="3744468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Одноразова сплата:</a:t>
            </a:r>
          </a:p>
          <a:p>
            <a:pPr algn="r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Вступний внесок - $10 000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532620" y="3899535"/>
            <a:ext cx="3730752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Щомісячна сплата:</a:t>
            </a:r>
          </a:p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15% від виторгу + 6% від виторгу за оренду + 50% від прибутку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Гості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 flipH="true" flipV="true">
            <a:off x="9100250" y="6582539"/>
            <a:ext cx="48322" cy="412621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4" id="24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 отримує: 50% чистого прибутку  (еквівалентно 5–7% виторгу - $250 000 НА РІК)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 не володіє закладом та не отримає грошовї компенсації у разі звільнення з посади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7-Eleven має подібну модель франшизи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962036" y="322898"/>
            <a:ext cx="8363929" cy="1097280"/>
            <a:chOff x="0" y="0"/>
            <a:chExt cx="11151905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151905" cy="1463040"/>
            </a:xfrm>
            <a:custGeom>
              <a:avLst/>
              <a:gdLst/>
              <a:ahLst/>
              <a:cxnLst/>
              <a:rect r="r" b="b" t="t" l="l"/>
              <a:pathLst>
                <a:path h="1463040" w="11151905">
                  <a:moveTo>
                    <a:pt x="0" y="0"/>
                  </a:moveTo>
                  <a:lnTo>
                    <a:pt x="11151905" y="0"/>
                  </a:lnTo>
                  <a:lnTo>
                    <a:pt x="11151905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-96787" b="-242275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1151905" cy="14725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Франшиза за бізнес-форматом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CVG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5160" y="1896427"/>
            <a:ext cx="6356985" cy="1556385"/>
            <a:chOff x="0" y="0"/>
            <a:chExt cx="8475980" cy="20751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475980" cy="2075180"/>
            </a:xfrm>
            <a:custGeom>
              <a:avLst/>
              <a:gdLst/>
              <a:ahLst/>
              <a:cxnLst/>
              <a:rect r="r" b="b" t="t" l="l"/>
              <a:pathLst>
                <a:path h="2075180" w="8475980">
                  <a:moveTo>
                    <a:pt x="0" y="282956"/>
                  </a:moveTo>
                  <a:cubicBezTo>
                    <a:pt x="0" y="126746"/>
                    <a:pt x="126746" y="0"/>
                    <a:pt x="282956" y="0"/>
                  </a:cubicBezTo>
                  <a:lnTo>
                    <a:pt x="8193024" y="0"/>
                  </a:lnTo>
                  <a:cubicBezTo>
                    <a:pt x="8349361" y="0"/>
                    <a:pt x="8475980" y="126746"/>
                    <a:pt x="8475980" y="282956"/>
                  </a:cubicBezTo>
                  <a:lnTo>
                    <a:pt x="8475980" y="1792224"/>
                  </a:lnTo>
                  <a:cubicBezTo>
                    <a:pt x="8475980" y="1948561"/>
                    <a:pt x="8349234" y="2075180"/>
                    <a:pt x="8193024" y="2075180"/>
                  </a:cubicBezTo>
                  <a:lnTo>
                    <a:pt x="282956" y="2075180"/>
                  </a:lnTo>
                  <a:cubicBezTo>
                    <a:pt x="126746" y="2075180"/>
                    <a:pt x="0" y="1948434"/>
                    <a:pt x="0" y="1792224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918972" y="1920240"/>
            <a:ext cx="6309360" cy="1640243"/>
            <a:chOff x="0" y="0"/>
            <a:chExt cx="8412480" cy="218699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12480" cy="2186991"/>
            </a:xfrm>
            <a:custGeom>
              <a:avLst/>
              <a:gdLst/>
              <a:ahLst/>
              <a:cxnLst/>
              <a:rect r="r" b="b" t="t" l="l"/>
              <a:pathLst>
                <a:path h="2186991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2186991"/>
                  </a:lnTo>
                  <a:lnTo>
                    <a:pt x="0" y="218699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959" r="0" b="-2094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8412480" cy="21965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Клієнт-інвестор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Власник об’єкта 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Не веде проєкт а тільки дає гроші на будівництво</a:t>
              </a:r>
            </a:p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031284" y="1896427"/>
            <a:ext cx="6356985" cy="1556385"/>
            <a:chOff x="0" y="0"/>
            <a:chExt cx="8475980" cy="20751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75980" cy="2075180"/>
            </a:xfrm>
            <a:custGeom>
              <a:avLst/>
              <a:gdLst/>
              <a:ahLst/>
              <a:cxnLst/>
              <a:rect r="r" b="b" t="t" l="l"/>
              <a:pathLst>
                <a:path h="2075180" w="8475980">
                  <a:moveTo>
                    <a:pt x="0" y="282956"/>
                  </a:moveTo>
                  <a:cubicBezTo>
                    <a:pt x="0" y="126746"/>
                    <a:pt x="126746" y="0"/>
                    <a:pt x="282956" y="0"/>
                  </a:cubicBezTo>
                  <a:lnTo>
                    <a:pt x="8193024" y="0"/>
                  </a:lnTo>
                  <a:cubicBezTo>
                    <a:pt x="8349361" y="0"/>
                    <a:pt x="8475980" y="126746"/>
                    <a:pt x="8475980" y="282956"/>
                  </a:cubicBezTo>
                  <a:lnTo>
                    <a:pt x="8475980" y="1792224"/>
                  </a:lnTo>
                  <a:cubicBezTo>
                    <a:pt x="8475980" y="1948561"/>
                    <a:pt x="8349234" y="2075180"/>
                    <a:pt x="8193024" y="2075180"/>
                  </a:cubicBezTo>
                  <a:lnTo>
                    <a:pt x="282956" y="2075180"/>
                  </a:lnTo>
                  <a:cubicBezTo>
                    <a:pt x="126746" y="2075180"/>
                    <a:pt x="0" y="1948434"/>
                    <a:pt x="0" y="1792224"/>
                  </a:cubicBezTo>
                  <a:close/>
                </a:path>
              </a:pathLst>
            </a:custGeom>
            <a:solidFill>
              <a:srgbClr val="F5B5C8"/>
            </a:solidFill>
            <a:ln w="47625" cap="sq">
              <a:solidFill>
                <a:srgbClr val="F5B5C8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1055096" y="1920240"/>
            <a:ext cx="6309360" cy="1508760"/>
            <a:chOff x="0" y="0"/>
            <a:chExt cx="8412480" cy="20116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4124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82" r="0" b="-31482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84124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CVG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</a:t>
              </a: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: бренд, стандарти, підтримка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Закріплює за франчайзі окрему територію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5970080" y="4228147"/>
            <a:ext cx="6356985" cy="1556385"/>
            <a:chOff x="0" y="0"/>
            <a:chExt cx="8475980" cy="20751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475980" cy="2075180"/>
            </a:xfrm>
            <a:custGeom>
              <a:avLst/>
              <a:gdLst/>
              <a:ahLst/>
              <a:cxnLst/>
              <a:rect r="r" b="b" t="t" l="l"/>
              <a:pathLst>
                <a:path h="2075180" w="8475980">
                  <a:moveTo>
                    <a:pt x="0" y="282956"/>
                  </a:moveTo>
                  <a:cubicBezTo>
                    <a:pt x="0" y="126746"/>
                    <a:pt x="126746" y="0"/>
                    <a:pt x="282956" y="0"/>
                  </a:cubicBezTo>
                  <a:lnTo>
                    <a:pt x="8193024" y="0"/>
                  </a:lnTo>
                  <a:cubicBezTo>
                    <a:pt x="8349361" y="0"/>
                    <a:pt x="8475980" y="126746"/>
                    <a:pt x="8475980" y="282956"/>
                  </a:cubicBezTo>
                  <a:lnTo>
                    <a:pt x="8475980" y="1792224"/>
                  </a:lnTo>
                  <a:cubicBezTo>
                    <a:pt x="8475980" y="1948561"/>
                    <a:pt x="8349234" y="2075180"/>
                    <a:pt x="8193024" y="2075180"/>
                  </a:cubicBezTo>
                  <a:lnTo>
                    <a:pt x="282956" y="2075180"/>
                  </a:lnTo>
                  <a:cubicBezTo>
                    <a:pt x="126746" y="2075180"/>
                    <a:pt x="0" y="1948434"/>
                    <a:pt x="0" y="1792224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5993892" y="4251960"/>
            <a:ext cx="6309360" cy="1508760"/>
            <a:chOff x="0" y="0"/>
            <a:chExt cx="8412480" cy="2011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4124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82" r="0" b="-31482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84124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Франчайзі CVG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Самостійно шукає клієнтів та веде їх під ключ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Сплачує встуний внесок франчайзеру : $35 тис.-$65 тис.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5970080" y="6628447"/>
            <a:ext cx="6356985" cy="1419225"/>
            <a:chOff x="0" y="0"/>
            <a:chExt cx="8475980" cy="18923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475980" cy="1892300"/>
            </a:xfrm>
            <a:custGeom>
              <a:avLst/>
              <a:gdLst/>
              <a:ahLst/>
              <a:cxnLst/>
              <a:rect r="r" b="b" t="t" l="l"/>
              <a:pathLst>
                <a:path h="1892300" w="8475980">
                  <a:moveTo>
                    <a:pt x="0" y="283845"/>
                  </a:moveTo>
                  <a:cubicBezTo>
                    <a:pt x="0" y="127127"/>
                    <a:pt x="127127" y="0"/>
                    <a:pt x="283845" y="0"/>
                  </a:cubicBezTo>
                  <a:lnTo>
                    <a:pt x="8192135" y="0"/>
                  </a:lnTo>
                  <a:cubicBezTo>
                    <a:pt x="8348853" y="0"/>
                    <a:pt x="8475980" y="127127"/>
                    <a:pt x="8475980" y="283845"/>
                  </a:cubicBezTo>
                  <a:lnTo>
                    <a:pt x="8475980" y="1608455"/>
                  </a:lnTo>
                  <a:cubicBezTo>
                    <a:pt x="8475980" y="1765173"/>
                    <a:pt x="8348853" y="1892300"/>
                    <a:pt x="8192135" y="1892300"/>
                  </a:cubicBezTo>
                  <a:lnTo>
                    <a:pt x="283845" y="1892300"/>
                  </a:lnTo>
                  <a:cubicBezTo>
                    <a:pt x="127127" y="1892300"/>
                    <a:pt x="0" y="1765173"/>
                    <a:pt x="0" y="1608455"/>
                  </a:cubicBezTo>
                  <a:close/>
                </a:path>
              </a:pathLst>
            </a:custGeom>
            <a:solidFill>
              <a:srgbClr val="0B4D36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993892" y="6652260"/>
            <a:ext cx="6309360" cy="1371600"/>
            <a:chOff x="0" y="0"/>
            <a:chExt cx="8412480" cy="1828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631" r="0" b="-3963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8412480" cy="1838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Підрядники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Будують об’єкт; підпорядковуються Франчайзі CVG</a:t>
              </a:r>
            </a:p>
          </p:txBody>
        </p:sp>
      </p:grpSp>
      <p:sp>
        <p:nvSpPr>
          <p:cNvPr name="AutoShape 25" id="25"/>
          <p:cNvSpPr/>
          <p:nvPr/>
        </p:nvSpPr>
        <p:spPr>
          <a:xfrm rot="980519">
            <a:off x="3987336" y="3826192"/>
            <a:ext cx="3094139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 rot="-984840">
            <a:off x="11215392" y="3826192"/>
            <a:ext cx="3080976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7" id="27"/>
          <p:cNvSpPr/>
          <p:nvPr/>
        </p:nvSpPr>
        <p:spPr>
          <a:xfrm>
            <a:off x="9148572" y="5760720"/>
            <a:ext cx="0" cy="89154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8" id="28"/>
          <p:cNvGrpSpPr/>
          <p:nvPr/>
        </p:nvGrpSpPr>
        <p:grpSpPr>
          <a:xfrm rot="0">
            <a:off x="909447" y="8494395"/>
            <a:ext cx="16478250" cy="1322070"/>
            <a:chOff x="0" y="0"/>
            <a:chExt cx="21971000" cy="1762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71000" cy="1762887"/>
            </a:xfrm>
            <a:custGeom>
              <a:avLst/>
              <a:gdLst/>
              <a:ahLst/>
              <a:cxnLst/>
              <a:rect r="r" b="b" t="t" l="l"/>
              <a:pathLst>
                <a:path h="1762887" w="21971000">
                  <a:moveTo>
                    <a:pt x="0" y="278384"/>
                  </a:moveTo>
                  <a:cubicBezTo>
                    <a:pt x="0" y="124587"/>
                    <a:pt x="124587" y="0"/>
                    <a:pt x="278384" y="0"/>
                  </a:cubicBezTo>
                  <a:lnTo>
                    <a:pt x="21692615" y="0"/>
                  </a:lnTo>
                  <a:cubicBezTo>
                    <a:pt x="21846285" y="0"/>
                    <a:pt x="21971000" y="124587"/>
                    <a:pt x="21971000" y="278384"/>
                  </a:cubicBezTo>
                  <a:lnTo>
                    <a:pt x="21971000" y="1484503"/>
                  </a:lnTo>
                  <a:cubicBezTo>
                    <a:pt x="21971000" y="1638173"/>
                    <a:pt x="21846412" y="1762887"/>
                    <a:pt x="21692615" y="1762887"/>
                  </a:cubicBezTo>
                  <a:lnTo>
                    <a:pt x="278384" y="1762887"/>
                  </a:lnTo>
                  <a:cubicBezTo>
                    <a:pt x="124587" y="1762760"/>
                    <a:pt x="0" y="1638173"/>
                    <a:pt x="0" y="1484376"/>
                  </a:cubicBezTo>
                  <a:close/>
                </a:path>
              </a:pathLst>
            </a:custGeom>
            <a:solidFill>
              <a:srgbClr val="F5B5C8"/>
            </a:solidFill>
            <a:ln w="19050" cap="sq">
              <a:solidFill>
                <a:srgbClr val="F5B5C8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918972" y="8503920"/>
            <a:ext cx="16459200" cy="1303020"/>
            <a:chOff x="0" y="0"/>
            <a:chExt cx="21945600" cy="17373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1737360"/>
            </a:xfrm>
            <a:custGeom>
              <a:avLst/>
              <a:gdLst/>
              <a:ahLst/>
              <a:cxnLst/>
              <a:rect r="r" b="b" t="t" l="l"/>
              <a:pathLst>
                <a:path h="1737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6126" r="0" b="-196126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21945600" cy="17468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Франчайзі заробляє за надання послуг клієнтам-інвесторам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203919" y="354745"/>
            <a:ext cx="7999620" cy="1234440"/>
            <a:chOff x="0" y="0"/>
            <a:chExt cx="1066616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666161" cy="1645920"/>
            </a:xfrm>
            <a:custGeom>
              <a:avLst/>
              <a:gdLst/>
              <a:ahLst/>
              <a:cxnLst/>
              <a:rect r="r" b="b" t="t" l="l"/>
              <a:pathLst>
                <a:path h="1645920" w="10666161">
                  <a:moveTo>
                    <a:pt x="0" y="0"/>
                  </a:moveTo>
                  <a:lnTo>
                    <a:pt x="10666161" y="0"/>
                  </a:lnTo>
                  <a:lnTo>
                    <a:pt x="10666161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4130" r="-109178" b="-21413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66616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УПРАВЛІННЯ ВІД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IWG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8972" y="1988820"/>
            <a:ext cx="5897880" cy="1508760"/>
            <a:chOff x="0" y="0"/>
            <a:chExt cx="7863840" cy="20116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241427"/>
                  </a:moveTo>
                  <a:cubicBezTo>
                    <a:pt x="0" y="108077"/>
                    <a:pt x="108077" y="0"/>
                    <a:pt x="241427" y="0"/>
                  </a:cubicBezTo>
                  <a:lnTo>
                    <a:pt x="7622413" y="0"/>
                  </a:lnTo>
                  <a:cubicBezTo>
                    <a:pt x="7755763" y="0"/>
                    <a:pt x="7863840" y="108077"/>
                    <a:pt x="7863840" y="241427"/>
                  </a:cubicBezTo>
                  <a:lnTo>
                    <a:pt x="7863840" y="1770253"/>
                  </a:lnTo>
                  <a:cubicBezTo>
                    <a:pt x="7863840" y="1903603"/>
                    <a:pt x="7755763" y="2011680"/>
                    <a:pt x="7622413" y="2011680"/>
                  </a:cubicBezTo>
                  <a:lnTo>
                    <a:pt x="241427" y="2011680"/>
                  </a:lnTo>
                  <a:cubicBezTo>
                    <a:pt x="108077" y="2011680"/>
                    <a:pt x="0" y="1903603"/>
                    <a:pt x="0" y="1770253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8972" y="1988820"/>
            <a:ext cx="5897880" cy="1508760"/>
            <a:chOff x="0" y="0"/>
            <a:chExt cx="7863840" cy="20116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IWG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Керує центром: бренд, продажі, персонал, системи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456480" y="1965008"/>
            <a:ext cx="5945505" cy="1556385"/>
            <a:chOff x="0" y="0"/>
            <a:chExt cx="7927340" cy="20751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434" r="0" b="-24434"/>
              </a:stretch>
            </a:blipFill>
            <a:ln w="47625" cap="sq">
              <a:solidFill>
                <a:srgbClr val="F5B5C8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1480292" y="1988820"/>
            <a:ext cx="5897880" cy="1508760"/>
            <a:chOff x="0" y="0"/>
            <a:chExt cx="7863840" cy="20116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Партнер-інвестор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</a:t>
              </a: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інансує Capex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6199632" y="5006340"/>
            <a:ext cx="5897880" cy="1508760"/>
            <a:chOff x="0" y="0"/>
            <a:chExt cx="7863840" cy="2011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Коворкінг-центр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Належить інвестору</a:t>
              </a:r>
            </a:p>
          </p:txBody>
        </p:sp>
      </p:grpSp>
      <p:sp>
        <p:nvSpPr>
          <p:cNvPr name="AutoShape 20" id="20"/>
          <p:cNvSpPr/>
          <p:nvPr/>
        </p:nvSpPr>
        <p:spPr>
          <a:xfrm rot="-9336660">
            <a:off x="4340362" y="4251388"/>
            <a:ext cx="3526517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1" id="21"/>
          <p:cNvSpPr/>
          <p:nvPr/>
        </p:nvSpPr>
        <p:spPr>
          <a:xfrm rot="-1463340">
            <a:off x="10443982" y="4251388"/>
            <a:ext cx="3526517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2" id="22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743700" y="6893066"/>
            <a:ext cx="4800600" cy="1232887"/>
            <a:chOff x="0" y="0"/>
            <a:chExt cx="6400800" cy="164385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00800" cy="1643850"/>
            </a:xfrm>
            <a:custGeom>
              <a:avLst/>
              <a:gdLst/>
              <a:ahLst/>
              <a:cxnLst/>
              <a:rect r="r" b="b" t="t" l="l"/>
              <a:pathLst>
                <a:path h="164385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643850"/>
                  </a:lnTo>
                  <a:lnTo>
                    <a:pt x="0" y="16438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4151" r="0" b="-1758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6400800" cy="1653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Клієнти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Компанії й фрілансери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 flipH="true" flipV="true">
            <a:off x="9148572" y="6538913"/>
            <a:ext cx="121321" cy="391257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8" id="28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IWG отримує плату за управління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Партнер отримує чистий прибуток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КЕРОВАНА МОДЕЛЬ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VENTAS</a:t>
              </a: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  (Atria, Sunrise)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9963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33679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Ventas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Інвестор-власник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Володіє 553 будинками, може розірвати договір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 rot="-5262540">
            <a:off x="8433626" y="4265104"/>
            <a:ext cx="1429893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1" id="11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Оператор: Atria, Sunrise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Керує будинком: персонал, закупівлі, продажі місць, облік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2456576" y="5465445"/>
            <a:ext cx="3101814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Плата оператору: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4,5–7% виторгу + бонус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Мешканці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платять за проживання й догляд</a:t>
              </a:r>
            </a:p>
          </p:txBody>
        </p:sp>
      </p:grpSp>
      <p:sp>
        <p:nvSpPr>
          <p:cNvPr name="AutoShape 22" id="22"/>
          <p:cNvSpPr/>
          <p:nvPr/>
        </p:nvSpPr>
        <p:spPr>
          <a:xfrm rot="-4876800">
            <a:off x="8960082" y="6754558"/>
            <a:ext cx="37697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3" id="23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VENTAS отримує чистий прибуток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ФРАНШИЗА + НЕЗАЛЕЖНИЙ ОПЕРАТОР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897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05613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Керуюча компанія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Незалежний оператор, якого найняв інвестор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директора (GM), персонал,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щоденне управління готелем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480292" y="1851660"/>
            <a:ext cx="5897880" cy="1714500"/>
            <a:chOff x="0" y="0"/>
            <a:chExt cx="7863840" cy="2286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617452" y="1851660"/>
            <a:ext cx="5623560" cy="1714500"/>
            <a:chOff x="0" y="0"/>
            <a:chExt cx="7498080" cy="228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бренд, стандарти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Погоджує оператора, може вимагати заміни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rot="-8400360">
            <a:off x="547217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6" id="16"/>
          <p:cNvSpPr/>
          <p:nvPr/>
        </p:nvSpPr>
        <p:spPr>
          <a:xfrm rot="-2399640">
            <a:off x="1054709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7" id="17"/>
          <p:cNvSpPr txBox="true"/>
          <p:nvPr/>
        </p:nvSpPr>
        <p:spPr>
          <a:xfrm rot="0">
            <a:off x="685800" y="3771900"/>
            <a:ext cx="480060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Регулярно: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2,5–3,5% виручки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бонус з прибутку понад пріоритет власника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55880" y="3771900"/>
            <a:ext cx="507492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Одноразово: пауш $400 за номер, мінімум $50 000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Регулярно: 5,5% виручки за номери + 2% маркетинговий фонд 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(REIT) = франчайзі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Сам обирає і наймає оператора, платить бренду й оператору, отримує прибуток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Гості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-4876800">
            <a:off x="8960082" y="6754558"/>
            <a:ext cx="37697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0" id="30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наймає оператора; Marriott лише погоджує його й може вимагати заміни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Apple Hospitality REIT, 2026: 13 готелів переведено з управління Marriott на цю модель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УПРАВЛІННЯ ВІД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9963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33679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Бренд і оператор одночасно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бренд, бронювання, лояльність,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директора (GM), персонал, щоденне управління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 rot="-5262540">
            <a:off x="8433626" y="4265104"/>
            <a:ext cx="1429893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1" id="11"/>
          <p:cNvSpPr txBox="true"/>
          <p:nvPr/>
        </p:nvSpPr>
        <p:spPr>
          <a:xfrm rot="0">
            <a:off x="3154680" y="3771900"/>
            <a:ext cx="576072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Базова плата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 управління: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5,5% виручки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32620" y="3771900"/>
            <a:ext cx="685800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Бонус: 6–10% скоригованого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валового операційного прибутку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системні збори бренду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= власник готелю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Наймає саму Marriott за договором управління на 20–30 років, нічим не керує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6790976" y="6993006"/>
            <a:ext cx="4800600" cy="1028700"/>
            <a:chOff x="0" y="0"/>
            <a:chExt cx="6400800" cy="13716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Гості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 flipV="true">
            <a:off x="9240034" y="6618226"/>
            <a:ext cx="8398" cy="456042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4" id="24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отримує: прибуток готелю після всіх платежів Marriott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Окремого оператора немає · договори довгі (20–30 років), замінити оператора складніше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ІНВЕСТОР-ОРЕНДОДАВЕЦЬ АВТОМИЙОК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TOMMY'S EXPRESS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897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05613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Власник землі й будівлі мийки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Інвестує: купівлю об'єкта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(напр., $5,24 млн, Керролтон)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480292" y="1851660"/>
            <a:ext cx="5897880" cy="1714500"/>
            <a:chOff x="0" y="0"/>
            <a:chExt cx="7863840" cy="2286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617452" y="1851660"/>
            <a:ext cx="5623560" cy="1714500"/>
            <a:chOff x="0" y="0"/>
            <a:chExt cx="7498080" cy="228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Tommy's Express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бренд, систему мийки,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обладнання, навчання, IT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rot="-8400360">
            <a:off x="547217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6" id="16"/>
          <p:cNvSpPr/>
          <p:nvPr/>
        </p:nvSpPr>
        <p:spPr>
          <a:xfrm rot="-2399640">
            <a:off x="1054709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7" id="17"/>
          <p:cNvSpPr txBox="true"/>
          <p:nvPr/>
        </p:nvSpPr>
        <p:spPr>
          <a:xfrm rot="0">
            <a:off x="685800" y="3771900"/>
            <a:ext cx="4800600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NNN-оренда: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$380 000 на рік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+10% кожні 5 років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(15 років)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55880" y="3771900"/>
            <a:ext cx="5074920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Одноразово: пауш $50 000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Щотижня: 4% виторгу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+ 1% фонд бренду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IT-збір $80–150 на тиждень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Оператор-франчайзі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Купує обладнання ($2,2–2,5 млн), керує мийкою і командою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Клієнти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-4876800">
            <a:off x="8960082" y="6754558"/>
            <a:ext cx="37697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0" id="30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отримує: фіксовану NNN-оренду, cap rate ~6,3–7,3%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Ризик: дефолт оператора; будівлю мийки складно здати іншому орендарю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Висновки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721925" y="1952033"/>
            <a:ext cx="16120506" cy="6858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CHICK-FIL-A - не підходить, так як ми не маємо власних приміщень і не маємо на них грошей.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 CVG - відображення моделі роботи офісу де роль франчайзі виконує менеджер відповідальний за проект. 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IWG - найбільш підходяща під нас модель, але замість коворкінг центру - пекарня.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Ventas - Lviv Croissants не вклинюються в цю модель, адже є інвест-компанія яка сама супроводжує будівництво а оператора наймає для керування.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Кейс Marriot - релевантний, однак це або класична управлінська франшиза, або звична модель, що хтось з команди франчайзі дає кошти, а інший - курує.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Кейс Tommy’s Express - не релевантний через інвестиційний фокус на землі та нерухомості.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6287" y="5736559"/>
            <a:ext cx="12755425" cy="2023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2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Дослідження успіху </a:t>
            </a:r>
            <a:r>
              <a:rPr lang="en-US" sz="5827" b="true">
                <a:solidFill>
                  <a:srgbClr val="F5B2C4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0"/>
              </a:lnSpc>
            </a:pPr>
            <a:r>
              <a:rPr lang="en-US" sz="63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Секрет росту франшизи </a:t>
            </a:r>
            <a:r>
              <a:rPr lang="en-US" sz="6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909888"/>
            <a:ext cx="3733800" cy="3448050"/>
            <a:chOff x="0" y="0"/>
            <a:chExt cx="4978400" cy="45974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50–60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Кластерна експансія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4624388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магазинів навколо одного розподільчого центру: щільність, дешева логістика, бар'єр для конкурентів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257800" y="2909888"/>
            <a:ext cx="3733800" cy="3448050"/>
            <a:chOff x="0" y="0"/>
            <a:chExt cx="4978400" cy="4597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55626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70%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5626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IT-система даних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562600" y="4624388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продажі за день аналізуються до ранку; за рік змінюється ~70% асортименту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296400" y="2909888"/>
            <a:ext cx="3733800" cy="3448050"/>
            <a:chOff x="0" y="0"/>
            <a:chExt cx="4978400" cy="45974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96012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70 → 9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012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Об'єднана доставка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01200" y="4624388"/>
            <a:ext cx="321792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вантажівок на магазин щодня (1974 → 2006); свіжа їжа до 3 разів на день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3335000" y="2909888"/>
            <a:ext cx="3733800" cy="3448050"/>
            <a:chOff x="0" y="0"/>
            <a:chExt cx="4978400" cy="4597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36398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45%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6398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Чіткі ролі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639800" y="4624388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SEJ бере 45% валового прибутку, дає IT, замовлення, рекламу; франчайзі керує магазином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219200" y="7168515"/>
            <a:ext cx="15849600" cy="1594485"/>
            <a:chOff x="0" y="0"/>
            <a:chExt cx="21132800" cy="21259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132800" cy="2125980"/>
            </a:xfrm>
            <a:custGeom>
              <a:avLst/>
              <a:gdLst/>
              <a:ahLst/>
              <a:cxnLst/>
              <a:rect r="r" b="b" t="t" l="l"/>
              <a:pathLst>
                <a:path h="212598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821180"/>
                  </a:lnTo>
                  <a:cubicBezTo>
                    <a:pt x="21132800" y="1989455"/>
                    <a:pt x="20996275" y="2125980"/>
                    <a:pt x="20828000" y="2125980"/>
                  </a:cubicBezTo>
                  <a:lnTo>
                    <a:pt x="304800" y="2125980"/>
                  </a:lnTo>
                  <a:cubicBezTo>
                    <a:pt x="136525" y="2125980"/>
                    <a:pt x="0" y="1989455"/>
                    <a:pt x="0" y="182118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3842023" y="7520940"/>
            <a:ext cx="10603802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5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РЕЗУЛЬТАТ: 2 299 → 19 422 магазини (1984–2016), 41% ринку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244406" y="8035290"/>
            <a:ext cx="11799189" cy="4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sz="27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Продажі на магазин: ¥647 тис./день проти ¥484 тис. у конкурентів (2004)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0"/>
              </a:lnSpc>
            </a:pPr>
            <a:r>
              <a:rPr lang="en-US" sz="63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Що ще підсилює зростання </a:t>
            </a:r>
            <a:r>
              <a:rPr lang="en-US" sz="6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721292"/>
            <a:ext cx="3733800" cy="3825240"/>
            <a:chOff x="0" y="0"/>
            <a:chExt cx="4978400" cy="510032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¥1 трлн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3953828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Власні бренди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4435792"/>
            <a:ext cx="321792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Seven Premium: +20% щороку (2016); ексклюзивні товари, контроль якості та маржі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257800" y="2721292"/>
            <a:ext cx="3733800" cy="3825240"/>
            <a:chOff x="0" y="0"/>
            <a:chExt cx="4978400" cy="51003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55626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29,8%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562600" y="3953828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Свіжа їжа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562600" y="4435792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частка fast food у продажах (2015); оніґірі з пакуванням, що тримає норі хрусткою, стали хітом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296400" y="2721292"/>
            <a:ext cx="3733800" cy="3825240"/>
            <a:chOff x="0" y="0"/>
            <a:chExt cx="4978400" cy="51003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96012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3 000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01200" y="3953828"/>
            <a:ext cx="3217926" cy="763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Локальний асортимент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01200" y="4438650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SKU в середньому в магазині з 5 000; американські хот-доги не прижились, тож перейшли на місцеву їжу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3335000" y="2721292"/>
            <a:ext cx="3733800" cy="3825240"/>
            <a:chOff x="0" y="0"/>
            <a:chExt cx="4978400" cy="51003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36398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18 000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639800" y="3953828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Сервіси «під ключ»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639800" y="4435792"/>
            <a:ext cx="3217926" cy="1339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банкоматів Seven Bank; оплата рахунків, посилки, квитки; 111 транзакцій на день на один банкомат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219200" y="7168515"/>
            <a:ext cx="15849600" cy="1594485"/>
            <a:chOff x="0" y="0"/>
            <a:chExt cx="21132800" cy="21259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132800" cy="2125980"/>
            </a:xfrm>
            <a:custGeom>
              <a:avLst/>
              <a:gdLst/>
              <a:ahLst/>
              <a:cxnLst/>
              <a:rect r="r" b="b" t="t" l="l"/>
              <a:pathLst>
                <a:path h="212598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821180"/>
                  </a:lnTo>
                  <a:cubicBezTo>
                    <a:pt x="21132800" y="1989455"/>
                    <a:pt x="20996275" y="2125980"/>
                    <a:pt x="20828000" y="2125980"/>
                  </a:cubicBezTo>
                  <a:lnTo>
                    <a:pt x="304800" y="2125980"/>
                  </a:lnTo>
                  <a:cubicBezTo>
                    <a:pt x="136525" y="2125980"/>
                    <a:pt x="0" y="1989455"/>
                    <a:pt x="0" y="182118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3847528" y="7520940"/>
            <a:ext cx="1059294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5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ВИСНОВОК: 7-Eleven продає не товар, а зручність і свіжість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296025" y="8035290"/>
            <a:ext cx="569595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sz="27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Частота візитів - 1 000+ на магазин щодня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10811" y="1276350"/>
            <a:ext cx="8266377" cy="805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70"/>
              </a:lnSpc>
            </a:pPr>
            <a:r>
              <a:rPr lang="en-US" sz="5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Розподіл обов’язків </a:t>
            </a:r>
            <a:r>
              <a:rPr lang="en-US" sz="57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905125"/>
            <a:ext cx="7772400" cy="3632835"/>
            <a:chOff x="0" y="0"/>
            <a:chExt cx="10363200" cy="484378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63200" cy="4843780"/>
            </a:xfrm>
            <a:custGeom>
              <a:avLst/>
              <a:gdLst/>
              <a:ahLst/>
              <a:cxnLst/>
              <a:rect r="r" b="b" t="t" l="l"/>
              <a:pathLst>
                <a:path h="484378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802" y="0"/>
                    <a:pt x="10363200" y="136525"/>
                    <a:pt x="10363200" y="304800"/>
                  </a:cubicBezTo>
                  <a:lnTo>
                    <a:pt x="10363200" y="4538980"/>
                  </a:lnTo>
                  <a:cubicBezTo>
                    <a:pt x="10363200" y="4707382"/>
                    <a:pt x="10226675" y="4843780"/>
                    <a:pt x="10058400" y="4843780"/>
                  </a:cubicBezTo>
                  <a:lnTo>
                    <a:pt x="304800" y="4843780"/>
                  </a:lnTo>
                  <a:cubicBezTo>
                    <a:pt x="136398" y="4843780"/>
                    <a:pt x="0" y="4707255"/>
                    <a:pt x="0" y="4538980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00200" y="3267075"/>
            <a:ext cx="7220712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0"/>
              </a:lnSpc>
            </a:pPr>
            <a:r>
              <a:rPr lang="en-US" sz="33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SEJ (франчайзер)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36598" y="3842385"/>
            <a:ext cx="7072884" cy="2390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Розробляє асортимент і пропонує його франчайзі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Надає систему замовлень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Оплачує роботу IT-системи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бухгалтерські послуги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Забезпечує рекламу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Облаштовує та ремонтує приміщення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Покриває 80% комунальних витрат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96400" y="2905125"/>
            <a:ext cx="7772400" cy="3632835"/>
            <a:chOff x="0" y="0"/>
            <a:chExt cx="10363200" cy="48437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63200" cy="4843780"/>
            </a:xfrm>
            <a:custGeom>
              <a:avLst/>
              <a:gdLst/>
              <a:ahLst/>
              <a:cxnLst/>
              <a:rect r="r" b="b" t="t" l="l"/>
              <a:pathLst>
                <a:path h="484378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802" y="0"/>
                    <a:pt x="10363200" y="136525"/>
                    <a:pt x="10363200" y="304800"/>
                  </a:cubicBezTo>
                  <a:lnTo>
                    <a:pt x="10363200" y="4538980"/>
                  </a:lnTo>
                  <a:cubicBezTo>
                    <a:pt x="10363200" y="4707382"/>
                    <a:pt x="10226675" y="4843780"/>
                    <a:pt x="10058400" y="4843780"/>
                  </a:cubicBezTo>
                  <a:lnTo>
                    <a:pt x="304800" y="4843780"/>
                  </a:lnTo>
                  <a:cubicBezTo>
                    <a:pt x="136398" y="4843780"/>
                    <a:pt x="0" y="4707255"/>
                    <a:pt x="0" y="453898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9677400" y="3267075"/>
            <a:ext cx="7220712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0"/>
              </a:lnSpc>
            </a:pPr>
            <a:r>
              <a:rPr lang="en-US" sz="3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Франчайзі (власник магазину)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13798" y="3842385"/>
            <a:ext cx="7072884" cy="1724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Керує магазином і його діяльністю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Наймає персонал і платить зарплату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Замовляє товари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Підтримує належний вигляд магазину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Обслуговує клієнтів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219200" y="7427595"/>
            <a:ext cx="15849600" cy="1335405"/>
            <a:chOff x="0" y="0"/>
            <a:chExt cx="21132800" cy="17805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132800" cy="1780540"/>
            </a:xfrm>
            <a:custGeom>
              <a:avLst/>
              <a:gdLst/>
              <a:ahLst/>
              <a:cxnLst/>
              <a:rect r="r" b="b" t="t" l="l"/>
              <a:pathLst>
                <a:path h="1780540" w="211328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398"/>
                    <a:pt x="21132800" y="304800"/>
                  </a:cubicBezTo>
                  <a:lnTo>
                    <a:pt x="21132800" y="1475740"/>
                  </a:lnTo>
                  <a:cubicBezTo>
                    <a:pt x="21132800" y="1644015"/>
                    <a:pt x="20996402" y="1780540"/>
                    <a:pt x="20828000" y="1780540"/>
                  </a:cubicBezTo>
                  <a:lnTo>
                    <a:pt x="304800" y="1780540"/>
                  </a:lnTo>
                  <a:cubicBezTo>
                    <a:pt x="136525" y="1780540"/>
                    <a:pt x="0" y="1644142"/>
                    <a:pt x="0" y="147574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2886666" y="7703820"/>
            <a:ext cx="12514516" cy="4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sz="27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SEJ бере 45% валового прибутку магазину (1994), решта належить франчайзі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666632" y="8155305"/>
            <a:ext cx="6954584" cy="37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4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Франшизу отримує менш ніж 1 із 100 кандидатів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6287" y="5736559"/>
            <a:ext cx="12755425" cy="2023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3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Дослідження структури </a:t>
            </a:r>
            <a:r>
              <a:rPr lang="en-US" sz="5827" b="true">
                <a:solidFill>
                  <a:srgbClr val="F5B5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Франшиза </a:t>
            </a:r>
            <a:r>
              <a:rPr lang="en-US" sz="5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: схема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359981"/>
            <a:ext cx="7752083" cy="1730378"/>
            <a:chOff x="0" y="0"/>
            <a:chExt cx="10336111" cy="230717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36149" cy="2307209"/>
            </a:xfrm>
            <a:custGeom>
              <a:avLst/>
              <a:gdLst/>
              <a:ahLst/>
              <a:cxnLst/>
              <a:rect r="r" b="b" t="t" l="l"/>
              <a:pathLst>
                <a:path h="2307209" w="1033614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31349" y="0"/>
                  </a:lnTo>
                  <a:cubicBezTo>
                    <a:pt x="10199624" y="0"/>
                    <a:pt x="10336149" y="136525"/>
                    <a:pt x="10336149" y="304800"/>
                  </a:cubicBezTo>
                  <a:lnTo>
                    <a:pt x="10336149" y="2002409"/>
                  </a:lnTo>
                  <a:cubicBezTo>
                    <a:pt x="10336149" y="2170684"/>
                    <a:pt x="10199624" y="2307209"/>
                    <a:pt x="10031349" y="2307209"/>
                  </a:cubicBezTo>
                  <a:lnTo>
                    <a:pt x="304800" y="2307209"/>
                  </a:lnTo>
                  <a:cubicBezTo>
                    <a:pt x="136525" y="2307209"/>
                    <a:pt x="0" y="2170684"/>
                    <a:pt x="0" y="2002409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3545919" y="2655256"/>
            <a:ext cx="3098483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1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56106" y="3133411"/>
            <a:ext cx="7278272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Франчайзер: бренд, система мийки, навчання, IT; проєкт і обладнання через афілійовану VQ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76083" y="2359981"/>
            <a:ext cx="7792717" cy="1730378"/>
            <a:chOff x="0" y="0"/>
            <a:chExt cx="10390289" cy="23071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90378" cy="2307209"/>
            </a:xfrm>
            <a:custGeom>
              <a:avLst/>
              <a:gdLst/>
              <a:ahLst/>
              <a:cxnLst/>
              <a:rect r="r" b="b" t="t" l="l"/>
              <a:pathLst>
                <a:path h="2307209" w="10390378">
                  <a:moveTo>
                    <a:pt x="0" y="290576"/>
                  </a:moveTo>
                  <a:cubicBezTo>
                    <a:pt x="0" y="130048"/>
                    <a:pt x="130048" y="0"/>
                    <a:pt x="290576" y="0"/>
                  </a:cubicBezTo>
                  <a:lnTo>
                    <a:pt x="10099802" y="0"/>
                  </a:lnTo>
                  <a:cubicBezTo>
                    <a:pt x="10260203" y="0"/>
                    <a:pt x="10390378" y="130048"/>
                    <a:pt x="10390378" y="290576"/>
                  </a:cubicBezTo>
                  <a:lnTo>
                    <a:pt x="10390378" y="2016633"/>
                  </a:lnTo>
                  <a:cubicBezTo>
                    <a:pt x="10390378" y="2177034"/>
                    <a:pt x="10260330" y="2307209"/>
                    <a:pt x="10099802" y="2307209"/>
                  </a:cubicBezTo>
                  <a:lnTo>
                    <a:pt x="290576" y="2307209"/>
                  </a:lnTo>
                  <a:cubicBezTo>
                    <a:pt x="130048" y="2307209"/>
                    <a:pt x="0" y="2177034"/>
                    <a:pt x="0" y="2016633"/>
                  </a:cubicBezTo>
                  <a:close/>
                </a:path>
              </a:pathLst>
            </a:custGeom>
            <a:solidFill>
              <a:srgbClr val="0E4D38"/>
            </a:solidFill>
            <a:ln w="28575" cap="sq">
              <a:solidFill>
                <a:srgbClr val="F4B6C8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12427201" y="2675573"/>
            <a:ext cx="1490472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1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Ділянка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33306" y="3153727"/>
            <a:ext cx="7278272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 купує її сам або орендує в афілійованої компанії чи в інвестора</a:t>
            </a:r>
          </a:p>
        </p:txBody>
      </p:sp>
      <p:sp>
        <p:nvSpPr>
          <p:cNvPr name="AutoShape 11" id="11"/>
          <p:cNvSpPr/>
          <p:nvPr/>
        </p:nvSpPr>
        <p:spPr>
          <a:xfrm rot="5252760">
            <a:off x="580415" y="5100476"/>
            <a:ext cx="1334729" cy="0"/>
          </a:xfrm>
          <a:prstGeom prst="line">
            <a:avLst/>
          </a:prstGeom>
          <a:ln cap="rnd" w="28575">
            <a:solidFill>
              <a:srgbClr val="F4B6C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1574797" y="4505163"/>
            <a:ext cx="7325363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 платить Tommy's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74797" y="5027133"/>
            <a:ext cx="7325363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$50 000 одноразово; щотижня 4% роялті + 1% фонд бренду + IT; $2,18–2,52 млн за пакет VQ</a:t>
            </a:r>
          </a:p>
        </p:txBody>
      </p:sp>
      <p:sp>
        <p:nvSpPr>
          <p:cNvPr name="AutoShape 14" id="14"/>
          <p:cNvSpPr/>
          <p:nvPr/>
        </p:nvSpPr>
        <p:spPr>
          <a:xfrm rot="5252760">
            <a:off x="8657615" y="5100476"/>
            <a:ext cx="1334729" cy="0"/>
          </a:xfrm>
          <a:prstGeom prst="line">
            <a:avLst/>
          </a:prstGeom>
          <a:ln cap="rnd" w="28575">
            <a:solidFill>
              <a:srgbClr val="F4B6C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9651997" y="4505163"/>
            <a:ext cx="7325363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 платить за ділянку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51997" y="5027133"/>
            <a:ext cx="7325363" cy="367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або купує її, або платить оренду; суму оренди FDD не вказує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219200" y="6139339"/>
            <a:ext cx="15849600" cy="1369695"/>
            <a:chOff x="0" y="0"/>
            <a:chExt cx="21132800" cy="18262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132800" cy="1826260"/>
            </a:xfrm>
            <a:custGeom>
              <a:avLst/>
              <a:gdLst/>
              <a:ahLst/>
              <a:cxnLst/>
              <a:rect r="r" b="b" t="t" l="l"/>
              <a:pathLst>
                <a:path h="182626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521460"/>
                  </a:lnTo>
                  <a:cubicBezTo>
                    <a:pt x="21132800" y="1689735"/>
                    <a:pt x="20996275" y="1826260"/>
                    <a:pt x="20828000" y="1826260"/>
                  </a:cubicBezTo>
                  <a:lnTo>
                    <a:pt x="304800" y="1826260"/>
                  </a:lnTo>
                  <a:cubicBezTo>
                    <a:pt x="136525" y="1826260"/>
                    <a:pt x="0" y="1689735"/>
                    <a:pt x="0" y="152146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7133272" y="6434614"/>
            <a:ext cx="4021455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1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325303" y="6912769"/>
            <a:ext cx="9637395" cy="367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Фінансує будівництво, наймає персонал, керує мийкою; дохід дають клієнти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Інвестиції оператора $4,18–5,97 млн без землі; Tommy's бере 5% виторгу щотижня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Три варіанти ділянки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3359467"/>
            <a:ext cx="5130803" cy="2786062"/>
            <a:chOff x="0" y="0"/>
            <a:chExt cx="6841071" cy="37147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41109" cy="3714750"/>
            </a:xfrm>
            <a:custGeom>
              <a:avLst/>
              <a:gdLst/>
              <a:ahLst/>
              <a:cxnLst/>
              <a:rect r="r" b="b" t="t" l="l"/>
              <a:pathLst>
                <a:path h="371475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3409950"/>
                  </a:lnTo>
                  <a:cubicBezTo>
                    <a:pt x="6841109" y="3578225"/>
                    <a:pt x="6704711" y="3714750"/>
                    <a:pt x="6536309" y="3714750"/>
                  </a:cubicBezTo>
                  <a:lnTo>
                    <a:pt x="304800" y="3714750"/>
                  </a:lnTo>
                  <a:cubicBezTo>
                    <a:pt x="136525" y="3714750"/>
                    <a:pt x="0" y="3578352"/>
                    <a:pt x="0" y="34099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740467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4412933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Купує оператор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4864417"/>
            <a:ext cx="4656839" cy="976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Земля за власні кошти; її вартість не входить у $4,18–5,97 млн. Ділянку затверджує Tommy's за 30 днів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578603" y="3359467"/>
            <a:ext cx="5130803" cy="2786062"/>
            <a:chOff x="0" y="0"/>
            <a:chExt cx="6841071" cy="37147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41109" cy="3714750"/>
            </a:xfrm>
            <a:custGeom>
              <a:avLst/>
              <a:gdLst/>
              <a:ahLst/>
              <a:cxnLst/>
              <a:rect r="r" b="b" t="t" l="l"/>
              <a:pathLst>
                <a:path h="371475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3409950"/>
                  </a:lnTo>
                  <a:cubicBezTo>
                    <a:pt x="6841109" y="3578225"/>
                    <a:pt x="6704711" y="3714750"/>
                    <a:pt x="6536309" y="3714750"/>
                  </a:cubicBezTo>
                  <a:lnTo>
                    <a:pt x="304800" y="3714750"/>
                  </a:lnTo>
                  <a:cubicBezTo>
                    <a:pt x="136525" y="3714750"/>
                    <a:pt x="0" y="3578352"/>
                    <a:pt x="0" y="34099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6883403" y="3740467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883403" y="4412933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Оренда в афілійованої компанії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83403" y="4864417"/>
            <a:ext cx="4656839" cy="976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TX Real Estate, Inc. здає частину локацій; Tommy's може купити чи орендувати ділянку для оператора й заробити на цьому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937997" y="3359467"/>
            <a:ext cx="5130803" cy="2786062"/>
            <a:chOff x="0" y="0"/>
            <a:chExt cx="6841071" cy="37147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841109" cy="3714750"/>
            </a:xfrm>
            <a:custGeom>
              <a:avLst/>
              <a:gdLst/>
              <a:ahLst/>
              <a:cxnLst/>
              <a:rect r="r" b="b" t="t" l="l"/>
              <a:pathLst>
                <a:path h="371475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3409950"/>
                  </a:lnTo>
                  <a:cubicBezTo>
                    <a:pt x="6841109" y="3578225"/>
                    <a:pt x="6704711" y="3714750"/>
                    <a:pt x="6536309" y="3714750"/>
                  </a:cubicBezTo>
                  <a:lnTo>
                    <a:pt x="304800" y="3714750"/>
                  </a:lnTo>
                  <a:cubicBezTo>
                    <a:pt x="136525" y="3714750"/>
                    <a:pt x="0" y="3578352"/>
                    <a:pt x="0" y="34099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2242797" y="3740467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242797" y="4412933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Незалежний інвестор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242797" y="4864417"/>
            <a:ext cx="4656839" cy="976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Оператор шукає його сам; оренда має бути погоджена з Tommy's, а в договорі є Collateral Lease Assignment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19200" y="7531418"/>
            <a:ext cx="15849600" cy="1231582"/>
            <a:chOff x="0" y="0"/>
            <a:chExt cx="21132800" cy="164211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132800" cy="1642110"/>
            </a:xfrm>
            <a:custGeom>
              <a:avLst/>
              <a:gdLst/>
              <a:ahLst/>
              <a:cxnLst/>
              <a:rect r="r" b="b" t="t" l="l"/>
              <a:pathLst>
                <a:path h="1642110" w="211328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398"/>
                    <a:pt x="21132800" y="304800"/>
                  </a:cubicBezTo>
                  <a:lnTo>
                    <a:pt x="21132800" y="1337310"/>
                  </a:lnTo>
                  <a:cubicBezTo>
                    <a:pt x="21132800" y="1505585"/>
                    <a:pt x="20996402" y="1642110"/>
                    <a:pt x="20828000" y="1642110"/>
                  </a:cubicBezTo>
                  <a:lnTo>
                    <a:pt x="304800" y="1642110"/>
                  </a:lnTo>
                  <a:cubicBezTo>
                    <a:pt x="136525" y="1642110"/>
                    <a:pt x="0" y="1505712"/>
                    <a:pt x="0" y="133731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352885" y="7779068"/>
            <a:ext cx="13582078" cy="410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2"/>
              </a:lnSpc>
            </a:pPr>
            <a:r>
              <a:rPr lang="en-US" sz="25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При дефолті Tommy's може зайняти об'єкт, вигнати оператора й передати мийку іншому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137554" y="8208645"/>
            <a:ext cx="12012740" cy="344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5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Сум оренди й інвесторів у FDD немає: NNN-оренда $380 000 на рік (Керролтон) взята не з нього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Хто кому платить</a:t>
            </a:r>
          </a:p>
        </p:txBody>
      </p:sp>
      <p:graphicFrame>
        <p:nvGraphicFramePr>
          <p:cNvPr name="Table 3" id="3"/>
          <p:cNvGraphicFramePr>
            <a:graphicFrameLocks noGrp="true"/>
          </p:cNvGraphicFramePr>
          <p:nvPr/>
        </p:nvGraphicFramePr>
        <p:xfrm>
          <a:off x="1229360" y="2456656"/>
          <a:ext cx="15773400" cy="4933950"/>
        </p:xfrm>
        <a:graphic>
          <a:graphicData uri="http://schemas.openxmlformats.org/drawingml/2006/table">
            <a:tbl>
              <a:tblPr/>
              <a:tblGrid>
                <a:gridCol w="3943350"/>
                <a:gridCol w="3943350"/>
                <a:gridCol w="3943350"/>
                <a:gridCol w="3943350"/>
              </a:tblGrid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Платіж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Сума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Кому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Коли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Вступний внесок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$50 000, не повертається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Express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при підписанні договору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2258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Будівля, обладнання, POS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$2,18–2,52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афілійована VQ, Inc.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етапами: дозволи, матеріали, обладнання, перед відкриттям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Роялті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4% виторгу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Express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щовівторка за минулий тиждень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Фонд бренду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1% виторгу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Express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разом з роялті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IT-збір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$80–150 на тиждень (зараз $70)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або постачальник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разом з роялті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Місцевий маркетинг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2% виторгу (рекомендовано)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місцеві підрядники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щомісяця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Маркетинг відкриття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від $10 000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підрядники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на відкритті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4" id="4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Tommy's заробляє на роялті (5%) і на продажу обладнання через афілійовану VQ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Скільки грошей потрібно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733513"/>
            <a:ext cx="4572000" cy="4401817"/>
            <a:chOff x="0" y="0"/>
            <a:chExt cx="6096000" cy="586908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096000" cy="5869051"/>
            </a:xfrm>
            <a:custGeom>
              <a:avLst/>
              <a:gdLst/>
              <a:ahLst/>
              <a:cxnLst/>
              <a:rect r="r" b="b" t="t" l="l"/>
              <a:pathLst>
                <a:path h="5869051" w="60960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5791200" y="0"/>
                  </a:lnTo>
                  <a:cubicBezTo>
                    <a:pt x="5959475" y="0"/>
                    <a:pt x="6096000" y="136398"/>
                    <a:pt x="6096000" y="304800"/>
                  </a:cubicBezTo>
                  <a:lnTo>
                    <a:pt x="6096000" y="5564251"/>
                  </a:lnTo>
                  <a:cubicBezTo>
                    <a:pt x="6096000" y="5732526"/>
                    <a:pt x="5959602" y="5869051"/>
                    <a:pt x="5791200" y="5869051"/>
                  </a:cubicBezTo>
                  <a:lnTo>
                    <a:pt x="304800" y="5869051"/>
                  </a:lnTo>
                  <a:cubicBezTo>
                    <a:pt x="136525" y="5869051"/>
                    <a:pt x="0" y="5732653"/>
                    <a:pt x="0" y="556425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00200" y="4060984"/>
            <a:ext cx="39243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$4,18–5,97 млн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00200" y="4826794"/>
            <a:ext cx="3924300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початкові інвестиції без землі та нерухомості; фінансування від Tommy's немає</a:t>
            </a:r>
          </a:p>
        </p:txBody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6106161" y="2743674"/>
          <a:ext cx="10915650" cy="4362450"/>
        </p:xfrm>
        <a:graphic>
          <a:graphicData uri="http://schemas.openxmlformats.org/drawingml/2006/table">
            <a:tbl>
              <a:tblPr/>
              <a:tblGrid>
                <a:gridCol w="3638550"/>
                <a:gridCol w="3638550"/>
                <a:gridCol w="3638550"/>
              </a:tblGrid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Стаття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Від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До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Вступний внесок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$50 000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$50 000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Проєкт і дозволи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$137 000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$620 500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Будівельні роботи (підрядники)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$1,70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$2,64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Пакет Tommy's (VQ)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$2,18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$2,52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Страхування, ліцензії, меблі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$15 850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$42 000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2291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Навчання, відкриття, резерв на 3 місяці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$102 500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$106 527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8" id="8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Землю й нерухомість оператор купує або орендує окремо: в афілійованої компанії чи в інвестора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102232" y="1266825"/>
            <a:ext cx="10083536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Розподіл обов’язків </a:t>
            </a:r>
            <a:r>
              <a:rPr lang="en-US" sz="5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Tommy’s Express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3424714"/>
            <a:ext cx="7772400" cy="3019425"/>
            <a:chOff x="0" y="0"/>
            <a:chExt cx="10363200" cy="40259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63200" cy="4025900"/>
            </a:xfrm>
            <a:custGeom>
              <a:avLst/>
              <a:gdLst/>
              <a:ahLst/>
              <a:cxnLst/>
              <a:rect r="r" b="b" t="t" l="l"/>
              <a:pathLst>
                <a:path h="402590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675" y="0"/>
                    <a:pt x="10363200" y="136525"/>
                    <a:pt x="10363200" y="304800"/>
                  </a:cubicBezTo>
                  <a:lnTo>
                    <a:pt x="10363200" y="3721100"/>
                  </a:lnTo>
                  <a:cubicBezTo>
                    <a:pt x="10363200" y="3889375"/>
                    <a:pt x="10226675" y="4025900"/>
                    <a:pt x="10058400" y="4025900"/>
                  </a:cubicBezTo>
                  <a:lnTo>
                    <a:pt x="304800" y="4025900"/>
                  </a:lnTo>
                  <a:cubicBezTo>
                    <a:pt x="136525" y="4025900"/>
                    <a:pt x="0" y="3889375"/>
                    <a:pt x="0" y="3721100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00200" y="3748564"/>
            <a:ext cx="722071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47266" y="4272439"/>
            <a:ext cx="7062216" cy="190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Затверджує ділянку за 30 днів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проєкт, специфікації, пакет обладнання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Керує будівництвом і монтажем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список постачальників і хімію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посібник; навчає 3 людей (~20 днів, Holland, MI)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Веде фонд бренду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96400" y="3424714"/>
            <a:ext cx="7772400" cy="3019425"/>
            <a:chOff x="0" y="0"/>
            <a:chExt cx="10363200" cy="40259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63200" cy="4025900"/>
            </a:xfrm>
            <a:custGeom>
              <a:avLst/>
              <a:gdLst/>
              <a:ahLst/>
              <a:cxnLst/>
              <a:rect r="r" b="b" t="t" l="l"/>
              <a:pathLst>
                <a:path h="402590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675" y="0"/>
                    <a:pt x="10363200" y="136525"/>
                    <a:pt x="10363200" y="304800"/>
                  </a:cubicBezTo>
                  <a:lnTo>
                    <a:pt x="10363200" y="3721100"/>
                  </a:lnTo>
                  <a:cubicBezTo>
                    <a:pt x="10363200" y="3889375"/>
                    <a:pt x="10226675" y="4025900"/>
                    <a:pt x="10058400" y="4025900"/>
                  </a:cubicBezTo>
                  <a:lnTo>
                    <a:pt x="304800" y="4025900"/>
                  </a:lnTo>
                  <a:cubicBezTo>
                    <a:pt x="136525" y="4025900"/>
                    <a:pt x="0" y="3889375"/>
                    <a:pt x="0" y="37211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9677400" y="3748564"/>
            <a:ext cx="722071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Франчайзі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24466" y="4272439"/>
            <a:ext cx="7062216" cy="190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Знаходить і купує або орендує ділянку (120 днів)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Фінансує будівництво, підрядники його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Купує обладнання, хімію, запчастини в Tommy's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Наймає й оплачує персонал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Страхує бізнес і платить за поїздки на навчання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Витрачає від $10 000 на маркетинг відкриття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Договір на 20 років + 3 продовження по 10; територія не ексклюзивна (радіус 1–5 миль)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Скільки заробляють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3503295"/>
            <a:ext cx="5130803" cy="2476500"/>
            <a:chOff x="0" y="0"/>
            <a:chExt cx="6841071" cy="3302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41109" cy="3302000"/>
            </a:xfrm>
            <a:custGeom>
              <a:avLst/>
              <a:gdLst/>
              <a:ahLst/>
              <a:cxnLst/>
              <a:rect r="r" b="b" t="t" l="l"/>
              <a:pathLst>
                <a:path h="3302000" w="684110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536309" y="0"/>
                  </a:lnTo>
                  <a:cubicBezTo>
                    <a:pt x="6704711" y="0"/>
                    <a:pt x="6841109" y="136525"/>
                    <a:pt x="6841109" y="304800"/>
                  </a:cubicBezTo>
                  <a:lnTo>
                    <a:pt x="6841109" y="2997200"/>
                  </a:lnTo>
                  <a:cubicBezTo>
                    <a:pt x="6841109" y="3165602"/>
                    <a:pt x="6704584" y="3302000"/>
                    <a:pt x="6536309" y="3302000"/>
                  </a:cubicBezTo>
                  <a:lnTo>
                    <a:pt x="304800" y="3302000"/>
                  </a:lnTo>
                  <a:cubicBezTo>
                    <a:pt x="136398" y="3302000"/>
                    <a:pt x="0" y="3165475"/>
                    <a:pt x="0" y="2997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884295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$1,74 млн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4556760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Мийки 12–24 місяці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5008245"/>
            <a:ext cx="4656839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середній виторг за 2019 рік (6 мийок; від $1,30 до $2,15 млн)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578603" y="3503295"/>
            <a:ext cx="5130803" cy="2476500"/>
            <a:chOff x="0" y="0"/>
            <a:chExt cx="6841071" cy="3302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41109" cy="3302000"/>
            </a:xfrm>
            <a:custGeom>
              <a:avLst/>
              <a:gdLst/>
              <a:ahLst/>
              <a:cxnLst/>
              <a:rect r="r" b="b" t="t" l="l"/>
              <a:pathLst>
                <a:path h="3302000" w="684110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536309" y="0"/>
                  </a:lnTo>
                  <a:cubicBezTo>
                    <a:pt x="6704711" y="0"/>
                    <a:pt x="6841109" y="136525"/>
                    <a:pt x="6841109" y="304800"/>
                  </a:cubicBezTo>
                  <a:lnTo>
                    <a:pt x="6841109" y="2997200"/>
                  </a:lnTo>
                  <a:cubicBezTo>
                    <a:pt x="6841109" y="3165602"/>
                    <a:pt x="6704584" y="3302000"/>
                    <a:pt x="6536309" y="3302000"/>
                  </a:cubicBezTo>
                  <a:lnTo>
                    <a:pt x="304800" y="3302000"/>
                  </a:lnTo>
                  <a:cubicBezTo>
                    <a:pt x="136398" y="3302000"/>
                    <a:pt x="0" y="3165475"/>
                    <a:pt x="0" y="2997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6883403" y="3884295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$2,16 млн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883403" y="4556760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Мийки 24+ місяці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83403" y="5008245"/>
            <a:ext cx="4656839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середній виторг за 2019 рік (3 мийки; від $2,02 до $2,33 млн)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937997" y="3503295"/>
            <a:ext cx="5130803" cy="2476500"/>
            <a:chOff x="0" y="0"/>
            <a:chExt cx="6841071" cy="330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841109" cy="3302000"/>
            </a:xfrm>
            <a:custGeom>
              <a:avLst/>
              <a:gdLst/>
              <a:ahLst/>
              <a:cxnLst/>
              <a:rect r="r" b="b" t="t" l="l"/>
              <a:pathLst>
                <a:path h="3302000" w="684110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536309" y="0"/>
                  </a:lnTo>
                  <a:cubicBezTo>
                    <a:pt x="6704711" y="0"/>
                    <a:pt x="6841109" y="136525"/>
                    <a:pt x="6841109" y="304800"/>
                  </a:cubicBezTo>
                  <a:lnTo>
                    <a:pt x="6841109" y="2997200"/>
                  </a:lnTo>
                  <a:cubicBezTo>
                    <a:pt x="6841109" y="3165602"/>
                    <a:pt x="6704584" y="3302000"/>
                    <a:pt x="6536309" y="3302000"/>
                  </a:cubicBezTo>
                  <a:lnTo>
                    <a:pt x="304800" y="3302000"/>
                  </a:lnTo>
                  <a:cubicBezTo>
                    <a:pt x="136398" y="3302000"/>
                    <a:pt x="0" y="3165475"/>
                    <a:pt x="0" y="2997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2242797" y="3884295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~$87–108 тис.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242797" y="4556760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5% виторгу Tommy's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242797" y="5008245"/>
            <a:ext cx="4656839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роялті та фонд бренду на рік (наш розрахунок із середніх виторгів)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19200" y="7509510"/>
            <a:ext cx="15849600" cy="1253490"/>
            <a:chOff x="0" y="0"/>
            <a:chExt cx="21132800" cy="16713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132800" cy="1671320"/>
            </a:xfrm>
            <a:custGeom>
              <a:avLst/>
              <a:gdLst/>
              <a:ahLst/>
              <a:cxnLst/>
              <a:rect r="r" b="b" t="t" l="l"/>
              <a:pathLst>
                <a:path h="167132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366520"/>
                  </a:lnTo>
                  <a:cubicBezTo>
                    <a:pt x="21132800" y="1534795"/>
                    <a:pt x="20996275" y="1671320"/>
                    <a:pt x="20828000" y="1671320"/>
                  </a:cubicBezTo>
                  <a:lnTo>
                    <a:pt x="304800" y="1671320"/>
                  </a:lnTo>
                  <a:cubicBezTo>
                    <a:pt x="136525" y="1671320"/>
                    <a:pt x="0" y="1534795"/>
                    <a:pt x="0" y="136652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524506" y="7757160"/>
            <a:ext cx="13238988" cy="410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2"/>
              </a:lnSpc>
            </a:pPr>
            <a:r>
              <a:rPr lang="en-US" sz="25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Чистий прибуток франчайзі FDD не називає: лише виторг і витрати на авто ($0,83–1,19)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167253" y="8196263"/>
            <a:ext cx="11953494" cy="3571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87"/>
              </a:lnSpc>
            </a:pPr>
            <a:r>
              <a:rPr lang="en-US" sz="22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Афілійована Tommy Car Wash Systems отримала $41,7 млн від продажів франчайзі (2019)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6287" y="5736559"/>
            <a:ext cx="12755425" cy="3052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4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Блокова побудова дворівневої франшизи для </a:t>
            </a:r>
            <a:r>
              <a:rPr lang="en-US" sz="5827" b="true">
                <a:solidFill>
                  <a:srgbClr val="F5B5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563394" y="1266825"/>
            <a:ext cx="7161212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Правила підпорядкування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900201"/>
            <a:ext cx="3810000" cy="2551433"/>
            <a:chOff x="0" y="0"/>
            <a:chExt cx="5080000" cy="34019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080000" cy="3401949"/>
            </a:xfrm>
            <a:custGeom>
              <a:avLst/>
              <a:gdLst/>
              <a:ahLst/>
              <a:cxnLst/>
              <a:rect r="r" b="b" t="t" l="l"/>
              <a:pathLst>
                <a:path h="3401949" w="5080000">
                  <a:moveTo>
                    <a:pt x="0" y="289052"/>
                  </a:moveTo>
                  <a:cubicBezTo>
                    <a:pt x="0" y="129413"/>
                    <a:pt x="129413" y="0"/>
                    <a:pt x="289052" y="0"/>
                  </a:cubicBezTo>
                  <a:lnTo>
                    <a:pt x="4790948" y="0"/>
                  </a:lnTo>
                  <a:cubicBezTo>
                    <a:pt x="4950587" y="0"/>
                    <a:pt x="5080000" y="129413"/>
                    <a:pt x="5080000" y="289052"/>
                  </a:cubicBezTo>
                  <a:lnTo>
                    <a:pt x="5080000" y="3112897"/>
                  </a:lnTo>
                  <a:cubicBezTo>
                    <a:pt x="5080000" y="3272536"/>
                    <a:pt x="4950587" y="3401949"/>
                    <a:pt x="4790948" y="3401949"/>
                  </a:cubicBezTo>
                  <a:lnTo>
                    <a:pt x="289052" y="3401949"/>
                  </a:lnTo>
                  <a:cubicBezTo>
                    <a:pt x="129413" y="3401949"/>
                    <a:pt x="0" y="3272536"/>
                    <a:pt x="0" y="3112897"/>
                  </a:cubicBezTo>
                  <a:close/>
                </a:path>
              </a:pathLst>
            </a:custGeom>
            <a:solidFill>
              <a:srgbClr val="0E4D38"/>
            </a:solidFill>
            <a:ln w="28575" cap="sq">
              <a:solidFill>
                <a:srgbClr val="F4B6C8"/>
              </a:solidFill>
              <a:prstDash val="solid"/>
              <a:miter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1376720" y="3596802"/>
            <a:ext cx="3494961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Інвестор-франчайзі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095500" y="4185447"/>
            <a:ext cx="2057400" cy="555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2"/>
              </a:lnSpc>
            </a:pPr>
            <a:r>
              <a:rPr lang="en-US" sz="19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Нікому не підпорядковується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239000" y="3311052"/>
            <a:ext cx="3810000" cy="1729740"/>
            <a:chOff x="0" y="0"/>
            <a:chExt cx="5080000" cy="23063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80000" cy="2306320"/>
            </a:xfrm>
            <a:custGeom>
              <a:avLst/>
              <a:gdLst/>
              <a:ahLst/>
              <a:cxnLst/>
              <a:rect r="r" b="b" t="t" l="l"/>
              <a:pathLst>
                <a:path h="2306320" w="50800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75200" y="0"/>
                  </a:lnTo>
                  <a:cubicBezTo>
                    <a:pt x="4943475" y="0"/>
                    <a:pt x="5080000" y="136525"/>
                    <a:pt x="5080000" y="304800"/>
                  </a:cubicBezTo>
                  <a:lnTo>
                    <a:pt x="5080000" y="2001520"/>
                  </a:lnTo>
                  <a:cubicBezTo>
                    <a:pt x="5080000" y="2169795"/>
                    <a:pt x="4943475" y="2306320"/>
                    <a:pt x="4775200" y="2306320"/>
                  </a:cubicBezTo>
                  <a:lnTo>
                    <a:pt x="304800" y="2306320"/>
                  </a:lnTo>
                  <a:cubicBezTo>
                    <a:pt x="136525" y="2306320"/>
                    <a:pt x="0" y="2169795"/>
                    <a:pt x="0" y="2001520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7727652" y="3596802"/>
            <a:ext cx="2832544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3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456551" y="4124487"/>
            <a:ext cx="3374898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Нікому не підпорядковується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163300" y="4242121"/>
            <a:ext cx="371637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7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◀</a:t>
            </a:r>
          </a:p>
        </p:txBody>
      </p:sp>
      <p:sp>
        <p:nvSpPr>
          <p:cNvPr name="AutoShape 12" id="12"/>
          <p:cNvSpPr/>
          <p:nvPr/>
        </p:nvSpPr>
        <p:spPr>
          <a:xfrm rot="94440">
            <a:off x="11434591" y="4355144"/>
            <a:ext cx="1734045" cy="0"/>
          </a:xfrm>
          <a:prstGeom prst="line">
            <a:avLst/>
          </a:prstGeom>
          <a:ln cap="rnd" w="28575">
            <a:solidFill>
              <a:srgbClr val="F4B6C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0">
            <a:off x="13258800" y="3080547"/>
            <a:ext cx="3810000" cy="2190750"/>
            <a:chOff x="0" y="0"/>
            <a:chExt cx="5080000" cy="2921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080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50800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75200" y="0"/>
                  </a:lnTo>
                  <a:cubicBezTo>
                    <a:pt x="4943602" y="0"/>
                    <a:pt x="5080000" y="136525"/>
                    <a:pt x="5080000" y="304800"/>
                  </a:cubicBezTo>
                  <a:lnTo>
                    <a:pt x="5080000" y="2616200"/>
                  </a:lnTo>
                  <a:cubicBezTo>
                    <a:pt x="5080000" y="2784602"/>
                    <a:pt x="4943475" y="2921000"/>
                    <a:pt x="4775200" y="2921000"/>
                  </a:cubicBezTo>
                  <a:lnTo>
                    <a:pt x="304800" y="2921000"/>
                  </a:lnTo>
                  <a:cubicBezTo>
                    <a:pt x="136398" y="2921000"/>
                    <a:pt x="0" y="2784475"/>
                    <a:pt x="0" y="2616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3367576" y="3596802"/>
            <a:ext cx="3592449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219200" y="6378416"/>
            <a:ext cx="15849600" cy="688340"/>
            <a:chOff x="0" y="0"/>
            <a:chExt cx="21132800" cy="91778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132800" cy="917824"/>
            </a:xfrm>
            <a:custGeom>
              <a:avLst/>
              <a:gdLst/>
              <a:ahLst/>
              <a:cxnLst/>
              <a:rect r="r" b="b" t="t" l="l"/>
              <a:pathLst>
                <a:path h="917824" w="21132800">
                  <a:moveTo>
                    <a:pt x="0" y="192150"/>
                  </a:moveTo>
                  <a:cubicBezTo>
                    <a:pt x="0" y="85979"/>
                    <a:pt x="85979" y="0"/>
                    <a:pt x="192151" y="0"/>
                  </a:cubicBezTo>
                  <a:lnTo>
                    <a:pt x="20940649" y="0"/>
                  </a:lnTo>
                  <a:cubicBezTo>
                    <a:pt x="21046821" y="0"/>
                    <a:pt x="21132800" y="85979"/>
                    <a:pt x="21132800" y="192150"/>
                  </a:cubicBezTo>
                  <a:lnTo>
                    <a:pt x="21132800" y="725674"/>
                  </a:lnTo>
                  <a:cubicBezTo>
                    <a:pt x="21132800" y="831846"/>
                    <a:pt x="21046821" y="917824"/>
                    <a:pt x="20940649" y="917824"/>
                  </a:cubicBezTo>
                  <a:lnTo>
                    <a:pt x="192151" y="917824"/>
                  </a:lnTo>
                  <a:cubicBezTo>
                    <a:pt x="85979" y="917824"/>
                    <a:pt x="0" y="831719"/>
                    <a:pt x="0" y="725674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8642" r="0" b="-398639"/>
              </a:stretch>
            </a:blipFill>
            <a:ln w="28575" cap="sq">
              <a:solidFill>
                <a:srgbClr val="F4B6C8"/>
              </a:solidFill>
              <a:prstDash val="dash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132800" cy="92731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4B6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Lviv Croissants виступає в ролі пункту, який відфільтровує те що має дойти до кожної зі сторін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19200" y="7993380"/>
            <a:ext cx="15849600" cy="1299667"/>
            <a:chOff x="0" y="0"/>
            <a:chExt cx="21132800" cy="173289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132800" cy="1732890"/>
            </a:xfrm>
            <a:custGeom>
              <a:avLst/>
              <a:gdLst/>
              <a:ahLst/>
              <a:cxnLst/>
              <a:rect r="r" b="b" t="t" l="l"/>
              <a:pathLst>
                <a:path h="1732890" w="21132800">
                  <a:moveTo>
                    <a:pt x="0" y="514720"/>
                  </a:moveTo>
                  <a:cubicBezTo>
                    <a:pt x="0" y="230552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230552"/>
                    <a:pt x="21132800" y="514720"/>
                  </a:cubicBezTo>
                  <a:lnTo>
                    <a:pt x="21132800" y="1218170"/>
                  </a:lnTo>
                  <a:cubicBezTo>
                    <a:pt x="21132800" y="1502338"/>
                    <a:pt x="20996275" y="1732890"/>
                    <a:pt x="20828000" y="1732890"/>
                  </a:cubicBezTo>
                  <a:lnTo>
                    <a:pt x="304800" y="1732890"/>
                  </a:lnTo>
                  <a:cubicBezTo>
                    <a:pt x="136525" y="1732890"/>
                    <a:pt x="0" y="1502338"/>
                    <a:pt x="0" y="1218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9525"/>
              <a:ext cx="21132800" cy="172336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760"/>
                </a:lnSpc>
              </a:pPr>
              <a:r>
                <a:rPr lang="en-US" sz="240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Інвестор: Усі питання чи офіційні зверення щодо роботи оператора, результатів пекарні адресуються Lviv Croissants.</a:t>
              </a:r>
            </a:p>
            <a:p>
              <a:pPr algn="ctr">
                <a:lnSpc>
                  <a:spcPts val="2760"/>
                </a:lnSpc>
              </a:pPr>
              <a:r>
                <a:rPr lang="en-US" sz="240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Франчайзер: усі запити на фінансування, дофінансування, вагомих впроваджень адресуються інвестору через Lviv Croissants.</a:t>
              </a:r>
            </a:p>
            <a:p>
              <a:pPr algn="ctr">
                <a:lnSpc>
                  <a:spcPts val="2760"/>
                </a:lnSpc>
              </a:pPr>
              <a:r>
                <a:rPr lang="en-US" sz="240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Lviv Croissants: усі рекомендації, нововведення, зміни тощо узгоджуються з оператором (з інвестором за бажанням).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4130727" y="4175446"/>
            <a:ext cx="2057400" cy="555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2"/>
              </a:lnSpc>
            </a:pPr>
            <a:r>
              <a:rPr lang="en-US" sz="19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Підпорядковується Lviv Croissants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681516" y="255270"/>
            <a:ext cx="2924969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Рух коштів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7256140" y="3942779"/>
            <a:ext cx="3790950" cy="2814638"/>
            <a:chOff x="0" y="0"/>
            <a:chExt cx="5054600" cy="37528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8393518" y="4854685"/>
            <a:ext cx="1500964" cy="4954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5"/>
              </a:lnSpc>
            </a:pPr>
            <a:r>
              <a:rPr lang="en-US" sz="3486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</a:t>
            </a:r>
            <a:r>
              <a:rPr lang="en-US" sz="3486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екарня</a:t>
            </a:r>
          </a:p>
        </p:txBody>
      </p:sp>
      <p:sp>
        <p:nvSpPr>
          <p:cNvPr name="TextBox 6" id="6"/>
          <p:cNvSpPr txBox="true"/>
          <p:nvPr/>
        </p:nvSpPr>
        <p:spPr>
          <a:xfrm rot="-5400000">
            <a:off x="-326105" y="2703909"/>
            <a:ext cx="134996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553114" y="5350098"/>
            <a:ext cx="3790950" cy="4441031"/>
            <a:chOff x="0" y="0"/>
            <a:chExt cx="5054600" cy="592137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54600" cy="5921375"/>
            </a:xfrm>
            <a:custGeom>
              <a:avLst/>
              <a:gdLst/>
              <a:ahLst/>
              <a:cxnLst/>
              <a:rect r="r" b="b" t="t" l="l"/>
              <a:pathLst>
                <a:path h="5921375" w="5054600">
                  <a:moveTo>
                    <a:pt x="0" y="480924"/>
                  </a:moveTo>
                  <a:cubicBezTo>
                    <a:pt x="0" y="215414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215414"/>
                    <a:pt x="5054600" y="480924"/>
                  </a:cubicBezTo>
                  <a:lnTo>
                    <a:pt x="5054600" y="5440451"/>
                  </a:lnTo>
                  <a:cubicBezTo>
                    <a:pt x="5054600" y="5706162"/>
                    <a:pt x="4918075" y="5921375"/>
                    <a:pt x="4749800" y="5921375"/>
                  </a:cubicBezTo>
                  <a:lnTo>
                    <a:pt x="304800" y="5921375"/>
                  </a:lnTo>
                  <a:cubicBezTo>
                    <a:pt x="136398" y="5921375"/>
                    <a:pt x="0" y="5705961"/>
                    <a:pt x="0" y="544045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-5400000">
            <a:off x="-391251" y="7352176"/>
            <a:ext cx="1478981" cy="436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3001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3730775" y="851914"/>
            <a:ext cx="3790950" cy="2814638"/>
            <a:chOff x="0" y="0"/>
            <a:chExt cx="5054600" cy="37528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730775" y="3885626"/>
            <a:ext cx="3790950" cy="2814638"/>
            <a:chOff x="0" y="0"/>
            <a:chExt cx="5054600" cy="375285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3730775" y="6919339"/>
            <a:ext cx="3790950" cy="2814638"/>
            <a:chOff x="0" y="0"/>
            <a:chExt cx="5054600" cy="37528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16836" y="702469"/>
            <a:ext cx="3790950" cy="4441031"/>
            <a:chOff x="0" y="0"/>
            <a:chExt cx="5054600" cy="592137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054600" cy="5921375"/>
            </a:xfrm>
            <a:custGeom>
              <a:avLst/>
              <a:gdLst/>
              <a:ahLst/>
              <a:cxnLst/>
              <a:rect r="r" b="b" t="t" l="l"/>
              <a:pathLst>
                <a:path h="5921375" w="5054600">
                  <a:moveTo>
                    <a:pt x="0" y="480924"/>
                  </a:moveTo>
                  <a:cubicBezTo>
                    <a:pt x="0" y="215414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215414"/>
                    <a:pt x="5054600" y="480924"/>
                  </a:cubicBezTo>
                  <a:lnTo>
                    <a:pt x="5054600" y="5440451"/>
                  </a:lnTo>
                  <a:cubicBezTo>
                    <a:pt x="5054600" y="5706162"/>
                    <a:pt x="4918075" y="5921375"/>
                    <a:pt x="4749800" y="5921375"/>
                  </a:cubicBezTo>
                  <a:lnTo>
                    <a:pt x="304800" y="5921375"/>
                  </a:lnTo>
                  <a:cubicBezTo>
                    <a:pt x="136398" y="5921375"/>
                    <a:pt x="0" y="5705961"/>
                    <a:pt x="0" y="544045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AutoShape 18" id="18"/>
          <p:cNvSpPr/>
          <p:nvPr/>
        </p:nvSpPr>
        <p:spPr>
          <a:xfrm>
            <a:off x="4407786" y="2922984"/>
            <a:ext cx="2848355" cy="1912511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9" id="19"/>
          <p:cNvSpPr/>
          <p:nvPr/>
        </p:nvSpPr>
        <p:spPr>
          <a:xfrm>
            <a:off x="11047090" y="6051371"/>
            <a:ext cx="2683685" cy="2275287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0" id="20"/>
          <p:cNvSpPr/>
          <p:nvPr/>
        </p:nvSpPr>
        <p:spPr>
          <a:xfrm flipV="true">
            <a:off x="11047090" y="5292945"/>
            <a:ext cx="2683685" cy="57153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1" id="21"/>
          <p:cNvSpPr/>
          <p:nvPr/>
        </p:nvSpPr>
        <p:spPr>
          <a:xfrm flipV="true">
            <a:off x="11047090" y="2259232"/>
            <a:ext cx="2683685" cy="2530894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2" id="22"/>
          <p:cNvSpPr txBox="true"/>
          <p:nvPr/>
        </p:nvSpPr>
        <p:spPr>
          <a:xfrm rot="0">
            <a:off x="786149" y="794764"/>
            <a:ext cx="3452324" cy="4105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Construction Works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Interior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Takeover Fee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Паушальний внесок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День відкриття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Ліцензії та довзоли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Відрядження команди 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Навчання адміна + лінійки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Обладнання та інвентар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82424" y="5874588"/>
            <a:ext cx="2932330" cy="3191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Перше замовлення продуктів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Упаковка, курасани та уніформа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Навчання операційного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Internal Systems</a:t>
            </a:r>
          </a:p>
        </p:txBody>
      </p:sp>
      <p:sp>
        <p:nvSpPr>
          <p:cNvPr name="AutoShape 24" id="24"/>
          <p:cNvSpPr/>
          <p:nvPr/>
        </p:nvSpPr>
        <p:spPr>
          <a:xfrm flipV="true">
            <a:off x="4344064" y="5931738"/>
            <a:ext cx="2912077" cy="1638876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5" id="25"/>
          <p:cNvSpPr txBox="true"/>
          <p:nvPr/>
        </p:nvSpPr>
        <p:spPr>
          <a:xfrm rot="0">
            <a:off x="8037517" y="5389324"/>
            <a:ext cx="2212966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генерує дохід</a:t>
            </a:r>
          </a:p>
        </p:txBody>
      </p:sp>
      <p:sp>
        <p:nvSpPr>
          <p:cNvPr name="TextBox 26" id="26"/>
          <p:cNvSpPr txBox="true"/>
          <p:nvPr/>
        </p:nvSpPr>
        <p:spPr>
          <a:xfrm rot="5400000">
            <a:off x="17065818" y="2040157"/>
            <a:ext cx="134996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27" id="27"/>
          <p:cNvSpPr txBox="true"/>
          <p:nvPr/>
        </p:nvSpPr>
        <p:spPr>
          <a:xfrm rot="5400000">
            <a:off x="17030764" y="4954237"/>
            <a:ext cx="1515323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28" id="28"/>
          <p:cNvSpPr txBox="true"/>
          <p:nvPr/>
        </p:nvSpPr>
        <p:spPr>
          <a:xfrm rot="5400000">
            <a:off x="16744168" y="8107582"/>
            <a:ext cx="1993265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Франчайзер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963218" y="1777902"/>
            <a:ext cx="3452324" cy="905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60% від прибукту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3% від доходу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963218" y="5086350"/>
            <a:ext cx="3452324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37% від прибутку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906248" y="7845327"/>
            <a:ext cx="3452324" cy="905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3% від прибутку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1% від доходу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802698" y="143730"/>
            <a:ext cx="1419225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</a:pPr>
            <a:r>
              <a:rPr lang="en-US" sz="36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Вихідне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5092016" y="190024"/>
            <a:ext cx="1194726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</a:pPr>
            <a:r>
              <a:rPr lang="en-US" sz="36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Вхідне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1232535"/>
            <a:ext cx="16276320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29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Вартість інвестицій для </a:t>
            </a:r>
            <a:r>
              <a:rPr lang="en-US" sz="5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05840" y="2468880"/>
            <a:ext cx="7955280" cy="5943600"/>
            <a:chOff x="0" y="0"/>
            <a:chExt cx="10607040" cy="7924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607040" cy="7924800"/>
            </a:xfrm>
            <a:custGeom>
              <a:avLst/>
              <a:gdLst/>
              <a:ahLst/>
              <a:cxnLst/>
              <a:rect r="r" b="b" t="t" l="l"/>
              <a:pathLst>
                <a:path h="7924800" w="10607040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lnTo>
                    <a:pt x="10131552" y="0"/>
                  </a:lnTo>
                  <a:cubicBezTo>
                    <a:pt x="10394188" y="0"/>
                    <a:pt x="10607040" y="212852"/>
                    <a:pt x="10607040" y="475488"/>
                  </a:cubicBezTo>
                  <a:lnTo>
                    <a:pt x="10607040" y="7449312"/>
                  </a:lnTo>
                  <a:cubicBezTo>
                    <a:pt x="10607040" y="7711948"/>
                    <a:pt x="10394188" y="7924800"/>
                    <a:pt x="10131552" y="7924800"/>
                  </a:cubicBezTo>
                  <a:lnTo>
                    <a:pt x="475488" y="7924800"/>
                  </a:lnTo>
                  <a:cubicBezTo>
                    <a:pt x="212852" y="7924800"/>
                    <a:pt x="0" y="7711948"/>
                    <a:pt x="0" y="7449312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463040" y="2735580"/>
            <a:ext cx="7040880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sz="3999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Інвестор-франчайзі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63040" y="3444240"/>
            <a:ext cx="4480560" cy="409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Construction Works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Обладнання та інвентар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Interior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Takeover Fee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Паушальний внесок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День відкриття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Ліцензії та дозволи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Відрядження команди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Навчання адміна + лінійки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35040" y="3444240"/>
            <a:ext cx="2468880" cy="409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40 000-70 000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50 000 - 75 000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25 000 - 40 000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~50 000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5 000–7 000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1 000–3 000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1 000 - 3 000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1 000 - 4 000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63040" y="7717155"/>
            <a:ext cx="274320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Разом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206240" y="7717155"/>
            <a:ext cx="429768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€188 000 – €266 000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326880" y="2468880"/>
            <a:ext cx="7955280" cy="5943600"/>
            <a:chOff x="0" y="0"/>
            <a:chExt cx="10607040" cy="7924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07040" cy="7924800"/>
            </a:xfrm>
            <a:custGeom>
              <a:avLst/>
              <a:gdLst/>
              <a:ahLst/>
              <a:cxnLst/>
              <a:rect r="r" b="b" t="t" l="l"/>
              <a:pathLst>
                <a:path h="7924800" w="10607040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lnTo>
                    <a:pt x="10131552" y="0"/>
                  </a:lnTo>
                  <a:cubicBezTo>
                    <a:pt x="10394188" y="0"/>
                    <a:pt x="10607040" y="212852"/>
                    <a:pt x="10607040" y="475488"/>
                  </a:cubicBezTo>
                  <a:lnTo>
                    <a:pt x="10607040" y="7449312"/>
                  </a:lnTo>
                  <a:cubicBezTo>
                    <a:pt x="10607040" y="7711948"/>
                    <a:pt x="10394188" y="7924800"/>
                    <a:pt x="10131552" y="7924800"/>
                  </a:cubicBezTo>
                  <a:lnTo>
                    <a:pt x="475488" y="7924800"/>
                  </a:lnTo>
                  <a:cubicBezTo>
                    <a:pt x="212852" y="7924800"/>
                    <a:pt x="0" y="7711948"/>
                    <a:pt x="0" y="7449312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9784080" y="2735580"/>
            <a:ext cx="7040880" cy="693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sz="3999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784080" y="3444240"/>
            <a:ext cx="5486400" cy="4282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Internal Systems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Перше замовлення продуктів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Упаковка, круасани та уніформа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Навчання операційного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877752" y="3444240"/>
            <a:ext cx="1947208" cy="1813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20 000 -27 000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2 000-3 000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84080" y="7717155"/>
            <a:ext cx="274320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Разом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527280" y="7717155"/>
            <a:ext cx="429768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€42 000 - €50 000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005840" y="8641080"/>
            <a:ext cx="16276320" cy="1097280"/>
            <a:chOff x="0" y="0"/>
            <a:chExt cx="21701760" cy="14630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701761" cy="1462913"/>
            </a:xfrm>
            <a:custGeom>
              <a:avLst/>
              <a:gdLst/>
              <a:ahLst/>
              <a:cxnLst/>
              <a:rect r="r" b="b" t="t" l="l"/>
              <a:pathLst>
                <a:path h="1462913" w="21701761">
                  <a:moveTo>
                    <a:pt x="0" y="175514"/>
                  </a:moveTo>
                  <a:cubicBezTo>
                    <a:pt x="0" y="78613"/>
                    <a:pt x="78613" y="0"/>
                    <a:pt x="175514" y="0"/>
                  </a:cubicBezTo>
                  <a:lnTo>
                    <a:pt x="21526246" y="0"/>
                  </a:lnTo>
                  <a:cubicBezTo>
                    <a:pt x="21623147" y="0"/>
                    <a:pt x="21701761" y="78613"/>
                    <a:pt x="21701761" y="175514"/>
                  </a:cubicBezTo>
                  <a:lnTo>
                    <a:pt x="21701761" y="1287399"/>
                  </a:lnTo>
                  <a:cubicBezTo>
                    <a:pt x="21701761" y="1384300"/>
                    <a:pt x="21623147" y="1462913"/>
                    <a:pt x="21526246" y="1462913"/>
                  </a:cubicBezTo>
                  <a:lnTo>
                    <a:pt x="175514" y="1462913"/>
                  </a:lnTo>
                  <a:cubicBezTo>
                    <a:pt x="78613" y="1463040"/>
                    <a:pt x="0" y="1384427"/>
                    <a:pt x="0" y="1287526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2792677" y="8980170"/>
            <a:ext cx="12702646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 максимальне число брав німецькі показники, а мінімальне виставляв орієнтовно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Шкала розподілу прибутку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719388"/>
            <a:ext cx="5130803" cy="4059555"/>
            <a:chOff x="0" y="0"/>
            <a:chExt cx="6841071" cy="54127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41109" cy="5412740"/>
            </a:xfrm>
            <a:custGeom>
              <a:avLst/>
              <a:gdLst/>
              <a:ahLst/>
              <a:cxnLst/>
              <a:rect r="r" b="b" t="t" l="l"/>
              <a:pathLst>
                <a:path h="541274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5107940"/>
                  </a:lnTo>
                  <a:cubicBezTo>
                    <a:pt x="6841109" y="5276215"/>
                    <a:pt x="6704711" y="5412740"/>
                    <a:pt x="6536309" y="5412740"/>
                  </a:cubicBezTo>
                  <a:lnTo>
                    <a:pt x="304800" y="5412740"/>
                  </a:lnTo>
                  <a:cubicBezTo>
                    <a:pt x="136525" y="5412740"/>
                    <a:pt x="0" y="5276342"/>
                    <a:pt x="0" y="510794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04950" y="3024188"/>
            <a:ext cx="4696082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Етап 1: до повернення 50% вкладень інвестора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04950" y="385476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04950" y="453104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60%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04950" y="520731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04950" y="588359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40%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578603" y="2719388"/>
            <a:ext cx="5130803" cy="4059555"/>
            <a:chOff x="0" y="0"/>
            <a:chExt cx="6841071" cy="54127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841109" cy="5412740"/>
            </a:xfrm>
            <a:custGeom>
              <a:avLst/>
              <a:gdLst/>
              <a:ahLst/>
              <a:cxnLst/>
              <a:rect r="r" b="b" t="t" l="l"/>
              <a:pathLst>
                <a:path h="541274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5107940"/>
                  </a:lnTo>
                  <a:cubicBezTo>
                    <a:pt x="6841109" y="5276215"/>
                    <a:pt x="6704711" y="5412740"/>
                    <a:pt x="6536309" y="5412740"/>
                  </a:cubicBezTo>
                  <a:lnTo>
                    <a:pt x="304800" y="5412740"/>
                  </a:lnTo>
                  <a:cubicBezTo>
                    <a:pt x="136525" y="5412740"/>
                    <a:pt x="0" y="5276342"/>
                    <a:pt x="0" y="510794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6864353" y="3024188"/>
            <a:ext cx="4696082" cy="759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Етап 2: до 100% повернення вкладень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64353" y="385476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864353" y="453104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50%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864353" y="520731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864353" y="588359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50%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1937997" y="2719388"/>
            <a:ext cx="5130803" cy="4059555"/>
            <a:chOff x="0" y="0"/>
            <a:chExt cx="6841071" cy="54127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41109" cy="5412740"/>
            </a:xfrm>
            <a:custGeom>
              <a:avLst/>
              <a:gdLst/>
              <a:ahLst/>
              <a:cxnLst/>
              <a:rect r="r" b="b" t="t" l="l"/>
              <a:pathLst>
                <a:path h="541274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5107940"/>
                  </a:lnTo>
                  <a:cubicBezTo>
                    <a:pt x="6841109" y="5276215"/>
                    <a:pt x="6704711" y="5412740"/>
                    <a:pt x="6536309" y="5412740"/>
                  </a:cubicBezTo>
                  <a:lnTo>
                    <a:pt x="304800" y="5412740"/>
                  </a:lnTo>
                  <a:cubicBezTo>
                    <a:pt x="136525" y="5412740"/>
                    <a:pt x="0" y="5276342"/>
                    <a:pt x="0" y="510794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12223747" y="3024188"/>
            <a:ext cx="2895335" cy="387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Етап 3: після окупності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223747" y="3482340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223747" y="4158615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40%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223747" y="4834890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223747" y="5511165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60%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219200" y="7524750"/>
            <a:ext cx="15849600" cy="1238250"/>
            <a:chOff x="0" y="0"/>
            <a:chExt cx="21132800" cy="1651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132800" cy="1651000"/>
            </a:xfrm>
            <a:custGeom>
              <a:avLst/>
              <a:gdLst/>
              <a:ahLst/>
              <a:cxnLst/>
              <a:rect r="r" b="b" t="t" l="l"/>
              <a:pathLst>
                <a:path h="165100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402" y="0"/>
                    <a:pt x="21132800" y="136525"/>
                    <a:pt x="21132800" y="304800"/>
                  </a:cubicBezTo>
                  <a:lnTo>
                    <a:pt x="21132800" y="1346200"/>
                  </a:lnTo>
                  <a:cubicBezTo>
                    <a:pt x="21132800" y="1514602"/>
                    <a:pt x="20996275" y="1651000"/>
                    <a:pt x="20828000" y="1651000"/>
                  </a:cubicBezTo>
                  <a:lnTo>
                    <a:pt x="304800" y="1651000"/>
                  </a:lnTo>
                  <a:cubicBezTo>
                    <a:pt x="136398" y="1651000"/>
                    <a:pt x="0" y="1514475"/>
                    <a:pt x="0" y="134620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2143125" y="7762875"/>
            <a:ext cx="14001750" cy="37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4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 отримує більше, поки не окупився; потім більше отримує оператор, який працює щодня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018361" y="8113395"/>
            <a:ext cx="8251126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Фінансова модель будується на основі етапів 1 та 2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120937" y="665797"/>
            <a:ext cx="6046126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Зони відповідальності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847941" y="2071344"/>
            <a:ext cx="3504578" cy="768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50"/>
              </a:lnSpc>
            </a:pPr>
            <a:r>
              <a:rPr lang="en-US" sz="5409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 відкриття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030792" y="2071344"/>
            <a:ext cx="4253314" cy="768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50"/>
              </a:lnSpc>
            </a:pPr>
            <a:r>
              <a:rPr lang="en-US" sz="5409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Після відкриття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411875" y="3177825"/>
            <a:ext cx="8261440" cy="6610484"/>
            <a:chOff x="0" y="0"/>
            <a:chExt cx="11015253" cy="88139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015290" cy="8813979"/>
            </a:xfrm>
            <a:custGeom>
              <a:avLst/>
              <a:gdLst/>
              <a:ahLst/>
              <a:cxnLst/>
              <a:rect r="r" b="b" t="t" l="l"/>
              <a:pathLst>
                <a:path h="8813979" w="11015290">
                  <a:moveTo>
                    <a:pt x="0" y="813598"/>
                  </a:moveTo>
                  <a:cubicBezTo>
                    <a:pt x="0" y="364424"/>
                    <a:pt x="219828" y="0"/>
                    <a:pt x="490778" y="0"/>
                  </a:cubicBezTo>
                  <a:lnTo>
                    <a:pt x="10524536" y="0"/>
                  </a:lnTo>
                  <a:cubicBezTo>
                    <a:pt x="10795691" y="0"/>
                    <a:pt x="11015290" y="364424"/>
                    <a:pt x="11015290" y="813598"/>
                  </a:cubicBezTo>
                  <a:lnTo>
                    <a:pt x="11015290" y="8000381"/>
                  </a:lnTo>
                  <a:cubicBezTo>
                    <a:pt x="11015290" y="8449894"/>
                    <a:pt x="10795486" y="8813979"/>
                    <a:pt x="10524536" y="8813979"/>
                  </a:cubicBezTo>
                  <a:lnTo>
                    <a:pt x="490778" y="8813979"/>
                  </a:lnTo>
                  <a:cubicBezTo>
                    <a:pt x="219623" y="8813979"/>
                    <a:pt x="0" y="8449555"/>
                    <a:pt x="0" y="800038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469510" y="3177825"/>
            <a:ext cx="8261440" cy="6610484"/>
            <a:chOff x="0" y="0"/>
            <a:chExt cx="11015253" cy="881397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015290" cy="8813979"/>
            </a:xfrm>
            <a:custGeom>
              <a:avLst/>
              <a:gdLst/>
              <a:ahLst/>
              <a:cxnLst/>
              <a:rect r="r" b="b" t="t" l="l"/>
              <a:pathLst>
                <a:path h="8813979" w="11015290">
                  <a:moveTo>
                    <a:pt x="0" y="813598"/>
                  </a:moveTo>
                  <a:cubicBezTo>
                    <a:pt x="0" y="364424"/>
                    <a:pt x="219828" y="0"/>
                    <a:pt x="490778" y="0"/>
                  </a:cubicBezTo>
                  <a:lnTo>
                    <a:pt x="10524536" y="0"/>
                  </a:lnTo>
                  <a:cubicBezTo>
                    <a:pt x="10795691" y="0"/>
                    <a:pt x="11015290" y="364424"/>
                    <a:pt x="11015290" y="813598"/>
                  </a:cubicBezTo>
                  <a:lnTo>
                    <a:pt x="11015290" y="8000381"/>
                  </a:lnTo>
                  <a:cubicBezTo>
                    <a:pt x="11015290" y="8449894"/>
                    <a:pt x="10795486" y="8813979"/>
                    <a:pt x="10524536" y="8813979"/>
                  </a:cubicBezTo>
                  <a:lnTo>
                    <a:pt x="490778" y="8813979"/>
                  </a:lnTo>
                  <a:cubicBezTo>
                    <a:pt x="219623" y="8813979"/>
                    <a:pt x="0" y="8449555"/>
                    <a:pt x="0" y="800038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3873729" y="3282795"/>
            <a:ext cx="1453001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30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Інвестор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69510" y="3749520"/>
            <a:ext cx="8261440" cy="1439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Профінансувати закріплені за роллю витрати.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Провести ремонтні роботи, оздоблення приміщення згідно з архітектурним планом.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Підписання договору оренди та оформлення ліцензій/дозволів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801385" y="5242576"/>
            <a:ext cx="1597691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30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Оператор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69510" y="5781645"/>
            <a:ext cx="8261440" cy="1439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Профінансувати закріплені за роллю витрати.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Пройти навчання операційного директора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Укомплектувати команду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Замовити необхідне по сухому складу та заморозці 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615355" y="7334927"/>
            <a:ext cx="1969749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30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Франчайзер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69510" y="7877852"/>
            <a:ext cx="8261440" cy="18009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Профінансувати закріплені за роллю витрати.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Пройти навчання операційного директора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Укомплектувати команду</a:t>
            </a:r>
          </a:p>
          <a:p>
            <a:pPr algn="l" marL="491192" indent="-245596" lvl="1">
              <a:lnSpc>
                <a:spcPts val="2843"/>
              </a:lnSpc>
              <a:buAutoNum type="arabicPeriod" startAt="1"/>
            </a:pPr>
            <a:r>
              <a:rPr lang="en-US" sz="2275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Замовити необхідне по сухому складу та заморозці</a:t>
            </a:r>
          </a:p>
          <a:p>
            <a:pPr algn="l">
              <a:lnSpc>
                <a:spcPts val="2843"/>
              </a:lnSpc>
            </a:pP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Два договори з </a:t>
            </a: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Card 3" id="3"/>
          <p:cNvSpPr/>
          <p:nvPr/>
        </p:nvSpPr>
        <p:spPr>
          <a:xfrm>
            <a:off x="1219200" y="3300000"/>
            <a:ext cx="3800000" cy="26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4" id="4"/>
          <p:cNvSpPr txBox="true"/>
          <p:nvPr/>
        </p:nvSpPr>
        <p:spPr>
          <a:xfrm>
            <a:off x="1504950" y="3300000"/>
            <a:ext cx="3228500" cy="26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3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Інвестор-франчайзі</a:t>
            </a:r>
          </a:p>
        </p:txBody>
      </p:sp>
      <p:sp>
        <p:nvSpPr>
          <p:cNvPr name="Card 5" id="5"/>
          <p:cNvSpPr/>
          <p:nvPr/>
        </p:nvSpPr>
        <p:spPr>
          <a:xfrm>
            <a:off x="7244000" y="3300000"/>
            <a:ext cx="3800000" cy="26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6" id="6"/>
          <p:cNvSpPr txBox="true"/>
          <p:nvPr/>
        </p:nvSpPr>
        <p:spPr>
          <a:xfrm>
            <a:off x="7529750" y="3300000"/>
            <a:ext cx="3228500" cy="26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3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Card 7" id="7"/>
          <p:cNvSpPr/>
          <p:nvPr/>
        </p:nvSpPr>
        <p:spPr>
          <a:xfrm>
            <a:off x="13268800" y="3300000"/>
            <a:ext cx="3800000" cy="26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8" id="8"/>
          <p:cNvSpPr txBox="true"/>
          <p:nvPr/>
        </p:nvSpPr>
        <p:spPr>
          <a:xfrm>
            <a:off x="13554550" y="3300000"/>
            <a:ext cx="3228500" cy="26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3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cxnSp>
        <p:nvCxnSpPr>
          <p:cNvPr name="Arrow 9" id="9"/>
          <p:cNvCxnSpPr/>
          <p:nvPr/>
        </p:nvCxnSpPr>
        <p:spPr>
          <a:xfrm>
            <a:off x="5169200" y="4600000"/>
            <a:ext cx="1924800" cy="0"/>
          </a:xfrm>
          <a:prstGeom prst="line">
            <a:avLst/>
          </a:prstGeom>
          <a:ln w="38100">
            <a:solidFill>
              <a:srgbClr val="FBFBF8"/>
            </a:solidFill>
            <a:headEnd type="triangle"/>
            <a:tailEnd type="triangle"/>
          </a:ln>
        </p:spPr>
      </p:cxnSp>
      <p:sp>
        <p:nvSpPr>
          <p:cNvPr name="TextBox 10" id="10"/>
          <p:cNvSpPr txBox="true"/>
          <p:nvPr/>
        </p:nvSpPr>
        <p:spPr>
          <a:xfrm>
            <a:off x="5169200" y="3900000"/>
            <a:ext cx="1924800" cy="5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Договір 1</a:t>
            </a:r>
          </a:p>
        </p:txBody>
      </p:sp>
      <p:cxnSp>
        <p:nvCxnSpPr>
          <p:cNvPr name="Arrow 11" id="11"/>
          <p:cNvCxnSpPr/>
          <p:nvPr/>
        </p:nvCxnSpPr>
        <p:spPr>
          <a:xfrm>
            <a:off x="11194000" y="4600000"/>
            <a:ext cx="1924800" cy="0"/>
          </a:xfrm>
          <a:prstGeom prst="line">
            <a:avLst/>
          </a:prstGeom>
          <a:ln w="38100">
            <a:solidFill>
              <a:srgbClr val="FBFBF8"/>
            </a:solidFill>
            <a:headEnd type="triangle"/>
            <a:tailEnd type="triangle"/>
          </a:ln>
        </p:spPr>
      </p:cxnSp>
      <p:sp>
        <p:nvSpPr>
          <p:cNvPr name="TextBox 12" id="12"/>
          <p:cNvSpPr txBox="true"/>
          <p:nvPr/>
        </p:nvSpPr>
        <p:spPr>
          <a:xfrm>
            <a:off x="11194000" y="3900000"/>
            <a:ext cx="1924800" cy="5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Договір 2</a:t>
            </a:r>
          </a:p>
        </p:txBody>
      </p:sp>
      <p:sp>
        <p:nvSpPr>
          <p:cNvPr name="Note 13" id="13"/>
          <p:cNvSpPr/>
          <p:nvPr/>
        </p:nvSpPr>
        <p:spPr>
          <a:xfrm>
            <a:off x="1219200" y="8750000"/>
            <a:ext cx="15849600" cy="100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14" id="14"/>
          <p:cNvSpPr txBox="true"/>
          <p:nvPr/>
        </p:nvSpPr>
        <p:spPr>
          <a:xfrm>
            <a:off x="1500000" y="8750000"/>
            <a:ext cx="15286000" cy="10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 і оператор укладають договори окремо: якщо один партнер виходить, договір іншого продовжує діяти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 чого складається </a:t>
            </a: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кожен договір</a:t>
            </a:r>
          </a:p>
        </p:txBody>
      </p:sp>
      <p:sp>
        <p:nvSpPr>
          <p:cNvPr name="Card 3" id="3"/>
          <p:cNvSpPr/>
          <p:nvPr/>
        </p:nvSpPr>
        <p:spPr>
          <a:xfrm>
            <a:off x="1219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4" id="4"/>
          <p:cNvSpPr txBox="true"/>
          <p:nvPr/>
        </p:nvSpPr>
        <p:spPr>
          <a:xfrm>
            <a:off x="1469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1469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Сторони та предмет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1469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Хто, що і для якої пекарні</a:t>
            </a:r>
          </a:p>
        </p:txBody>
      </p:sp>
      <p:sp>
        <p:nvSpPr>
          <p:cNvPr name="Card 7" id="7"/>
          <p:cNvSpPr/>
          <p:nvPr/>
        </p:nvSpPr>
        <p:spPr>
          <a:xfrm>
            <a:off x="5252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8" id="8"/>
          <p:cNvSpPr txBox="true"/>
          <p:nvPr/>
        </p:nvSpPr>
        <p:spPr>
          <a:xfrm>
            <a:off x="5502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5502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Права й обов'язки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5502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Інвестор, франчайзер, оператор</a:t>
            </a:r>
          </a:p>
        </p:txBody>
      </p:sp>
      <p:sp>
        <p:nvSpPr>
          <p:cNvPr name="Card 11" id="11"/>
          <p:cNvSpPr/>
          <p:nvPr/>
        </p:nvSpPr>
        <p:spPr>
          <a:xfrm>
            <a:off x="9285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2" id="12"/>
          <p:cNvSpPr txBox="true"/>
          <p:nvPr/>
        </p:nvSpPr>
        <p:spPr>
          <a:xfrm>
            <a:off x="9535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9535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Фінанси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9535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Інвестиції, збори, розподіл прибутку</a:t>
            </a:r>
          </a:p>
        </p:txBody>
      </p:sp>
      <p:sp>
        <p:nvSpPr>
          <p:cNvPr name="Card 15" id="15"/>
          <p:cNvSpPr/>
          <p:nvPr/>
        </p:nvSpPr>
        <p:spPr>
          <a:xfrm>
            <a:off x="13318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6" id="16"/>
          <p:cNvSpPr txBox="true"/>
          <p:nvPr/>
        </p:nvSpPr>
        <p:spPr>
          <a:xfrm>
            <a:off x="13568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13568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Бренд і стандарти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13568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Використання бренду, меню, якість</a:t>
            </a:r>
          </a:p>
        </p:txBody>
      </p:sp>
      <p:sp>
        <p:nvSpPr>
          <p:cNvPr name="Card 19" id="19"/>
          <p:cNvSpPr/>
          <p:nvPr/>
        </p:nvSpPr>
        <p:spPr>
          <a:xfrm>
            <a:off x="1219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0" id="20"/>
          <p:cNvSpPr txBox="true"/>
          <p:nvPr/>
        </p:nvSpPr>
        <p:spPr>
          <a:xfrm>
            <a:off x="1469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</a:t>
            </a:r>
          </a:p>
        </p:txBody>
      </p:sp>
      <p:sp>
        <p:nvSpPr>
          <p:cNvPr name="TextBox 21" id="21"/>
          <p:cNvSpPr txBox="true"/>
          <p:nvPr/>
        </p:nvSpPr>
        <p:spPr>
          <a:xfrm>
            <a:off x="1469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Звітність і контроль</a:t>
            </a:r>
          </a:p>
        </p:txBody>
      </p:sp>
      <p:sp>
        <p:nvSpPr>
          <p:cNvPr name="TextBox 22" id="22"/>
          <p:cNvSpPr txBox="true"/>
          <p:nvPr/>
        </p:nvSpPr>
        <p:spPr>
          <a:xfrm>
            <a:off x="1469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Дані, аудит, канали комунікації</a:t>
            </a:r>
          </a:p>
        </p:txBody>
      </p:sp>
      <p:sp>
        <p:nvSpPr>
          <p:cNvPr name="Card 23" id="23"/>
          <p:cNvSpPr/>
          <p:nvPr/>
        </p:nvSpPr>
        <p:spPr>
          <a:xfrm>
            <a:off x="5252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4" id="24"/>
          <p:cNvSpPr txBox="true"/>
          <p:nvPr/>
        </p:nvSpPr>
        <p:spPr>
          <a:xfrm>
            <a:off x="5502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</a:t>
            </a:r>
          </a:p>
        </p:txBody>
      </p:sp>
      <p:sp>
        <p:nvSpPr>
          <p:cNvPr name="TextBox 25" id="25"/>
          <p:cNvSpPr txBox="true"/>
          <p:nvPr/>
        </p:nvSpPr>
        <p:spPr>
          <a:xfrm>
            <a:off x="5502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Строк і продовження</a:t>
            </a:r>
          </a:p>
        </p:txBody>
      </p:sp>
      <p:sp>
        <p:nvSpPr>
          <p:cNvPr name="TextBox 26" id="26"/>
          <p:cNvSpPr txBox="true"/>
          <p:nvPr/>
        </p:nvSpPr>
        <p:spPr>
          <a:xfrm>
            <a:off x="5502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Тривалість, умови пролонгації</a:t>
            </a:r>
          </a:p>
        </p:txBody>
      </p:sp>
      <p:sp>
        <p:nvSpPr>
          <p:cNvPr name="Card 27" id="27"/>
          <p:cNvSpPr/>
          <p:nvPr/>
        </p:nvSpPr>
        <p:spPr>
          <a:xfrm>
            <a:off x="9285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8" id="28"/>
          <p:cNvSpPr txBox="true"/>
          <p:nvPr/>
        </p:nvSpPr>
        <p:spPr>
          <a:xfrm>
            <a:off x="9535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</a:t>
            </a:r>
          </a:p>
        </p:txBody>
      </p:sp>
      <p:sp>
        <p:nvSpPr>
          <p:cNvPr name="TextBox 29" id="29"/>
          <p:cNvSpPr txBox="true"/>
          <p:nvPr/>
        </p:nvSpPr>
        <p:spPr>
          <a:xfrm>
            <a:off x="9535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Зміни та вихід</a:t>
            </a:r>
          </a:p>
        </p:txBody>
      </p:sp>
      <p:sp>
        <p:nvSpPr>
          <p:cNvPr name="TextBox 30" id="30"/>
          <p:cNvSpPr txBox="true"/>
          <p:nvPr/>
        </p:nvSpPr>
        <p:spPr>
          <a:xfrm>
            <a:off x="9535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Розірвання, продаж частки, заміна сторони</a:t>
            </a:r>
          </a:p>
        </p:txBody>
      </p:sp>
      <p:sp>
        <p:nvSpPr>
          <p:cNvPr name="Card 31" id="31"/>
          <p:cNvSpPr/>
          <p:nvPr/>
        </p:nvSpPr>
        <p:spPr>
          <a:xfrm>
            <a:off x="13318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32" id="32"/>
          <p:cNvSpPr txBox="true"/>
          <p:nvPr/>
        </p:nvSpPr>
        <p:spPr>
          <a:xfrm>
            <a:off x="13568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8</a:t>
            </a:r>
          </a:p>
        </p:txBody>
      </p:sp>
      <p:sp>
        <p:nvSpPr>
          <p:cNvPr name="TextBox 33" id="33"/>
          <p:cNvSpPr txBox="true"/>
          <p:nvPr/>
        </p:nvSpPr>
        <p:spPr>
          <a:xfrm>
            <a:off x="13568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Відповідальність</a:t>
            </a:r>
          </a:p>
        </p:txBody>
      </p:sp>
      <p:sp>
        <p:nvSpPr>
          <p:cNvPr name="TextBox 34" id="34"/>
          <p:cNvSpPr txBox="true"/>
          <p:nvPr/>
        </p:nvSpPr>
        <p:spPr>
          <a:xfrm>
            <a:off x="13568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Ризики, санкції, спори</a:t>
            </a:r>
          </a:p>
        </p:txBody>
      </p:sp>
      <p:sp>
        <p:nvSpPr>
          <p:cNvPr name="Note 35" id="35"/>
          <p:cNvSpPr/>
          <p:nvPr/>
        </p:nvSpPr>
        <p:spPr>
          <a:xfrm>
            <a:off x="1219200" y="8750000"/>
            <a:ext cx="15849600" cy="100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36" id="36"/>
          <p:cNvSpPr txBox="true"/>
          <p:nvPr/>
        </p:nvSpPr>
        <p:spPr>
          <a:xfrm>
            <a:off x="1500000" y="8750000"/>
            <a:ext cx="15286000" cy="10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Каркас однаковий для обох договорів; кожен розділ — на окремому слайді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Сторони та предмет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Права й обов'язки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Фінанси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Бренд і стандарти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Звітність і контроль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Строк і продовження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Зміни та вихід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8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Відповідальність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DAHXNssl1TQ</dc:identifier>
  <dcterms:modified xsi:type="dcterms:W3CDTF">2011-08-01T06:04:30Z</dcterms:modified>
  <cp:revision>1</cp:revision>
  <dc:title>Управлінська франшиза</dc:title>
</cp:coreProperties>
</file>