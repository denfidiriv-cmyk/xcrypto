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5"/>
    <p:sldId id="284" r:id="rId36"/>
    <p:sldId id="285" r:id="rId37"/>
    <p:sldId id="286" r:id="rId38"/>
  </p:sldIdLst>
  <p:sldSz cx="18288000" cy="10287000"/>
  <p:notesSz cx="6858000" cy="9144000"/>
  <p:embeddedFontLst>
    <p:embeddedFont>
      <p:font typeface="Fira Sans Extra Condensed Bold" charset="1" panose="020B0803050000020004"/>
      <p:regular r:id="rId33"/>
    </p:embeddedFont>
    <p:embeddedFont>
      <p:font typeface="Fira Sans Extra Condensed" charset="1" panose="020B060305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4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6" y="5878571"/>
            <a:ext cx="3203299" cy="91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1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франшиз і підбір найреальнішого для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 </a:t>
            </a: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аналогу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80931" y="462877"/>
            <a:ext cx="10691572" cy="1234440"/>
            <a:chOff x="0" y="0"/>
            <a:chExt cx="1425543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543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255431">
                  <a:moveTo>
                    <a:pt x="0" y="0"/>
                  </a:moveTo>
                  <a:lnTo>
                    <a:pt x="14255431" y="0"/>
                  </a:lnTo>
                  <a:lnTo>
                    <a:pt x="1425543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-53945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25543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Операційна франшиза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10709402" y="0"/>
                  </a:lnTo>
                  <a:cubicBezTo>
                    <a:pt x="10854944" y="0"/>
                    <a:pt x="10972800" y="117856"/>
                    <a:pt x="10972800" y="263398"/>
                  </a:cubicBezTo>
                  <a:lnTo>
                    <a:pt x="10972800" y="1931162"/>
                  </a:lnTo>
                  <a:cubicBezTo>
                    <a:pt x="10972800" y="2076577"/>
                    <a:pt x="10854944" y="2194560"/>
                    <a:pt x="107094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7280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 і власник приміщення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стандарти, навчання, меню, постачання,  приміщення тощо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Інвестує: CAPEX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рестораном і командою, працює на ньому особисто по 60-70 годин на тиждень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9148572" y="3634740"/>
            <a:ext cx="0" cy="137160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5033772" y="4056697"/>
            <a:ext cx="374446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Одноразова сплата:</a:t>
            </a:r>
          </a:p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Вступний внесок - $10 000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32620" y="3899535"/>
            <a:ext cx="373075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Щомісячна сплата:</a:t>
            </a:r>
          </a:p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15% від виторгу + 6% від виторгу за оренду + 50% від прибутку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100250" y="6582539"/>
            <a:ext cx="48322" cy="412621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отримує: 50% чистого прибутку  (еквівалентно 5–7% виторгу - $250 000 НА РІК)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не володіє закладом та не отримає грошовї компенсації у разі звільнення з посади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7-Eleven має подібну модель франшизи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62036" y="322898"/>
            <a:ext cx="8363929" cy="1097280"/>
            <a:chOff x="0" y="0"/>
            <a:chExt cx="11151905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51905" cy="1463040"/>
            </a:xfrm>
            <a:custGeom>
              <a:avLst/>
              <a:gdLst/>
              <a:ahLst/>
              <a:cxnLst/>
              <a:rect r="r" b="b" t="t" l="l"/>
              <a:pathLst>
                <a:path h="1463040" w="11151905">
                  <a:moveTo>
                    <a:pt x="0" y="0"/>
                  </a:moveTo>
                  <a:lnTo>
                    <a:pt x="11151905" y="0"/>
                  </a:lnTo>
                  <a:lnTo>
                    <a:pt x="11151905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-96787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151905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за бізнес-форматом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5160" y="1896427"/>
            <a:ext cx="6356985" cy="1556385"/>
            <a:chOff x="0" y="0"/>
            <a:chExt cx="8475980" cy="20751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20240"/>
            <a:ext cx="6309360" cy="1640243"/>
            <a:chOff x="0" y="0"/>
            <a:chExt cx="8412480" cy="2186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2480" cy="2186991"/>
            </a:xfrm>
            <a:custGeom>
              <a:avLst/>
              <a:gdLst/>
              <a:ahLst/>
              <a:cxnLst/>
              <a:rect r="r" b="b" t="t" l="l"/>
              <a:pathLst>
                <a:path h="2186991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186991"/>
                  </a:lnTo>
                  <a:lnTo>
                    <a:pt x="0" y="21869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959" r="0" b="-2094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412480" cy="2196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Клієнт-інвестор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об’єкта 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 веде проєкт а тільки дає гроші на будівництво</a:t>
              </a:r>
            </a:p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31284" y="1896427"/>
            <a:ext cx="6356985" cy="1556385"/>
            <a:chOff x="0" y="0"/>
            <a:chExt cx="847598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5B5C8"/>
            </a:solid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055096" y="1920240"/>
            <a:ext cx="6309360" cy="1508760"/>
            <a:chOff x="0" y="0"/>
            <a:chExt cx="841248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</a:t>
              </a: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: бренд, стандарти, підтримка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Закріплює за франчайзі окрему територію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970080" y="4228147"/>
            <a:ext cx="6356985" cy="1556385"/>
            <a:chOff x="0" y="0"/>
            <a:chExt cx="847598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993892" y="4251960"/>
            <a:ext cx="6309360" cy="1508760"/>
            <a:chOff x="0" y="0"/>
            <a:chExt cx="841248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Самостійно шукає клієнтів та веде їх під ключ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Сплачує встуний внесок франчайзеру : $35 тис.-$65 тис.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970080" y="6628447"/>
            <a:ext cx="6356985" cy="1419225"/>
            <a:chOff x="0" y="0"/>
            <a:chExt cx="8475980" cy="1892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980" cy="1892300"/>
            </a:xfrm>
            <a:custGeom>
              <a:avLst/>
              <a:gdLst/>
              <a:ahLst/>
              <a:cxnLst/>
              <a:rect r="r" b="b" t="t" l="l"/>
              <a:pathLst>
                <a:path h="1892300" w="8475980">
                  <a:moveTo>
                    <a:pt x="0" y="283845"/>
                  </a:moveTo>
                  <a:cubicBezTo>
                    <a:pt x="0" y="127127"/>
                    <a:pt x="127127" y="0"/>
                    <a:pt x="283845" y="0"/>
                  </a:cubicBezTo>
                  <a:lnTo>
                    <a:pt x="8192135" y="0"/>
                  </a:lnTo>
                  <a:cubicBezTo>
                    <a:pt x="8348853" y="0"/>
                    <a:pt x="8475980" y="127127"/>
                    <a:pt x="8475980" y="283845"/>
                  </a:cubicBezTo>
                  <a:lnTo>
                    <a:pt x="8475980" y="1608455"/>
                  </a:lnTo>
                  <a:cubicBezTo>
                    <a:pt x="8475980" y="1765173"/>
                    <a:pt x="8348853" y="1892300"/>
                    <a:pt x="8192135" y="1892300"/>
                  </a:cubicBezTo>
                  <a:lnTo>
                    <a:pt x="283845" y="1892300"/>
                  </a:lnTo>
                  <a:cubicBezTo>
                    <a:pt x="127127" y="1892300"/>
                    <a:pt x="0" y="1765173"/>
                    <a:pt x="0" y="1608455"/>
                  </a:cubicBezTo>
                  <a:close/>
                </a:path>
              </a:pathLst>
            </a:custGeom>
            <a:solidFill>
              <a:srgbClr val="0B4D36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93892" y="6652260"/>
            <a:ext cx="6309360" cy="1371600"/>
            <a:chOff x="0" y="0"/>
            <a:chExt cx="8412480" cy="1828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631" r="0" b="-3963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8412480" cy="1838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Підрядники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Будують об’єкт; підпорядковуються Франчайзі CVG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980519">
            <a:off x="3987336" y="3826192"/>
            <a:ext cx="3094139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-984840">
            <a:off x="11215392" y="3826192"/>
            <a:ext cx="3080976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148572" y="5760720"/>
            <a:ext cx="0" cy="89154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09447" y="8494395"/>
            <a:ext cx="16478250" cy="1322070"/>
            <a:chOff x="0" y="0"/>
            <a:chExt cx="21971000" cy="1762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000" cy="1762887"/>
            </a:xfrm>
            <a:custGeom>
              <a:avLst/>
              <a:gdLst/>
              <a:ahLst/>
              <a:cxnLst/>
              <a:rect r="r" b="b" t="t" l="l"/>
              <a:pathLst>
                <a:path h="1762887" w="21971000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692615" y="0"/>
                  </a:lnTo>
                  <a:cubicBezTo>
                    <a:pt x="21846285" y="0"/>
                    <a:pt x="21971000" y="124587"/>
                    <a:pt x="21971000" y="278384"/>
                  </a:cubicBezTo>
                  <a:lnTo>
                    <a:pt x="21971000" y="1484503"/>
                  </a:lnTo>
                  <a:cubicBezTo>
                    <a:pt x="21971000" y="1638173"/>
                    <a:pt x="21846412" y="1762887"/>
                    <a:pt x="21692615" y="1762887"/>
                  </a:cubicBezTo>
                  <a:lnTo>
                    <a:pt x="278384" y="1762887"/>
                  </a:lnTo>
                  <a:cubicBezTo>
                    <a:pt x="124587" y="1762760"/>
                    <a:pt x="0" y="1638173"/>
                    <a:pt x="0" y="1484376"/>
                  </a:cubicBezTo>
                  <a:close/>
                </a:path>
              </a:pathLst>
            </a:custGeom>
            <a:solidFill>
              <a:srgbClr val="F5B5C8"/>
            </a:solidFill>
            <a:ln w="19050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503920"/>
            <a:ext cx="16459200" cy="1303020"/>
            <a:chOff x="0" y="0"/>
            <a:chExt cx="2194560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126" r="0" b="-19612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1945600" cy="1746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заробляє за надання послуг клієнтам-інвесторам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03919" y="354745"/>
            <a:ext cx="7999620" cy="1234440"/>
            <a:chOff x="0" y="0"/>
            <a:chExt cx="1066616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616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666161">
                  <a:moveTo>
                    <a:pt x="0" y="0"/>
                  </a:moveTo>
                  <a:lnTo>
                    <a:pt x="10666161" y="0"/>
                  </a:lnTo>
                  <a:lnTo>
                    <a:pt x="1066616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4130" r="-109178" b="-21413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66616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7622413" y="0"/>
                  </a:lnTo>
                  <a:cubicBezTo>
                    <a:pt x="7755763" y="0"/>
                    <a:pt x="7863840" y="108077"/>
                    <a:pt x="7863840" y="241427"/>
                  </a:cubicBezTo>
                  <a:lnTo>
                    <a:pt x="7863840" y="1770253"/>
                  </a:lnTo>
                  <a:cubicBezTo>
                    <a:pt x="7863840" y="1903603"/>
                    <a:pt x="7755763" y="2011680"/>
                    <a:pt x="762241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центром: бренд, продажі, персонал, системи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56480" y="196500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434" r="0" b="-24434"/>
              </a:stretch>
            </a:blip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80292" y="198882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Партнер-інвестор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</a:t>
              </a: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інансує Capex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Коворкінг-центр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Належить інвестору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-9336660">
            <a:off x="434036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rot="-1463340">
            <a:off x="1044398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2" id="22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43700" y="6893066"/>
            <a:ext cx="4800600" cy="1232887"/>
            <a:chOff x="0" y="0"/>
            <a:chExt cx="6400800" cy="16438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643850"/>
            </a:xfrm>
            <a:custGeom>
              <a:avLst/>
              <a:gdLst/>
              <a:ahLst/>
              <a:cxnLst/>
              <a:rect r="r" b="b" t="t" l="l"/>
              <a:pathLst>
                <a:path h="164385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3850"/>
                  </a:lnTo>
                  <a:lnTo>
                    <a:pt x="0" y="16438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51" r="0" b="-175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400800" cy="165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Компанії й фрілансери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148572" y="6538913"/>
            <a:ext cx="121321" cy="391257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 отримує плату за управління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 отримує чистий прибуток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КЕРОВАНА МОДЕЛЬ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 (Atria, Sunrise)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Інвестор-власник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Володіє 553 будинками, може розірвати договір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" id="11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Оператор: Atria, Sunrise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будинком: персонал, закупівлі, продажі місць, облік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456576" y="5465445"/>
            <a:ext cx="310181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Плата оператору: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4,5–7% виторгу + бонус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Мешканці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платять за проживання й догляд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 отримує чистий прибуток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+ НЕЗАЛЕЖНИЙ ОПЕРАТОР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Керуюча компанія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Незалежний оператор, якого найняв 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директора (GM), персонал,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щоденне управління готелем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стандарти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Погоджує оператора, може вимагати заміни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2,5–3,5% виручки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бонус з прибутку понад пріоритет власника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$400 за номер, мінімум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 5,5% виручки за номери + 2% маркетинговий фонд 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(REIT) = 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 обирає і наймає оператора, платить бренду й оператору, отримує прибуток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наймає оператора; Marriott лише погоджує його й може вимагати заміни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Apple Hospitality REIT, 2026: 13 готелів переведено з управління Marriott на цю модель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Бренд і оператор одночасно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бронювання, лояльність,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директора (GM), персонал, щоденне управління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1" id="11"/>
          <p:cNvSpPr txBox="true"/>
          <p:nvPr/>
        </p:nvSpPr>
        <p:spPr>
          <a:xfrm rot="0">
            <a:off x="3154680" y="3771900"/>
            <a:ext cx="57607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Базова плата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управління: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5,5% виручки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2620" y="3771900"/>
            <a:ext cx="68580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Бонус: 6–10% скоригованого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валового операційного прибутку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системні збори бренду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= власник готелю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Наймає саму Marriott за договором управління на 20–30 років, нічим не керує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790976" y="6993006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9240034" y="6618226"/>
            <a:ext cx="8398" cy="456042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прибуток готелю після всіх платежів Marriott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Окремого оператора немає · договори довгі (20–30 років), замінити оператора складніше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ІНВЕСТОР-ОРЕНДОДАВЕЦЬ АВТОМИЙОК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землі й будівлі мийки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Інвестує: купівлю об'єкта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(напр., $5,24 млн, Керролтон)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систему мийки,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обладнання, навчання, IT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NNN-оренда: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$380 000 на рік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+10% кожні 5 років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(15 років)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Щотижня: 4% виторгу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+ 1% фонд бренду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IT-збір $80–150 на тиждень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Купує обладнання ($2,2–2,5 млн), керує мийкою і командою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фіксовану NNN-оренду, cap rate ~6,3–7,3%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Ризик: дефолт оператора; будівлю мийки складно здати іншому орендарю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Висновки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21925" y="1952033"/>
            <a:ext cx="16120506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CHICK-FIL-A - не підходить, так як ми не маємо власних приміщень і не маємо на них грошей.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 CVG - відображення моделі роботи офісу де роль франчайзі виконує менеджер відповідальний за проект. 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IWG - найбільш підходяща під нас модель, але замість коворкінг центру - пекарня.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Ventas - Lviv Croissants не вклинюються в цю модель, адже є інвест-компанія яка сама супроводжує будівництво а оператора наймає для керування.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Marriot - релевантний, однак це або класична управлінська франшиза, або звична модель, що хтось з команди франчайзі дає кошти, а інший - курує.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Tommy’s Express - не релевантний через інвестиційний фокус на землі та нерухомості.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2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успіху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Секрет росту франшизи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9888"/>
            <a:ext cx="3733800" cy="3448050"/>
            <a:chOff x="0" y="0"/>
            <a:chExt cx="4978400" cy="4597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50–60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Кластерна експансія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магазинів навколо одного розподільчого центру: щільність, дешева логістика, бар'єр для конкурентів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909888"/>
            <a:ext cx="3733800" cy="3448050"/>
            <a:chOff x="0" y="0"/>
            <a:chExt cx="497840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IT-система даних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продажі за день аналізуються до ранку; за рік змінюється ~70% асортименту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909888"/>
            <a:ext cx="3733800" cy="3448050"/>
            <a:chOff x="0" y="0"/>
            <a:chExt cx="4978400" cy="4597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 → 9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Об'єднана доставка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624388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вантажівок на магазин щодня (1974 → 2006); свіжа їжа до 3 разів на день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909888"/>
            <a:ext cx="3733800" cy="3448050"/>
            <a:chOff x="0" y="0"/>
            <a:chExt cx="4978400" cy="4597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45%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Чіткі ролі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SEJ бере 45% валового прибутку, дає IT, замовлення, рекламу; франчайзі керує магазином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2023" y="7520940"/>
            <a:ext cx="106038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РЕЗУЛЬТАТ: 2 299 → 19 422 магазини (1984–2016), 41% ринку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44406" y="8035290"/>
            <a:ext cx="11799189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Продажі на магазин: ¥647 тис./день проти ¥484 тис. у конкурентів (2004)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 ще підсилює зростання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21292"/>
            <a:ext cx="3733800" cy="3825240"/>
            <a:chOff x="0" y="0"/>
            <a:chExt cx="4978400" cy="51003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¥1 трлн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Власні бренди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435792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Seven Premium: +20% щороку (2016); ексклюзивні товари, контроль якості та маржі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721292"/>
            <a:ext cx="3733800" cy="3825240"/>
            <a:chOff x="0" y="0"/>
            <a:chExt cx="4978400" cy="5100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29,8%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Свіжа їжа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435792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частка fast food у продажах (2015); оніґірі з пакуванням, що тримає норі хрусткою, стали хітом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721292"/>
            <a:ext cx="3733800" cy="3825240"/>
            <a:chOff x="0" y="0"/>
            <a:chExt cx="4978400" cy="5100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3 000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953828"/>
            <a:ext cx="3217926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Локальний асортимент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438650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SKU в середньому в магазині з 5 000; американські хот-доги не прижились, тож перейшли на місцеву їжу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721292"/>
            <a:ext cx="3733800" cy="3825240"/>
            <a:chOff x="0" y="0"/>
            <a:chExt cx="4978400" cy="5100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18 000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Сервіси «під ключ»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435792"/>
            <a:ext cx="3217926" cy="1339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банкоматів Seven Bank; оплата рахунків, посилки, квитки; 111 транзакцій на день на один банкомат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7528" y="7520940"/>
            <a:ext cx="105929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ВИСНОВОК: 7-Eleven продає не товар, а зручність і свіжість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296025" y="8035290"/>
            <a:ext cx="569595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Частота візитів - 1 000+ на магазин щодня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10811" y="1276350"/>
            <a:ext cx="8266377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0"/>
              </a:lnSpc>
            </a:pPr>
            <a:r>
              <a:rPr lang="en-US" sz="5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7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5125"/>
            <a:ext cx="7772400" cy="3632835"/>
            <a:chOff x="0" y="0"/>
            <a:chExt cx="10363200" cy="48437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(франчайзер)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36598" y="3842385"/>
            <a:ext cx="7072884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Розробляє асортимент і пропонує його франчайзі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Надає систему замовлень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Оплачує роботу IT-системи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бухгалтерські послуги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Забезпечує рекламу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Облаштовує та ремонтує приміщення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Покриває 80% комунальних витрат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2905125"/>
            <a:ext cx="7772400" cy="3632835"/>
            <a:chOff x="0" y="0"/>
            <a:chExt cx="10363200" cy="48437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 (власник магазину)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13798" y="3842385"/>
            <a:ext cx="7072884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магазином і його діяльністю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персонал і платить зарплату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Замовляє товари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Підтримує належний вигляд магазину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Обслуговує клієнтів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427595"/>
            <a:ext cx="15849600" cy="1335405"/>
            <a:chOff x="0" y="0"/>
            <a:chExt cx="21132800" cy="17805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780540"/>
            </a:xfrm>
            <a:custGeom>
              <a:avLst/>
              <a:gdLst/>
              <a:ahLst/>
              <a:cxnLst/>
              <a:rect r="r" b="b" t="t" l="l"/>
              <a:pathLst>
                <a:path h="178054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475740"/>
                  </a:lnTo>
                  <a:cubicBezTo>
                    <a:pt x="21132800" y="1644015"/>
                    <a:pt x="20996402" y="1780540"/>
                    <a:pt x="20828000" y="1780540"/>
                  </a:cubicBezTo>
                  <a:lnTo>
                    <a:pt x="304800" y="1780540"/>
                  </a:lnTo>
                  <a:cubicBezTo>
                    <a:pt x="136525" y="1780540"/>
                    <a:pt x="0" y="1644142"/>
                    <a:pt x="0" y="147574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2886666" y="7703820"/>
            <a:ext cx="12514516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бере 45% валового прибутку магазину (1994), решта належить франчайзі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632" y="8155305"/>
            <a:ext cx="6954584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Франшизу отримує менш ніж 1 із 100 кандидатів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3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структури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Франшиза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: схема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359981"/>
            <a:ext cx="7752083" cy="1730378"/>
            <a:chOff x="0" y="0"/>
            <a:chExt cx="10336111" cy="23071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36149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3614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31349" y="0"/>
                  </a:lnTo>
                  <a:cubicBezTo>
                    <a:pt x="10199624" y="0"/>
                    <a:pt x="10336149" y="136525"/>
                    <a:pt x="10336149" y="304800"/>
                  </a:cubicBezTo>
                  <a:lnTo>
                    <a:pt x="10336149" y="2002409"/>
                  </a:lnTo>
                  <a:cubicBezTo>
                    <a:pt x="10336149" y="2170684"/>
                    <a:pt x="10199624" y="2307209"/>
                    <a:pt x="10031349" y="2307209"/>
                  </a:cubicBezTo>
                  <a:lnTo>
                    <a:pt x="304800" y="2307209"/>
                  </a:lnTo>
                  <a:cubicBezTo>
                    <a:pt x="136525" y="2307209"/>
                    <a:pt x="0" y="2170684"/>
                    <a:pt x="0" y="2002409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3545919" y="2655256"/>
            <a:ext cx="3098483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6106" y="3133411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Франчайзер: бренд, система мийки, навчання, IT; проєкт і обладнання через афілійовану VQ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6083" y="2359981"/>
            <a:ext cx="7792717" cy="1730378"/>
            <a:chOff x="0" y="0"/>
            <a:chExt cx="10390289" cy="23071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90378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90378">
                  <a:moveTo>
                    <a:pt x="0" y="290576"/>
                  </a:moveTo>
                  <a:cubicBezTo>
                    <a:pt x="0" y="130048"/>
                    <a:pt x="130048" y="0"/>
                    <a:pt x="290576" y="0"/>
                  </a:cubicBezTo>
                  <a:lnTo>
                    <a:pt x="10099802" y="0"/>
                  </a:lnTo>
                  <a:cubicBezTo>
                    <a:pt x="10260203" y="0"/>
                    <a:pt x="10390378" y="130048"/>
                    <a:pt x="10390378" y="290576"/>
                  </a:cubicBezTo>
                  <a:lnTo>
                    <a:pt x="10390378" y="2016633"/>
                  </a:lnTo>
                  <a:cubicBezTo>
                    <a:pt x="10390378" y="2177034"/>
                    <a:pt x="10260330" y="2307209"/>
                    <a:pt x="10099802" y="2307209"/>
                  </a:cubicBezTo>
                  <a:lnTo>
                    <a:pt x="290576" y="2307209"/>
                  </a:lnTo>
                  <a:cubicBezTo>
                    <a:pt x="130048" y="2307209"/>
                    <a:pt x="0" y="2177034"/>
                    <a:pt x="0" y="2016633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2427201" y="2675573"/>
            <a:ext cx="1490472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Ділянка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33306" y="3153727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купує її сам або орендує в афілійованої компанії чи в інвестора</a:t>
            </a:r>
          </a:p>
        </p:txBody>
      </p:sp>
      <p:sp>
        <p:nvSpPr>
          <p:cNvPr name="AutoShape 11" id="11"/>
          <p:cNvSpPr/>
          <p:nvPr/>
        </p:nvSpPr>
        <p:spPr>
          <a:xfrm rot="5252760">
            <a:off x="5804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5747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Tommy's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74797" y="5027133"/>
            <a:ext cx="7325363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$50 000 одноразово; щотижня 4% роялті + 1% фонд бренду + IT; $2,18–2,52 млн за пакет VQ</a:t>
            </a:r>
          </a:p>
        </p:txBody>
      </p:sp>
      <p:sp>
        <p:nvSpPr>
          <p:cNvPr name="AutoShape 14" id="14"/>
          <p:cNvSpPr/>
          <p:nvPr/>
        </p:nvSpPr>
        <p:spPr>
          <a:xfrm rot="5252760">
            <a:off x="86576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96519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за ділянку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1997" y="5027133"/>
            <a:ext cx="7325363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або купує її, або платить оренду; суму оренди FDD не вказує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9200" y="6139339"/>
            <a:ext cx="15849600" cy="1369695"/>
            <a:chOff x="0" y="0"/>
            <a:chExt cx="21132800" cy="18262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132800" cy="1826260"/>
            </a:xfrm>
            <a:custGeom>
              <a:avLst/>
              <a:gdLst/>
              <a:ahLst/>
              <a:cxnLst/>
              <a:rect r="r" b="b" t="t" l="l"/>
              <a:pathLst>
                <a:path h="182626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521460"/>
                  </a:lnTo>
                  <a:cubicBezTo>
                    <a:pt x="21132800" y="1689735"/>
                    <a:pt x="20996275" y="1826260"/>
                    <a:pt x="20828000" y="1826260"/>
                  </a:cubicBezTo>
                  <a:lnTo>
                    <a:pt x="304800" y="1826260"/>
                  </a:lnTo>
                  <a:cubicBezTo>
                    <a:pt x="136525" y="1826260"/>
                    <a:pt x="0" y="1689735"/>
                    <a:pt x="0" y="152146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33272" y="6434614"/>
            <a:ext cx="4021455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25303" y="6912769"/>
            <a:ext cx="9637395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наймає персонал, керує мийкою; дохід дають клієнти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Інвестиції оператора $4,18–5,97 млн без землі; Tommy's бере 5% виторгу щотижня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Три варіанти ділянки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359467"/>
            <a:ext cx="5130803" cy="2786062"/>
            <a:chOff x="0" y="0"/>
            <a:chExt cx="6841071" cy="37147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оператор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Земля за власні кошти; її вартість не входить у $4,18–5,97 млн. Ділянку затверджує Tommy's за 30 днів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359467"/>
            <a:ext cx="5130803" cy="2786062"/>
            <a:chOff x="0" y="0"/>
            <a:chExt cx="6841071" cy="37147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Оренда в афілійованої компанії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TX Real Estate, Inc. здає частину локацій; Tommy's може купити чи орендувати ділянку для оператора й заробити на цьому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359467"/>
            <a:ext cx="5130803" cy="2786062"/>
            <a:chOff x="0" y="0"/>
            <a:chExt cx="6841071" cy="3714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Незалежний інвестор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 шукає його сам; оренда має бути погоджена з Tommy's, а в договорі є Collateral Lease Assignment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31418"/>
            <a:ext cx="15849600" cy="1231582"/>
            <a:chOff x="0" y="0"/>
            <a:chExt cx="21132800" cy="164211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42110"/>
            </a:xfrm>
            <a:custGeom>
              <a:avLst/>
              <a:gdLst/>
              <a:ahLst/>
              <a:cxnLst/>
              <a:rect r="r" b="b" t="t" l="l"/>
              <a:pathLst>
                <a:path h="164211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337310"/>
                  </a:lnTo>
                  <a:cubicBezTo>
                    <a:pt x="21132800" y="1505585"/>
                    <a:pt x="20996402" y="1642110"/>
                    <a:pt x="20828000" y="1642110"/>
                  </a:cubicBezTo>
                  <a:lnTo>
                    <a:pt x="304800" y="1642110"/>
                  </a:lnTo>
                  <a:cubicBezTo>
                    <a:pt x="136525" y="1642110"/>
                    <a:pt x="0" y="1505712"/>
                    <a:pt x="0" y="133731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52885" y="7779068"/>
            <a:ext cx="1358207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При дефолті Tommy's може зайняти об'єкт, вигнати оператора й передати мийку іншому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7554" y="8208645"/>
            <a:ext cx="1201274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Сум оренди й інвесторів у FDD немає: NNN-оренда $380 000 на рік (Керролтон) взята не з нього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Хто кому платить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29360" y="2456656"/>
          <a:ext cx="15773400" cy="4933950"/>
        </p:xfrm>
        <a:graphic>
          <a:graphicData uri="http://schemas.openxmlformats.org/drawingml/2006/table">
            <a:tbl>
              <a:tblPr/>
              <a:tblGrid>
                <a:gridCol w="3943350"/>
                <a:gridCol w="3943350"/>
                <a:gridCol w="3943350"/>
                <a:gridCol w="3943350"/>
              </a:tblGrid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Платіж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Сума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Кому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$50 000, не повертається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при підписанні договору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58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Будівля, обладнання, POS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$2,18–2,52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афілійована VQ, Inc.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етапами: дозволи, матеріали, обладнання, перед відкриттям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щовівторка за минулий тиждень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Фонд бренду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IT-збір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$80–150 на тиждень (зараз $70)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або постачальник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Місцевий маркетинг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2% виторгу (рекомендовано)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місцеві 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щомісяця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Маркетинг відкриття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від $10 000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 відкритті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заробляє на роялті (5%) і на продажу обладнання через афілійовану VQ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грошей потрібно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33513"/>
            <a:ext cx="4572000" cy="4401817"/>
            <a:chOff x="0" y="0"/>
            <a:chExt cx="6096000" cy="586908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96000" cy="5869051"/>
            </a:xfrm>
            <a:custGeom>
              <a:avLst/>
              <a:gdLst/>
              <a:ahLst/>
              <a:cxnLst/>
              <a:rect r="r" b="b" t="t" l="l"/>
              <a:pathLst>
                <a:path h="5869051" w="60960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5791200" y="0"/>
                  </a:lnTo>
                  <a:cubicBezTo>
                    <a:pt x="5959475" y="0"/>
                    <a:pt x="6096000" y="136398"/>
                    <a:pt x="6096000" y="304800"/>
                  </a:cubicBezTo>
                  <a:lnTo>
                    <a:pt x="6096000" y="5564251"/>
                  </a:lnTo>
                  <a:cubicBezTo>
                    <a:pt x="6096000" y="5732526"/>
                    <a:pt x="5959602" y="5869051"/>
                    <a:pt x="5791200" y="5869051"/>
                  </a:cubicBezTo>
                  <a:lnTo>
                    <a:pt x="304800" y="5869051"/>
                  </a:lnTo>
                  <a:cubicBezTo>
                    <a:pt x="136525" y="5869051"/>
                    <a:pt x="0" y="5732653"/>
                    <a:pt x="0" y="55642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4060984"/>
            <a:ext cx="39243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$4,18–5,97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00200" y="4826794"/>
            <a:ext cx="39243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початкові інвестиції без землі та нерухомості; фінансування від Tommy's немає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106161" y="2743674"/>
          <a:ext cx="10915650" cy="4362450"/>
        </p:xfrm>
        <a:graphic>
          <a:graphicData uri="http://schemas.openxmlformats.org/drawingml/2006/table">
            <a:tbl>
              <a:tblPr/>
              <a:tblGrid>
                <a:gridCol w="3638550"/>
                <a:gridCol w="3638550"/>
                <a:gridCol w="3638550"/>
              </a:tblGrid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Стаття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Від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До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Проєкт і дозволи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$137 000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$620 500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Будівельні роботи (підрядники)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$1,70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$2,64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Пакет Tommy's (VQ)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Страхування, ліцензії, меблі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$15 850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$42 000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91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Навчання, відкриття, резерв на 3 місяці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$102 500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$106 527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Землю й нерухомість оператор купує або орендує окремо: в афілійованої компанії чи в інвестора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02232" y="1266825"/>
            <a:ext cx="1008353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Tommy’s Express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424714"/>
            <a:ext cx="7772400" cy="3019425"/>
            <a:chOff x="0" y="0"/>
            <a:chExt cx="10363200" cy="4025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472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Затверджує ділянку за 30 днів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проєкт, специфікації, пакет обладнання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будівництвом і монтажем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список постачальників і хімію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посібник; навчає 3 людей (~20 днів, Holland, MI)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Веде фонд бренду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3424714"/>
            <a:ext cx="7772400" cy="3019425"/>
            <a:chOff x="0" y="0"/>
            <a:chExt cx="10363200" cy="40259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244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Знаходить і купує або орендує ділянку (120 днів)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підрядники його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обладнання, хімію, запчастини в Tommy's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й оплачує персонал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Страхує бізнес і платить за поїздки на навчання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Витрачає від $10 000 на маркетинг відкриття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Договір на 20 років + 3 продовження по 10; територія не ексклюзивна (радіус 1–5 миль)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заробляють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503295"/>
            <a:ext cx="5130803" cy="2476500"/>
            <a:chOff x="0" y="0"/>
            <a:chExt cx="6841071" cy="3302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$1,74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12–24 місяці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(6 мийок; від $1,30 до $2,15 млн)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503295"/>
            <a:ext cx="5130803" cy="2476500"/>
            <a:chOff x="0" y="0"/>
            <a:chExt cx="6841071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$2,16 млн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24+ місяці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(3 мийки; від $2,02 до $2,33 млн)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503295"/>
            <a:ext cx="5130803" cy="2476500"/>
            <a:chOff x="0" y="0"/>
            <a:chExt cx="6841071" cy="330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~$87–108 тис.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5% виторгу Tommy's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роялті та фонд бренду на рік (наш розрахунок із середніх виторгів)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09510"/>
            <a:ext cx="15849600" cy="1253490"/>
            <a:chOff x="0" y="0"/>
            <a:chExt cx="21132800" cy="1671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71320"/>
            </a:xfrm>
            <a:custGeom>
              <a:avLst/>
              <a:gdLst/>
              <a:ahLst/>
              <a:cxnLst/>
              <a:rect r="r" b="b" t="t" l="l"/>
              <a:pathLst>
                <a:path h="167132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366520"/>
                  </a:lnTo>
                  <a:cubicBezTo>
                    <a:pt x="21132800" y="1534795"/>
                    <a:pt x="20996275" y="1671320"/>
                    <a:pt x="20828000" y="1671320"/>
                  </a:cubicBezTo>
                  <a:lnTo>
                    <a:pt x="304800" y="1671320"/>
                  </a:lnTo>
                  <a:cubicBezTo>
                    <a:pt x="136525" y="1671320"/>
                    <a:pt x="0" y="1534795"/>
                    <a:pt x="0" y="136652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524506" y="7757160"/>
            <a:ext cx="1323898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Чистий прибуток франчайзі FDD не називає: лише виторг і витрати на авто ($0,83–1,19)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67253" y="8196263"/>
            <a:ext cx="11953494" cy="35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22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Афілійована Tommy Car Wash Systems отримала $41,7 млн від продажів франчайзі (2019)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4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Блокова побудова дворівневої франшизи для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63394" y="1266825"/>
            <a:ext cx="7161212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Правила підпорядкування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0201"/>
            <a:ext cx="3810000" cy="2551433"/>
            <a:chOff x="0" y="0"/>
            <a:chExt cx="5080000" cy="34019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80000" cy="3401949"/>
            </a:xfrm>
            <a:custGeom>
              <a:avLst/>
              <a:gdLst/>
              <a:ahLst/>
              <a:cxnLst/>
              <a:rect r="r" b="b" t="t" l="l"/>
              <a:pathLst>
                <a:path h="3401949" w="508000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4790948" y="0"/>
                  </a:lnTo>
                  <a:cubicBezTo>
                    <a:pt x="4950587" y="0"/>
                    <a:pt x="5080000" y="129413"/>
                    <a:pt x="5080000" y="289052"/>
                  </a:cubicBezTo>
                  <a:lnTo>
                    <a:pt x="5080000" y="3112897"/>
                  </a:lnTo>
                  <a:cubicBezTo>
                    <a:pt x="5080000" y="3272536"/>
                    <a:pt x="4950587" y="3401949"/>
                    <a:pt x="4790948" y="3401949"/>
                  </a:cubicBezTo>
                  <a:lnTo>
                    <a:pt x="289052" y="3401949"/>
                  </a:lnTo>
                  <a:cubicBezTo>
                    <a:pt x="129413" y="3401949"/>
                    <a:pt x="0" y="3272536"/>
                    <a:pt x="0" y="3112897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376720" y="3596802"/>
            <a:ext cx="3494961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5500" y="4185447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0" y="3311052"/>
            <a:ext cx="3810000" cy="1729740"/>
            <a:chOff x="0" y="0"/>
            <a:chExt cx="5080000" cy="23063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2306320"/>
            </a:xfrm>
            <a:custGeom>
              <a:avLst/>
              <a:gdLst/>
              <a:ahLst/>
              <a:cxnLst/>
              <a:rect r="r" b="b" t="t" l="l"/>
              <a:pathLst>
                <a:path h="230632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475" y="0"/>
                    <a:pt x="5080000" y="136525"/>
                    <a:pt x="5080000" y="304800"/>
                  </a:cubicBezTo>
                  <a:lnTo>
                    <a:pt x="5080000" y="2001520"/>
                  </a:lnTo>
                  <a:cubicBezTo>
                    <a:pt x="5080000" y="2169795"/>
                    <a:pt x="4943475" y="2306320"/>
                    <a:pt x="4775200" y="2306320"/>
                  </a:cubicBezTo>
                  <a:lnTo>
                    <a:pt x="304800" y="2306320"/>
                  </a:lnTo>
                  <a:cubicBezTo>
                    <a:pt x="136525" y="2306320"/>
                    <a:pt x="0" y="2169795"/>
                    <a:pt x="0" y="200152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27652" y="3596802"/>
            <a:ext cx="2832544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6551" y="4124487"/>
            <a:ext cx="337489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63300" y="4242121"/>
            <a:ext cx="371637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7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◀</a:t>
            </a:r>
          </a:p>
        </p:txBody>
      </p:sp>
      <p:sp>
        <p:nvSpPr>
          <p:cNvPr name="AutoShape 12" id="12"/>
          <p:cNvSpPr/>
          <p:nvPr/>
        </p:nvSpPr>
        <p:spPr>
          <a:xfrm rot="94440">
            <a:off x="11434591" y="4355144"/>
            <a:ext cx="1734045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3258800" y="3080547"/>
            <a:ext cx="3810000" cy="2190750"/>
            <a:chOff x="0" y="0"/>
            <a:chExt cx="5080000" cy="292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602" y="0"/>
                    <a:pt x="5080000" y="136525"/>
                    <a:pt x="5080000" y="304800"/>
                  </a:cubicBezTo>
                  <a:lnTo>
                    <a:pt x="5080000" y="2616200"/>
                  </a:lnTo>
                  <a:cubicBezTo>
                    <a:pt x="5080000" y="2784602"/>
                    <a:pt x="4943475" y="2921000"/>
                    <a:pt x="4775200" y="2921000"/>
                  </a:cubicBezTo>
                  <a:lnTo>
                    <a:pt x="304800" y="2921000"/>
                  </a:lnTo>
                  <a:cubicBezTo>
                    <a:pt x="136398" y="2921000"/>
                    <a:pt x="0" y="2784475"/>
                    <a:pt x="0" y="2616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367576" y="3596802"/>
            <a:ext cx="3592449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9200" y="6378416"/>
            <a:ext cx="15849600" cy="688340"/>
            <a:chOff x="0" y="0"/>
            <a:chExt cx="21132800" cy="9177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32800" cy="917824"/>
            </a:xfrm>
            <a:custGeom>
              <a:avLst/>
              <a:gdLst/>
              <a:ahLst/>
              <a:cxnLst/>
              <a:rect r="r" b="b" t="t" l="l"/>
              <a:pathLst>
                <a:path h="917824" w="21132800">
                  <a:moveTo>
                    <a:pt x="0" y="192150"/>
                  </a:moveTo>
                  <a:cubicBezTo>
                    <a:pt x="0" y="85979"/>
                    <a:pt x="85979" y="0"/>
                    <a:pt x="192151" y="0"/>
                  </a:cubicBezTo>
                  <a:lnTo>
                    <a:pt x="20940649" y="0"/>
                  </a:lnTo>
                  <a:cubicBezTo>
                    <a:pt x="21046821" y="0"/>
                    <a:pt x="21132800" y="85979"/>
                    <a:pt x="21132800" y="192150"/>
                  </a:cubicBezTo>
                  <a:lnTo>
                    <a:pt x="21132800" y="725674"/>
                  </a:lnTo>
                  <a:cubicBezTo>
                    <a:pt x="21132800" y="831846"/>
                    <a:pt x="21046821" y="917824"/>
                    <a:pt x="20940649" y="917824"/>
                  </a:cubicBezTo>
                  <a:lnTo>
                    <a:pt x="192151" y="917824"/>
                  </a:lnTo>
                  <a:cubicBezTo>
                    <a:pt x="85979" y="917824"/>
                    <a:pt x="0" y="831719"/>
                    <a:pt x="0" y="725674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8642" r="0" b="-398639"/>
              </a:stretch>
            </a:blipFill>
            <a:ln w="28575" cap="sq">
              <a:solidFill>
                <a:srgbClr val="F4B6C8"/>
              </a:solidFill>
              <a:prstDash val="dash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132800" cy="9273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4B6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 виступає в ролі пункту, який відфільтровує те що має дойти до кожної зі сторін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19200" y="7993380"/>
            <a:ext cx="15849600" cy="1299667"/>
            <a:chOff x="0" y="0"/>
            <a:chExt cx="21132800" cy="173289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32800" cy="1732890"/>
            </a:xfrm>
            <a:custGeom>
              <a:avLst/>
              <a:gdLst/>
              <a:ahLst/>
              <a:cxnLst/>
              <a:rect r="r" b="b" t="t" l="l"/>
              <a:pathLst>
                <a:path h="1732890" w="21132800">
                  <a:moveTo>
                    <a:pt x="0" y="514720"/>
                  </a:moveTo>
                  <a:cubicBezTo>
                    <a:pt x="0" y="230552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230552"/>
                    <a:pt x="21132800" y="514720"/>
                  </a:cubicBezTo>
                  <a:lnTo>
                    <a:pt x="21132800" y="1218170"/>
                  </a:lnTo>
                  <a:cubicBezTo>
                    <a:pt x="21132800" y="1502338"/>
                    <a:pt x="20996275" y="1732890"/>
                    <a:pt x="20828000" y="1732890"/>
                  </a:cubicBezTo>
                  <a:lnTo>
                    <a:pt x="304800" y="1732890"/>
                  </a:lnTo>
                  <a:cubicBezTo>
                    <a:pt x="136525" y="1732890"/>
                    <a:pt x="0" y="1502338"/>
                    <a:pt x="0" y="1218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21132800" cy="17233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Інвестор: Усі питання чи офіційні зверення щодо роботи оператора, результатів пекарні адресуються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Франчайзер: усі запити на фінансування, дофінансування, вагомих впроваджень адресуються інвестору через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Croissants: усі рекомендації, нововведення, зміни тощо узгоджуються з оператором (з інвестором за бажанням).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130727" y="4175446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Підпорядковується Lviv Croissants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1516" y="255270"/>
            <a:ext cx="2924969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Рух коштів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256140" y="3942779"/>
            <a:ext cx="3790950" cy="2814638"/>
            <a:chOff x="0" y="0"/>
            <a:chExt cx="5054600" cy="37528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393518" y="4854685"/>
            <a:ext cx="1500964" cy="495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</a:t>
            </a: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екарня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-326105" y="2703909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53114" y="5350098"/>
            <a:ext cx="3790950" cy="4441031"/>
            <a:chOff x="0" y="0"/>
            <a:chExt cx="5054600" cy="59213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-5400000">
            <a:off x="-391251" y="7352176"/>
            <a:ext cx="1478981" cy="43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3001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730775" y="851914"/>
            <a:ext cx="3790950" cy="2814638"/>
            <a:chOff x="0" y="0"/>
            <a:chExt cx="5054600" cy="37528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30775" y="3885626"/>
            <a:ext cx="3790950" cy="2814638"/>
            <a:chOff x="0" y="0"/>
            <a:chExt cx="5054600" cy="3752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30775" y="6919339"/>
            <a:ext cx="3790950" cy="2814638"/>
            <a:chOff x="0" y="0"/>
            <a:chExt cx="5054600" cy="37528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6836" y="702469"/>
            <a:ext cx="3790950" cy="4441031"/>
            <a:chOff x="0" y="0"/>
            <a:chExt cx="5054600" cy="59213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AutoShape 18" id="18"/>
          <p:cNvSpPr/>
          <p:nvPr/>
        </p:nvSpPr>
        <p:spPr>
          <a:xfrm>
            <a:off x="4407786" y="2922984"/>
            <a:ext cx="2848355" cy="191251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9" id="19"/>
          <p:cNvSpPr/>
          <p:nvPr/>
        </p:nvSpPr>
        <p:spPr>
          <a:xfrm>
            <a:off x="11047090" y="6051371"/>
            <a:ext cx="2683685" cy="2275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 flipV="true">
            <a:off x="11047090" y="5292945"/>
            <a:ext cx="2683685" cy="5715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flipV="true">
            <a:off x="11047090" y="2259232"/>
            <a:ext cx="2683685" cy="2530894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786149" y="794764"/>
            <a:ext cx="3452324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Construction Works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Interior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Takeover Fee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Паушальний внесок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День відкриття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Ліцензії та довзоли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Відрядження команди 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адміна + лінійки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Обладнання та інвентар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2424" y="5874588"/>
            <a:ext cx="2932330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Перше замовлення продуктів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Упаковка, курасани та уніформа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операційного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Internal Systems</a:t>
            </a:r>
          </a:p>
        </p:txBody>
      </p:sp>
      <p:sp>
        <p:nvSpPr>
          <p:cNvPr name="AutoShape 24" id="24"/>
          <p:cNvSpPr/>
          <p:nvPr/>
        </p:nvSpPr>
        <p:spPr>
          <a:xfrm flipV="true">
            <a:off x="4344064" y="5931738"/>
            <a:ext cx="2912077" cy="163887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8037517" y="5389324"/>
            <a:ext cx="2212966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генерує дохід</a:t>
            </a:r>
          </a:p>
        </p:txBody>
      </p:sp>
      <p:sp>
        <p:nvSpPr>
          <p:cNvPr name="TextBox 26" id="26"/>
          <p:cNvSpPr txBox="true"/>
          <p:nvPr/>
        </p:nvSpPr>
        <p:spPr>
          <a:xfrm rot="5400000">
            <a:off x="17065818" y="2040157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7" id="27"/>
          <p:cNvSpPr txBox="true"/>
          <p:nvPr/>
        </p:nvSpPr>
        <p:spPr>
          <a:xfrm rot="5400000">
            <a:off x="17030764" y="4954237"/>
            <a:ext cx="151532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8" id="28"/>
          <p:cNvSpPr txBox="true"/>
          <p:nvPr/>
        </p:nvSpPr>
        <p:spPr>
          <a:xfrm rot="5400000">
            <a:off x="16744168" y="8107582"/>
            <a:ext cx="199326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63218" y="1777902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 від прибукту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доходу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963218" y="5086350"/>
            <a:ext cx="345232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37% від прибутку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906248" y="7845327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прибутку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 від доходу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2698" y="143730"/>
            <a:ext cx="1419225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Вихідне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092016" y="190024"/>
            <a:ext cx="1194726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Вхідне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1232535"/>
            <a:ext cx="1627632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9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Вартість інвестицій для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5840" y="2468880"/>
            <a:ext cx="7955280" cy="5943600"/>
            <a:chOff x="0" y="0"/>
            <a:chExt cx="10607040" cy="7924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735580"/>
            <a:ext cx="704088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444240"/>
            <a:ext cx="448056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Construction Works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Обладнання та інвентар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Interior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Takeover Fee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Паушальний внесок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День відкриття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Ліцензії та дозволи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Відрядження команди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адміна + лінійки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35040" y="3444240"/>
            <a:ext cx="246888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40 000-70 000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50 000 - 75 000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25 000 - 40 000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~50 000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5 000–7 000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1 000–3 000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1 000 - 3 000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1 000 - 4 000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624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26880" y="2468880"/>
            <a:ext cx="7955280" cy="5943600"/>
            <a:chOff x="0" y="0"/>
            <a:chExt cx="10607040" cy="7924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784080" y="2735580"/>
            <a:ext cx="704088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84080" y="3444240"/>
            <a:ext cx="5486400" cy="4282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Internal Systems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Перше замовлення продуктів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Упаковка, круасани та уніформа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операційного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77752" y="3444240"/>
            <a:ext cx="1947208" cy="181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20 000 -27 000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2 000-3 000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408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2728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€42 000 - €50 000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05840" y="8641080"/>
            <a:ext cx="16276320" cy="1097280"/>
            <a:chOff x="0" y="0"/>
            <a:chExt cx="21701760" cy="1463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01761" cy="1462913"/>
            </a:xfrm>
            <a:custGeom>
              <a:avLst/>
              <a:gdLst/>
              <a:ahLst/>
              <a:cxnLst/>
              <a:rect r="r" b="b" t="t" l="l"/>
              <a:pathLst>
                <a:path h="1462913" w="21701761">
                  <a:moveTo>
                    <a:pt x="0" y="175514"/>
                  </a:moveTo>
                  <a:cubicBezTo>
                    <a:pt x="0" y="78613"/>
                    <a:pt x="78613" y="0"/>
                    <a:pt x="175514" y="0"/>
                  </a:cubicBezTo>
                  <a:lnTo>
                    <a:pt x="21526246" y="0"/>
                  </a:lnTo>
                  <a:cubicBezTo>
                    <a:pt x="21623147" y="0"/>
                    <a:pt x="21701761" y="78613"/>
                    <a:pt x="21701761" y="175514"/>
                  </a:cubicBezTo>
                  <a:lnTo>
                    <a:pt x="21701761" y="1287399"/>
                  </a:lnTo>
                  <a:cubicBezTo>
                    <a:pt x="21701761" y="1384300"/>
                    <a:pt x="21623147" y="1462913"/>
                    <a:pt x="21526246" y="1462913"/>
                  </a:cubicBezTo>
                  <a:lnTo>
                    <a:pt x="175514" y="1462913"/>
                  </a:lnTo>
                  <a:cubicBezTo>
                    <a:pt x="78613" y="1463040"/>
                    <a:pt x="0" y="1384427"/>
                    <a:pt x="0" y="1287526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792677" y="8980170"/>
            <a:ext cx="1270264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максимальне число брав німецькі показники, а мінімальне виставляв орієнтовно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19388"/>
            <a:ext cx="5130803" cy="4059555"/>
            <a:chOff x="0" y="0"/>
            <a:chExt cx="6841071" cy="5412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04950" y="3024188"/>
            <a:ext cx="4696082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1: до повернення 50% вкладень інвестора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4950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78603" y="2719388"/>
            <a:ext cx="5130803" cy="4059555"/>
            <a:chOff x="0" y="0"/>
            <a:chExt cx="6841071" cy="54127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64353" y="3024188"/>
            <a:ext cx="4696082" cy="7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2: до 100% повернення вкладень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4353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64353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64353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64353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7997" y="2719388"/>
            <a:ext cx="5130803" cy="4059555"/>
            <a:chOff x="0" y="0"/>
            <a:chExt cx="6841071" cy="5412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223747" y="3024188"/>
            <a:ext cx="2895335" cy="38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3: після окупності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23747" y="348234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23747" y="415861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223747" y="483489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223747" y="551116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19200" y="7524750"/>
            <a:ext cx="15849600" cy="1238250"/>
            <a:chOff x="0" y="0"/>
            <a:chExt cx="21132800" cy="165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1328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402" y="0"/>
                    <a:pt x="21132800" y="136525"/>
                    <a:pt x="21132800" y="304800"/>
                  </a:cubicBezTo>
                  <a:lnTo>
                    <a:pt x="21132800" y="1346200"/>
                  </a:lnTo>
                  <a:cubicBezTo>
                    <a:pt x="21132800" y="1514602"/>
                    <a:pt x="20996275" y="1651000"/>
                    <a:pt x="20828000" y="1651000"/>
                  </a:cubicBezTo>
                  <a:lnTo>
                    <a:pt x="304800" y="1651000"/>
                  </a:lnTo>
                  <a:cubicBezTo>
                    <a:pt x="136398" y="1651000"/>
                    <a:pt x="0" y="1514475"/>
                    <a:pt x="0" y="134620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43125" y="7762875"/>
            <a:ext cx="14001750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отримує більше, поки не окупився; потім більше отримує оператор, який працює щодня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018361" y="8113395"/>
            <a:ext cx="825112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Фінансова модель будується на основі етапів 1 та 2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20937" y="665797"/>
            <a:ext cx="604612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Зони відповідальності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47941" y="2071344"/>
            <a:ext cx="3504578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відкриття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030792" y="2071344"/>
            <a:ext cx="4253314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Після відкриття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11875" y="3177825"/>
            <a:ext cx="8261440" cy="6610484"/>
            <a:chOff x="0" y="0"/>
            <a:chExt cx="11015253" cy="88139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69510" y="3177825"/>
            <a:ext cx="8261440" cy="6610484"/>
            <a:chOff x="0" y="0"/>
            <a:chExt cx="11015253" cy="88139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3873729" y="3282795"/>
            <a:ext cx="145300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69510" y="3749520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Провести ремонтні роботи, оздоблення приміщення згідно з архітектурним планом.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Підписання договору оренди та оформлення ліцензій/дозволів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1385" y="5242576"/>
            <a:ext cx="159769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9510" y="5781645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615355" y="7334927"/>
            <a:ext cx="1969749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Франчайзер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9510" y="7877852"/>
            <a:ext cx="8261440" cy="1800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</a:t>
            </a:r>
          </a:p>
          <a:p>
            <a:pPr algn="l">
              <a:lnSpc>
                <a:spcPts val="2843"/>
              </a:lnSpc>
            </a:pP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між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трьома сторонами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500000"/>
            <a:ext cx="5130803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2800000"/>
            <a:ext cx="4559303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504950" y="4000000"/>
            <a:ext cx="4559303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Фінансує відкриття пекарні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504950" y="6000000"/>
            <a:ext cx="4559303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Нікому не підпорядковується; звертається лише до Lviv Croissants</a:t>
            </a:r>
          </a:p>
        </p:txBody>
      </p:sp>
      <p:sp>
        <p:nvSpPr>
          <p:cNvPr name="Card 7" id="7"/>
          <p:cNvSpPr/>
          <p:nvPr/>
        </p:nvSpPr>
        <p:spPr>
          <a:xfrm>
            <a:off x="6638003" y="2500000"/>
            <a:ext cx="5130803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6923753" y="2800000"/>
            <a:ext cx="4559303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6923753" y="4000000"/>
            <a:ext cx="4559303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Франчайзер: бренд, стандарти, навчання, системи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6923753" y="6000000"/>
            <a:ext cx="4559303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Центральна ланка: фільтрує запити між інвестором і оператором</a:t>
            </a:r>
          </a:p>
        </p:txBody>
      </p:sp>
      <p:sp>
        <p:nvSpPr>
          <p:cNvPr name="Card 11" id="11"/>
          <p:cNvSpPr/>
          <p:nvPr/>
        </p:nvSpPr>
        <p:spPr>
          <a:xfrm>
            <a:off x="12056806" y="2500000"/>
            <a:ext cx="5130803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12342556" y="2800000"/>
            <a:ext cx="4559303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12342556" y="4000000"/>
            <a:ext cx="4559303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Щодня керує пекарнею і командою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12342556" y="6000000"/>
            <a:ext cx="4559303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Підпорядковується Lviv Croissants; працює за стандартами бренду</a:t>
            </a:r>
          </a:p>
        </p:txBody>
      </p:sp>
      <p:sp>
        <p:nvSpPr>
          <p:cNvPr name="Note 15" id="1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6" id="1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Основа: один тристоронній договір або пакет двох пов'язаних (формат — на обговорення)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 чого складається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469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469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469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Хто, що і для якої пекарні</a:t>
            </a:r>
          </a:p>
        </p:txBody>
      </p:sp>
      <p:sp>
        <p:nvSpPr>
          <p:cNvPr name="Card 7" id="7"/>
          <p:cNvSpPr/>
          <p:nvPr/>
        </p:nvSpPr>
        <p:spPr>
          <a:xfrm>
            <a:off x="5252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5502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5502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502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Інвестор, франчайзер, оператор</a:t>
            </a:r>
          </a:p>
        </p:txBody>
      </p:sp>
      <p:sp>
        <p:nvSpPr>
          <p:cNvPr name="Card 11" id="11"/>
          <p:cNvSpPr/>
          <p:nvPr/>
        </p:nvSpPr>
        <p:spPr>
          <a:xfrm>
            <a:off x="9285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9535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9535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9535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Інвестиції, збори, розподіл прибутку</a:t>
            </a:r>
          </a:p>
        </p:txBody>
      </p:sp>
      <p:sp>
        <p:nvSpPr>
          <p:cNvPr name="Card 15" id="15"/>
          <p:cNvSpPr/>
          <p:nvPr/>
        </p:nvSpPr>
        <p:spPr>
          <a:xfrm>
            <a:off x="13318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3568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13568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13568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Використання бренду, меню, якість</a:t>
            </a:r>
          </a:p>
        </p:txBody>
      </p:sp>
      <p:sp>
        <p:nvSpPr>
          <p:cNvPr name="Card 19" id="19"/>
          <p:cNvSpPr/>
          <p:nvPr/>
        </p:nvSpPr>
        <p:spPr>
          <a:xfrm>
            <a:off x="1219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1469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>
            <a:off x="1469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  <p:sp>
        <p:nvSpPr>
          <p:cNvPr name="TextBox 22" id="22"/>
          <p:cNvSpPr txBox="true"/>
          <p:nvPr/>
        </p:nvSpPr>
        <p:spPr>
          <a:xfrm>
            <a:off x="1469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Дані, аудит, канали комунікації</a:t>
            </a:r>
          </a:p>
        </p:txBody>
      </p:sp>
      <p:sp>
        <p:nvSpPr>
          <p:cNvPr name="Card 23" id="23"/>
          <p:cNvSpPr/>
          <p:nvPr/>
        </p:nvSpPr>
        <p:spPr>
          <a:xfrm>
            <a:off x="5252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4" id="24"/>
          <p:cNvSpPr txBox="true"/>
          <p:nvPr/>
        </p:nvSpPr>
        <p:spPr>
          <a:xfrm>
            <a:off x="5502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>
            <a:off x="5502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  <p:sp>
        <p:nvSpPr>
          <p:cNvPr name="TextBox 26" id="26"/>
          <p:cNvSpPr txBox="true"/>
          <p:nvPr/>
        </p:nvSpPr>
        <p:spPr>
          <a:xfrm>
            <a:off x="5502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Тривалість, умови пролонгації</a:t>
            </a:r>
          </a:p>
        </p:txBody>
      </p:sp>
      <p:sp>
        <p:nvSpPr>
          <p:cNvPr name="Card 27" id="27"/>
          <p:cNvSpPr/>
          <p:nvPr/>
        </p:nvSpPr>
        <p:spPr>
          <a:xfrm>
            <a:off x="9285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8" id="28"/>
          <p:cNvSpPr txBox="true"/>
          <p:nvPr/>
        </p:nvSpPr>
        <p:spPr>
          <a:xfrm>
            <a:off x="9535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</a:t>
            </a:r>
          </a:p>
        </p:txBody>
      </p:sp>
      <p:sp>
        <p:nvSpPr>
          <p:cNvPr name="TextBox 29" id="29"/>
          <p:cNvSpPr txBox="true"/>
          <p:nvPr/>
        </p:nvSpPr>
        <p:spPr>
          <a:xfrm>
            <a:off x="9535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  <p:sp>
        <p:nvSpPr>
          <p:cNvPr name="TextBox 30" id="30"/>
          <p:cNvSpPr txBox="true"/>
          <p:nvPr/>
        </p:nvSpPr>
        <p:spPr>
          <a:xfrm>
            <a:off x="9535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Розірвання, продаж частки, заміна сторони</a:t>
            </a:r>
          </a:p>
        </p:txBody>
      </p:sp>
      <p:sp>
        <p:nvSpPr>
          <p:cNvPr name="Card 31" id="31"/>
          <p:cNvSpPr/>
          <p:nvPr/>
        </p:nvSpPr>
        <p:spPr>
          <a:xfrm>
            <a:off x="13318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32" id="32"/>
          <p:cNvSpPr txBox="true"/>
          <p:nvPr/>
        </p:nvSpPr>
        <p:spPr>
          <a:xfrm>
            <a:off x="13568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>
            <a:off x="13568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  <p:sp>
        <p:nvSpPr>
          <p:cNvPr name="TextBox 34" id="34"/>
          <p:cNvSpPr txBox="true"/>
          <p:nvPr/>
        </p:nvSpPr>
        <p:spPr>
          <a:xfrm>
            <a:off x="13568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Ризики, санкції, спори</a:t>
            </a:r>
          </a:p>
        </p:txBody>
      </p:sp>
      <p:sp>
        <p:nvSpPr>
          <p:cNvPr name="Note 35" id="3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36" id="3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Це каркас: кожен розділ деталізуємо окремо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та обов'язки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сторін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25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504950" y="3450000"/>
            <a:ext cx="4559303" cy="4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Фінансує закріплені за роллю витрати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Будівництво, інтер'єр, ліцензії, дозволи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Підписує договір оренди приміщення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Отримує частку прибутку за шкалою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Питання щодо роботи — через Lviv Croissants</a:t>
            </a:r>
          </a:p>
        </p:txBody>
      </p:sp>
      <p:sp>
        <p:nvSpPr>
          <p:cNvPr name="Card 6" id="6"/>
          <p:cNvSpPr/>
          <p:nvPr/>
        </p:nvSpPr>
        <p:spPr>
          <a:xfrm>
            <a:off x="6638003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7" id="7"/>
          <p:cNvSpPr txBox="true"/>
          <p:nvPr/>
        </p:nvSpPr>
        <p:spPr>
          <a:xfrm>
            <a:off x="6923753" y="25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6923753" y="3450000"/>
            <a:ext cx="4559303" cy="4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Надає бренд, стандарти, рецептури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Навчає операційного директора й команду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Дає Internal Systems та підтримку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Узгоджує зміни з оператором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Передає запити на дофінансування інвестору</a:t>
            </a:r>
          </a:p>
        </p:txBody>
      </p:sp>
      <p:sp>
        <p:nvSpPr>
          <p:cNvPr name="Card 9" id="9"/>
          <p:cNvSpPr/>
          <p:nvPr/>
        </p:nvSpPr>
        <p:spPr>
          <a:xfrm>
            <a:off x="12056806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0" id="10"/>
          <p:cNvSpPr txBox="true"/>
          <p:nvPr/>
        </p:nvSpPr>
        <p:spPr>
          <a:xfrm>
            <a:off x="12342556" y="25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12342556" y="3450000"/>
            <a:ext cx="4559303" cy="4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Фінансує закріплені за роллю витрати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Комплектує команду, замовляє продукти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Щодня керує пекарнею за стандартами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Звітує про результати</a:t>
            </a:r>
          </a:p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Отримує частку прибутку за шкалою</a:t>
            </a:r>
          </a:p>
        </p:txBody>
      </p:sp>
      <p:sp>
        <p:nvSpPr>
          <p:cNvPr name="Note 12" id="12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3" id="13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Детальні переліки — у додатках до договору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Фінансові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умови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2550000"/>
            <a:ext cx="4559303" cy="10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Початкові інвестиції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504950" y="3800000"/>
            <a:ext cx="4559303" cy="4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– €50 000</a:t>
            </a:r>
          </a:p>
        </p:txBody>
      </p:sp>
      <p:sp>
        <p:nvSpPr>
          <p:cNvPr name="Card 6" id="6"/>
          <p:cNvSpPr/>
          <p:nvPr/>
        </p:nvSpPr>
        <p:spPr>
          <a:xfrm>
            <a:off x="6638003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7" id="7"/>
          <p:cNvSpPr txBox="true"/>
          <p:nvPr/>
        </p:nvSpPr>
        <p:spPr>
          <a:xfrm>
            <a:off x="6923753" y="2550000"/>
            <a:ext cx="4559303" cy="10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6923753" y="3800000"/>
            <a:ext cx="4559303" cy="4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Етап 1 (до 50% окупності)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60% / оператор 40%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Етап 2 (до 100%)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 / 50%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Етап 3 (після окупності)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 / 60%</a:t>
            </a:r>
          </a:p>
        </p:txBody>
      </p:sp>
      <p:sp>
        <p:nvSpPr>
          <p:cNvPr name="Card 9" id="9"/>
          <p:cNvSpPr/>
          <p:nvPr/>
        </p:nvSpPr>
        <p:spPr>
          <a:xfrm>
            <a:off x="12056806" y="2300000"/>
            <a:ext cx="5130803" cy="62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0" id="10"/>
          <p:cNvSpPr txBox="true"/>
          <p:nvPr/>
        </p:nvSpPr>
        <p:spPr>
          <a:xfrm>
            <a:off x="12342556" y="2550000"/>
            <a:ext cx="4559303" cy="10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Платежі франчайзеру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12342556" y="3800000"/>
            <a:ext cx="4559303" cy="4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 доходу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uk-UA" sz="2200" b="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 прибутку</a:t>
            </a:r>
          </a:p>
          <a:p>
            <a:pPr algn="l">
              <a:lnSpc>
                <a:spcPct val="100000"/>
              </a:lnSpc>
              <a:spcAft>
                <a:spcPts val="2200"/>
              </a:spcAft>
            </a:pPr>
            <a:r>
              <a:rPr lang="uk-UA" sz="28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</a:t>
            </a:r>
          </a:p>
        </p:txBody>
      </p:sp>
      <p:sp>
        <p:nvSpPr>
          <p:cNvPr name="Note 12" id="12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3" id="13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Цифри взято з поточної моделі; порядок виплат, звітність і перерахунки — до деталізації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деталізації у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договорі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260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Формат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504950" y="350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Один тристоронній договір чи два пов'язані?</a:t>
            </a:r>
          </a:p>
        </p:txBody>
      </p:sp>
      <p:sp>
        <p:nvSpPr>
          <p:cNvPr name="Card 6" id="6"/>
          <p:cNvSpPr/>
          <p:nvPr/>
        </p:nvSpPr>
        <p:spPr>
          <a:xfrm>
            <a:off x="6638003" y="230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7" id="7"/>
          <p:cNvSpPr txBox="true"/>
          <p:nvPr/>
        </p:nvSpPr>
        <p:spPr>
          <a:xfrm>
            <a:off x="6923753" y="260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6923753" y="350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 і умови продовження</a:t>
            </a:r>
          </a:p>
        </p:txBody>
      </p:sp>
      <p:sp>
        <p:nvSpPr>
          <p:cNvPr name="Card 9" id="9"/>
          <p:cNvSpPr/>
          <p:nvPr/>
        </p:nvSpPr>
        <p:spPr>
          <a:xfrm>
            <a:off x="12056806" y="230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0" id="10"/>
          <p:cNvSpPr txBox="true"/>
          <p:nvPr/>
        </p:nvSpPr>
        <p:spPr>
          <a:xfrm>
            <a:off x="12342556" y="260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 інвестора</a:t>
            </a:r>
          </a:p>
        </p:txBody>
      </p:sp>
      <p:sp>
        <p:nvSpPr>
          <p:cNvPr name="TextBox 11" id="11"/>
          <p:cNvSpPr txBox="true"/>
          <p:nvPr/>
        </p:nvSpPr>
        <p:spPr>
          <a:xfrm>
            <a:off x="12342556" y="350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 частки, викуп, умови розірвання</a:t>
            </a:r>
          </a:p>
        </p:txBody>
      </p:sp>
      <p:sp>
        <p:nvSpPr>
          <p:cNvPr name="Card 12" id="12"/>
          <p:cNvSpPr/>
          <p:nvPr/>
        </p:nvSpPr>
        <p:spPr>
          <a:xfrm>
            <a:off x="1219200" y="555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3" id="13"/>
          <p:cNvSpPr txBox="true"/>
          <p:nvPr/>
        </p:nvSpPr>
        <p:spPr>
          <a:xfrm>
            <a:off x="1504950" y="58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Заміна оператора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1504950" y="675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Підстави, порядок, права інвестора</a:t>
            </a:r>
          </a:p>
        </p:txBody>
      </p:sp>
      <p:sp>
        <p:nvSpPr>
          <p:cNvPr name="Card 15" id="15"/>
          <p:cNvSpPr/>
          <p:nvPr/>
        </p:nvSpPr>
        <p:spPr>
          <a:xfrm>
            <a:off x="6638003" y="555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6923753" y="58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Контроль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6923753" y="675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Звітність, аудит, доступ до даних</a:t>
            </a:r>
          </a:p>
        </p:txBody>
      </p:sp>
      <p:sp>
        <p:nvSpPr>
          <p:cNvPr name="Card 18" id="18"/>
          <p:cNvSpPr/>
          <p:nvPr/>
        </p:nvSpPr>
        <p:spPr>
          <a:xfrm>
            <a:off x="12056806" y="5550000"/>
            <a:ext cx="5130803" cy="29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9" id="19"/>
          <p:cNvSpPr txBox="true"/>
          <p:nvPr/>
        </p:nvSpPr>
        <p:spPr>
          <a:xfrm>
            <a:off x="12342556" y="5850000"/>
            <a:ext cx="4559303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Спори</a:t>
            </a:r>
          </a:p>
        </p:txBody>
      </p:sp>
      <p:sp>
        <p:nvSpPr>
          <p:cNvPr name="TextBox 20" id="20"/>
          <p:cNvSpPr txBox="true"/>
          <p:nvPr/>
        </p:nvSpPr>
        <p:spPr>
          <a:xfrm>
            <a:off x="12342556" y="6750000"/>
            <a:ext cx="4559303" cy="16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Право, юрисдикція, порядок вирішення</a:t>
            </a:r>
          </a:p>
        </p:txBody>
      </p:sp>
      <p:sp>
        <p:nvSpPr>
          <p:cNvPr name="Note 21" id="21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22" id="22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Наступний крок: узгодити позиції трьох сторін по кожному пункту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DAHXNssl1TQ</dc:identifier>
  <dcterms:modified xsi:type="dcterms:W3CDTF">2011-08-01T06:04:30Z</dcterms:modified>
  <cp:revision>1</cp:revision>
  <dc:title>Управлінська франшиза</dc:title>
</cp:coreProperties>
</file>